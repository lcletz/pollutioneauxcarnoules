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Roboto"/>
      <p:regular r:id="rId24"/>
      <p:bold r:id="rId25"/>
      <p:italic r:id="rId26"/>
      <p:boldItalic r:id="rId27"/>
    </p:embeddedFont>
    <p:embeddedFont>
      <p:font typeface="Source Code Pro"/>
      <p:regular r:id="rId28"/>
      <p:bold r:id="rId29"/>
      <p:italic r:id="rId30"/>
      <p:boldItalic r:id="rId31"/>
    </p:embeddedFont>
    <p:embeddedFont>
      <p:font typeface="Oswald"/>
      <p:regular r:id="rId32"/>
      <p:bold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F3D5CD2-77B3-4993-A2F8-7C0B2FFC0DF0}">
  <a:tblStyle styleId="{2F3D5CD2-77B3-4993-A2F8-7C0B2FFC0DF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Roboto-regular.fntdata"/><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italic.fntdata"/><Relationship Id="rId25" Type="http://schemas.openxmlformats.org/officeDocument/2006/relationships/font" Target="fonts/Roboto-bold.fntdata"/><Relationship Id="rId28" Type="http://schemas.openxmlformats.org/officeDocument/2006/relationships/font" Target="fonts/SourceCodePro-regular.fntdata"/><Relationship Id="rId27" Type="http://schemas.openxmlformats.org/officeDocument/2006/relationships/font" Target="fonts/Roboto-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SourceCodePro-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SourceCodePro-boldItalic.fntdata"/><Relationship Id="rId30" Type="http://schemas.openxmlformats.org/officeDocument/2006/relationships/font" Target="fonts/SourceCodePro-italic.fntdata"/><Relationship Id="rId11" Type="http://schemas.openxmlformats.org/officeDocument/2006/relationships/slide" Target="slides/slide5.xml"/><Relationship Id="rId33" Type="http://schemas.openxmlformats.org/officeDocument/2006/relationships/font" Target="fonts/Oswald-bold.fntdata"/><Relationship Id="rId10" Type="http://schemas.openxmlformats.org/officeDocument/2006/relationships/slide" Target="slides/slide4.xml"/><Relationship Id="rId32" Type="http://schemas.openxmlformats.org/officeDocument/2006/relationships/font" Target="fonts/Oswald-regular.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6b862ff28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6b862ff28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6b862ff285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6b862ff285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Forte corrélation avec l’élément précédent = violet foncé</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6b862ff285_0_10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6b862ff285_0_10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Il y peut y avoir un lien entre les différents facteurs météorologiques, mais il ne semble pas y avoir de lien avec la température de l’eau.</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6b862ff285_0_1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6b862ff285_0_1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Par contre, il y a une corrélation très forte entre la concentration de la plupart des éléments traces et la météo, surtout avec l’humidité et l’évapotranspiration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6b862ff285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6b862ff285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Au cours du temps, la variance (l’amplitude des valeurs autour de la moyenne) grandit.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6b862ff285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6b862ff285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Au cours du temps mais aussi selon la méthode, la variance (l’amplitude des valeurs autour de la moyenne) change. La méthode HACH ici est plus constante, les points bleus représentent le nombre d’imputations.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6b862ff285_0_1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6b862ff285_0_1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On cherche à capter la variance de certaines variables pouvant servir à prédire “Arsenic_Total” afin de comprendre la différence de variance entre deux périodes clefs.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6b862ff285_0_1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6b862ff285_0_1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Les variables qui captent massivement la variance sont les m</a:t>
            </a:r>
            <a:r>
              <a:rPr lang="fr"/>
              <a:t>êmes mais ne sont pas considérés dans le même ordre, de 2004 à 2011 c’est le Zinc en premier puis le FeII mais l’inverse après. Et la répartition des captations est très distincte.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6b862ff285_0_1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6b862ff285_0_1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Conclusion : M</a:t>
            </a:r>
            <a:r>
              <a:rPr lang="fr"/>
              <a:t>ême si utiliser des données plus récentes semblait donner des intervalles de prédiction plus précis et clairs, le biais induit par le changement de variance implique que les événements extrêmes ne sont pas dans ces intervalles, il faudra être prudent. </a:t>
            </a:r>
            <a:br>
              <a:rPr lang="fr"/>
            </a:br>
            <a:r>
              <a:rPr lang="fr"/>
              <a:t>De plus !!! La pluie devient de plus en plus un facteur important à la prédiction de l’arsenic (et de bien d’autres éléments traces).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6b862ff285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6b862ff285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Ces données ne sont que celles de 2011 à 2022. Les méthodes vont probablement tirer la variance vers elles.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6b862ff285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6b862ff285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En effet, et c’est d</a:t>
            </a:r>
            <a:r>
              <a:rPr lang="fr"/>
              <a:t>û au nombre important de méthodes indéterminées (valeurs manquantes). Idem pour les périodes. Cela en fait une très mauvaise FAMD.</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6b862ff285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6b862ff285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En mettant les méthodes en variables supplémentaires, ça semble mieux réparti, la variance aussi.</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6b862ff285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6b862ff285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Les individus sont également mieux répartis. 1/sqrt(eig)=0.48 donc pivot d’environ 180°.</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6b862ff285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6b862ff285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Certains éléments traces comme le Cuivre tirent moins la variance vers eux.</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6b862ff285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6b862ff285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Les individus sont plus centrés à l’origine par rapport au graphe précédent donc les variables centrées Antimoine, Sulfate, Plomb et pH tirent l’inertie vers eux . 1/sqrt(eig) = 0.47</a:t>
            </a:r>
            <a:r>
              <a:rPr lang="fr">
                <a:solidFill>
                  <a:schemeClr val="dk1"/>
                </a:solidFill>
              </a:rPr>
              <a:t> donc pivot d’environ 180°.</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6b862ff285_0_10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6b862ff285_0_10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6b862ff285_0_10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6b862ff285_0_10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10800000">
            <a:off x="4226100" y="2933550"/>
            <a:ext cx="691800" cy="388500"/>
          </a:xfrm>
          <a:prstGeom prst="triangle">
            <a:avLst>
              <a:gd fmla="val 50000" name="adj"/>
            </a:avLst>
          </a:prstGeom>
          <a:solidFill>
            <a:srgbClr val="B4A7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5" y="0"/>
            <a:ext cx="9144000" cy="3124200"/>
          </a:xfrm>
          <a:prstGeom prst="rect">
            <a:avLst/>
          </a:prstGeom>
          <a:solidFill>
            <a:srgbClr val="B4A7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411175" y="644300"/>
            <a:ext cx="8282400" cy="21090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6000"/>
              <a:buNone/>
              <a:defRPr sz="60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p:txBody>
      </p:sp>
      <p:sp>
        <p:nvSpPr>
          <p:cNvPr id="13" name="Google Shape;13;p2"/>
          <p:cNvSpPr txBox="1"/>
          <p:nvPr>
            <p:ph idx="1" type="subTitle"/>
          </p:nvPr>
        </p:nvSpPr>
        <p:spPr>
          <a:xfrm>
            <a:off x="411175" y="3398250"/>
            <a:ext cx="8282400" cy="12606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a:off x="0" y="-32850"/>
            <a:ext cx="9144000" cy="951600"/>
          </a:xfrm>
          <a:prstGeom prst="rect">
            <a:avLst/>
          </a:prstGeom>
          <a:solidFill>
            <a:srgbClr val="B4A7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430800" y="128030"/>
            <a:ext cx="8282400" cy="59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cxnSp>
        <p:nvCxnSpPr>
          <p:cNvPr id="20" name="Google Shape;20;p4"/>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1" name="Google Shape;21;p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cxnSp>
        <p:nvCxnSpPr>
          <p:cNvPr id="25" name="Google Shape;25;p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6" name="Google Shape;26;p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7" name="Google Shape;27;p5"/>
          <p:cNvSpPr txBox="1"/>
          <p:nvPr>
            <p:ph idx="1" type="body"/>
          </p:nvPr>
        </p:nvSpPr>
        <p:spPr>
          <a:xfrm>
            <a:off x="3117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cxnSp>
        <p:nvCxnSpPr>
          <p:cNvPr id="34" name="Google Shape;34;p7"/>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35" name="Google Shape;35;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6" name="Google Shape;36;p7"/>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 name="Google Shape;37;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8" name="Shape 38"/>
        <p:cNvGrpSpPr/>
        <p:nvPr/>
      </p:nvGrpSpPr>
      <p:grpSpPr>
        <a:xfrm>
          <a:off x="0" y="0"/>
          <a:ext cx="0" cy="0"/>
          <a:chOff x="0" y="0"/>
          <a:chExt cx="0" cy="0"/>
        </a:xfrm>
      </p:grpSpPr>
      <p:sp>
        <p:nvSpPr>
          <p:cNvPr id="39" name="Google Shape;39;p8"/>
          <p:cNvSpPr txBox="1"/>
          <p:nvPr>
            <p:ph type="title"/>
          </p:nvPr>
        </p:nvSpPr>
        <p:spPr>
          <a:xfrm>
            <a:off x="490250" y="528900"/>
            <a:ext cx="5678100" cy="40857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None/>
              <a:defRPr sz="5400">
                <a:solidFill>
                  <a:schemeClr val="lt1"/>
                </a:solidFill>
              </a:defRPr>
            </a:lvl1pPr>
            <a:lvl2pPr lvl="1">
              <a:spcBef>
                <a:spcPts val="0"/>
              </a:spcBef>
              <a:spcAft>
                <a:spcPts val="0"/>
              </a:spcAft>
              <a:buClr>
                <a:schemeClr val="lt1"/>
              </a:buClr>
              <a:buSzPts val="5400"/>
              <a:buNone/>
              <a:defRPr sz="5400">
                <a:solidFill>
                  <a:schemeClr val="lt1"/>
                </a:solidFill>
              </a:defRPr>
            </a:lvl2pPr>
            <a:lvl3pPr lvl="2">
              <a:spcBef>
                <a:spcPts val="0"/>
              </a:spcBef>
              <a:spcAft>
                <a:spcPts val="0"/>
              </a:spcAft>
              <a:buClr>
                <a:schemeClr val="lt1"/>
              </a:buClr>
              <a:buSzPts val="5400"/>
              <a:buNone/>
              <a:defRPr sz="5400">
                <a:solidFill>
                  <a:schemeClr val="lt1"/>
                </a:solidFill>
              </a:defRPr>
            </a:lvl3pPr>
            <a:lvl4pPr lvl="3">
              <a:spcBef>
                <a:spcPts val="0"/>
              </a:spcBef>
              <a:spcAft>
                <a:spcPts val="0"/>
              </a:spcAft>
              <a:buClr>
                <a:schemeClr val="lt1"/>
              </a:buClr>
              <a:buSzPts val="5400"/>
              <a:buNone/>
              <a:defRPr sz="5400">
                <a:solidFill>
                  <a:schemeClr val="lt1"/>
                </a:solidFill>
              </a:defRPr>
            </a:lvl4pPr>
            <a:lvl5pPr lvl="4">
              <a:spcBef>
                <a:spcPts val="0"/>
              </a:spcBef>
              <a:spcAft>
                <a:spcPts val="0"/>
              </a:spcAft>
              <a:buClr>
                <a:schemeClr val="lt1"/>
              </a:buClr>
              <a:buSzPts val="5400"/>
              <a:buNone/>
              <a:defRPr sz="5400">
                <a:solidFill>
                  <a:schemeClr val="lt1"/>
                </a:solidFill>
              </a:defRPr>
            </a:lvl5pPr>
            <a:lvl6pPr lvl="5">
              <a:spcBef>
                <a:spcPts val="0"/>
              </a:spcBef>
              <a:spcAft>
                <a:spcPts val="0"/>
              </a:spcAft>
              <a:buClr>
                <a:schemeClr val="lt1"/>
              </a:buClr>
              <a:buSzPts val="5400"/>
              <a:buNone/>
              <a:defRPr sz="5400">
                <a:solidFill>
                  <a:schemeClr val="lt1"/>
                </a:solidFill>
              </a:defRPr>
            </a:lvl6pPr>
            <a:lvl7pPr lvl="6">
              <a:spcBef>
                <a:spcPts val="0"/>
              </a:spcBef>
              <a:spcAft>
                <a:spcPts val="0"/>
              </a:spcAft>
              <a:buClr>
                <a:schemeClr val="lt1"/>
              </a:buClr>
              <a:buSzPts val="5400"/>
              <a:buNone/>
              <a:defRPr sz="5400">
                <a:solidFill>
                  <a:schemeClr val="lt1"/>
                </a:solidFill>
              </a:defRPr>
            </a:lvl7pPr>
            <a:lvl8pPr lvl="7">
              <a:spcBef>
                <a:spcPts val="0"/>
              </a:spcBef>
              <a:spcAft>
                <a:spcPts val="0"/>
              </a:spcAft>
              <a:buClr>
                <a:schemeClr val="lt1"/>
              </a:buClr>
              <a:buSzPts val="5400"/>
              <a:buNone/>
              <a:defRPr sz="5400">
                <a:solidFill>
                  <a:schemeClr val="lt1"/>
                </a:solidFill>
              </a:defRPr>
            </a:lvl8pPr>
            <a:lvl9pPr lvl="8">
              <a:spcBef>
                <a:spcPts val="0"/>
              </a:spcBef>
              <a:spcAft>
                <a:spcPts val="0"/>
              </a:spcAft>
              <a:buClr>
                <a:schemeClr val="lt1"/>
              </a:buClr>
              <a:buSzPts val="5400"/>
              <a:buNone/>
              <a:defRPr sz="5400">
                <a:solidFill>
                  <a:schemeClr val="lt1"/>
                </a:solidFill>
              </a:defRPr>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41" name="Shape 41"/>
        <p:cNvGrpSpPr/>
        <p:nvPr/>
      </p:nvGrpSpPr>
      <p:grpSpPr>
        <a:xfrm>
          <a:off x="0" y="0"/>
          <a:ext cx="0" cy="0"/>
          <a:chOff x="0" y="0"/>
          <a:chExt cx="0" cy="0"/>
        </a:xfrm>
      </p:grpSpPr>
      <p:sp>
        <p:nvSpPr>
          <p:cNvPr id="42" name="Google Shape;42;p9"/>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44" name="Google Shape;44;p9"/>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4600"/>
              <a:buNone/>
              <a:defRPr sz="4600">
                <a:solidFill>
                  <a:schemeClr val="lt1"/>
                </a:solidFill>
              </a:defRPr>
            </a:lvl1pPr>
            <a:lvl2pPr lvl="1" algn="ctr">
              <a:spcBef>
                <a:spcPts val="0"/>
              </a:spcBef>
              <a:spcAft>
                <a:spcPts val="0"/>
              </a:spcAft>
              <a:buClr>
                <a:schemeClr val="lt1"/>
              </a:buClr>
              <a:buSzPts val="4600"/>
              <a:buNone/>
              <a:defRPr sz="4600">
                <a:solidFill>
                  <a:schemeClr val="lt1"/>
                </a:solidFill>
              </a:defRPr>
            </a:lvl2pPr>
            <a:lvl3pPr lvl="2" algn="ctr">
              <a:spcBef>
                <a:spcPts val="0"/>
              </a:spcBef>
              <a:spcAft>
                <a:spcPts val="0"/>
              </a:spcAft>
              <a:buClr>
                <a:schemeClr val="lt1"/>
              </a:buClr>
              <a:buSzPts val="4600"/>
              <a:buNone/>
              <a:defRPr sz="4600">
                <a:solidFill>
                  <a:schemeClr val="lt1"/>
                </a:solidFill>
              </a:defRPr>
            </a:lvl3pPr>
            <a:lvl4pPr lvl="3" algn="ctr">
              <a:spcBef>
                <a:spcPts val="0"/>
              </a:spcBef>
              <a:spcAft>
                <a:spcPts val="0"/>
              </a:spcAft>
              <a:buClr>
                <a:schemeClr val="lt1"/>
              </a:buClr>
              <a:buSzPts val="4600"/>
              <a:buNone/>
              <a:defRPr sz="4600">
                <a:solidFill>
                  <a:schemeClr val="lt1"/>
                </a:solidFill>
              </a:defRPr>
            </a:lvl4pPr>
            <a:lvl5pPr lvl="4" algn="ctr">
              <a:spcBef>
                <a:spcPts val="0"/>
              </a:spcBef>
              <a:spcAft>
                <a:spcPts val="0"/>
              </a:spcAft>
              <a:buClr>
                <a:schemeClr val="lt1"/>
              </a:buClr>
              <a:buSzPts val="4600"/>
              <a:buNone/>
              <a:defRPr sz="4600">
                <a:solidFill>
                  <a:schemeClr val="lt1"/>
                </a:solidFill>
              </a:defRPr>
            </a:lvl5pPr>
            <a:lvl6pPr lvl="5" algn="ctr">
              <a:spcBef>
                <a:spcPts val="0"/>
              </a:spcBef>
              <a:spcAft>
                <a:spcPts val="0"/>
              </a:spcAft>
              <a:buClr>
                <a:schemeClr val="lt1"/>
              </a:buClr>
              <a:buSzPts val="4600"/>
              <a:buNone/>
              <a:defRPr sz="4600">
                <a:solidFill>
                  <a:schemeClr val="lt1"/>
                </a:solidFill>
              </a:defRPr>
            </a:lvl6pPr>
            <a:lvl7pPr lvl="6" algn="ctr">
              <a:spcBef>
                <a:spcPts val="0"/>
              </a:spcBef>
              <a:spcAft>
                <a:spcPts val="0"/>
              </a:spcAft>
              <a:buClr>
                <a:schemeClr val="lt1"/>
              </a:buClr>
              <a:buSzPts val="4600"/>
              <a:buNone/>
              <a:defRPr sz="4600">
                <a:solidFill>
                  <a:schemeClr val="lt1"/>
                </a:solidFill>
              </a:defRPr>
            </a:lvl7pPr>
            <a:lvl8pPr lvl="7" algn="ctr">
              <a:spcBef>
                <a:spcPts val="0"/>
              </a:spcBef>
              <a:spcAft>
                <a:spcPts val="0"/>
              </a:spcAft>
              <a:buClr>
                <a:schemeClr val="lt1"/>
              </a:buClr>
              <a:buSzPts val="4600"/>
              <a:buNone/>
              <a:defRPr sz="4600">
                <a:solidFill>
                  <a:schemeClr val="lt1"/>
                </a:solidFill>
              </a:defRPr>
            </a:lvl8pPr>
            <a:lvl9pPr lvl="8" algn="ctr">
              <a:spcBef>
                <a:spcPts val="0"/>
              </a:spcBef>
              <a:spcAft>
                <a:spcPts val="0"/>
              </a:spcAft>
              <a:buClr>
                <a:schemeClr val="lt1"/>
              </a:buClr>
              <a:buSzPts val="4600"/>
              <a:buNone/>
              <a:defRPr sz="4600">
                <a:solidFill>
                  <a:schemeClr val="lt1"/>
                </a:solidFill>
              </a:defRPr>
            </a:lvl9pPr>
          </a:lstStyle>
          <a:p/>
        </p:txBody>
      </p:sp>
      <p:sp>
        <p:nvSpPr>
          <p:cNvPr id="45" name="Google Shape;45;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cxnSp>
        <p:nvCxnSpPr>
          <p:cNvPr id="52" name="Google Shape;52;p11"/>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53" name="Google Shape;53;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54" name="Google Shape;54;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9pPr>
          </a:lstStyle>
          <a:p/>
        </p:txBody>
      </p:sp>
      <p:sp>
        <p:nvSpPr>
          <p:cNvPr id="7" name="Google Shape;7;p1"/>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Source Code Pro"/>
                <a:ea typeface="Source Code Pro"/>
                <a:cs typeface="Source Code Pro"/>
                <a:sym typeface="Source Code Pro"/>
              </a:defRPr>
            </a:lvl1pPr>
            <a:lvl2pPr lvl="1" algn="r">
              <a:buNone/>
              <a:defRPr sz="1000">
                <a:solidFill>
                  <a:schemeClr val="dk2"/>
                </a:solidFill>
                <a:latin typeface="Source Code Pro"/>
                <a:ea typeface="Source Code Pro"/>
                <a:cs typeface="Source Code Pro"/>
                <a:sym typeface="Source Code Pro"/>
              </a:defRPr>
            </a:lvl2pPr>
            <a:lvl3pPr lvl="2" algn="r">
              <a:buNone/>
              <a:defRPr sz="1000">
                <a:solidFill>
                  <a:schemeClr val="dk2"/>
                </a:solidFill>
                <a:latin typeface="Source Code Pro"/>
                <a:ea typeface="Source Code Pro"/>
                <a:cs typeface="Source Code Pro"/>
                <a:sym typeface="Source Code Pro"/>
              </a:defRPr>
            </a:lvl3pPr>
            <a:lvl4pPr lvl="3" algn="r">
              <a:buNone/>
              <a:defRPr sz="1000">
                <a:solidFill>
                  <a:schemeClr val="dk2"/>
                </a:solidFill>
                <a:latin typeface="Source Code Pro"/>
                <a:ea typeface="Source Code Pro"/>
                <a:cs typeface="Source Code Pro"/>
                <a:sym typeface="Source Code Pro"/>
              </a:defRPr>
            </a:lvl4pPr>
            <a:lvl5pPr lvl="4" algn="r">
              <a:buNone/>
              <a:defRPr sz="1000">
                <a:solidFill>
                  <a:schemeClr val="dk2"/>
                </a:solidFill>
                <a:latin typeface="Source Code Pro"/>
                <a:ea typeface="Source Code Pro"/>
                <a:cs typeface="Source Code Pro"/>
                <a:sym typeface="Source Code Pro"/>
              </a:defRPr>
            </a:lvl5pPr>
            <a:lvl6pPr lvl="5" algn="r">
              <a:buNone/>
              <a:defRPr sz="1000">
                <a:solidFill>
                  <a:schemeClr val="dk2"/>
                </a:solidFill>
                <a:latin typeface="Source Code Pro"/>
                <a:ea typeface="Source Code Pro"/>
                <a:cs typeface="Source Code Pro"/>
                <a:sym typeface="Source Code Pro"/>
              </a:defRPr>
            </a:lvl6pPr>
            <a:lvl7pPr lvl="6" algn="r">
              <a:buNone/>
              <a:defRPr sz="1000">
                <a:solidFill>
                  <a:schemeClr val="dk2"/>
                </a:solidFill>
                <a:latin typeface="Source Code Pro"/>
                <a:ea typeface="Source Code Pro"/>
                <a:cs typeface="Source Code Pro"/>
                <a:sym typeface="Source Code Pro"/>
              </a:defRPr>
            </a:lvl7pPr>
            <a:lvl8pPr lvl="7" algn="r">
              <a:buNone/>
              <a:defRPr sz="1000">
                <a:solidFill>
                  <a:schemeClr val="dk2"/>
                </a:solidFill>
                <a:latin typeface="Source Code Pro"/>
                <a:ea typeface="Source Code Pro"/>
                <a:cs typeface="Source Code Pro"/>
                <a:sym typeface="Source Code Pro"/>
              </a:defRPr>
            </a:lvl8pPr>
            <a:lvl9pPr lvl="8" algn="r">
              <a:buNone/>
              <a:defRPr sz="1000">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1" name="Shape 61"/>
        <p:cNvGrpSpPr/>
        <p:nvPr/>
      </p:nvGrpSpPr>
      <p:grpSpPr>
        <a:xfrm>
          <a:off x="0" y="0"/>
          <a:ext cx="0" cy="0"/>
          <a:chOff x="0" y="0"/>
          <a:chExt cx="0" cy="0"/>
        </a:xfrm>
      </p:grpSpPr>
      <p:sp>
        <p:nvSpPr>
          <p:cNvPr id="62" name="Google Shape;62;p13"/>
          <p:cNvSpPr txBox="1"/>
          <p:nvPr>
            <p:ph type="ctrTitle"/>
          </p:nvPr>
        </p:nvSpPr>
        <p:spPr>
          <a:xfrm>
            <a:off x="411175" y="363250"/>
            <a:ext cx="8282400" cy="8625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fr" sz="5000">
                <a:solidFill>
                  <a:srgbClr val="000000"/>
                </a:solidFill>
                <a:latin typeface="Calibri"/>
                <a:ea typeface="Calibri"/>
                <a:cs typeface="Calibri"/>
                <a:sym typeface="Calibri"/>
              </a:rPr>
              <a:t>Rapport n°4 - 04/07/2025</a:t>
            </a:r>
            <a:endParaRPr sz="5000">
              <a:solidFill>
                <a:srgbClr val="000000"/>
              </a:solidFill>
              <a:latin typeface="Calibri"/>
              <a:ea typeface="Calibri"/>
              <a:cs typeface="Calibri"/>
              <a:sym typeface="Calibri"/>
            </a:endParaRPr>
          </a:p>
        </p:txBody>
      </p:sp>
      <p:sp>
        <p:nvSpPr>
          <p:cNvPr id="63" name="Google Shape;63;p13"/>
          <p:cNvSpPr txBox="1"/>
          <p:nvPr>
            <p:ph idx="1" type="subTitle"/>
          </p:nvPr>
        </p:nvSpPr>
        <p:spPr>
          <a:xfrm>
            <a:off x="411175" y="3256650"/>
            <a:ext cx="8282400" cy="1745400"/>
          </a:xfrm>
          <a:prstGeom prst="rect">
            <a:avLst/>
          </a:prstGeom>
        </p:spPr>
        <p:txBody>
          <a:bodyPr anchorCtr="0" anchor="ctr" bIns="91425" lIns="91425" spcFirstLastPara="1" rIns="91425" wrap="square" tIns="91425">
            <a:normAutofit/>
          </a:bodyPr>
          <a:lstStyle/>
          <a:p>
            <a:pPr indent="0" lvl="0" marL="3200400" rtl="0" algn="l">
              <a:lnSpc>
                <a:spcPct val="90000"/>
              </a:lnSpc>
              <a:spcBef>
                <a:spcPts val="1000"/>
              </a:spcBef>
              <a:spcAft>
                <a:spcPts val="0"/>
              </a:spcAft>
              <a:buNone/>
            </a:pPr>
            <a:r>
              <a:rPr b="1" lang="fr" sz="2500">
                <a:solidFill>
                  <a:srgbClr val="000000"/>
                </a:solidFill>
                <a:latin typeface="Calibri"/>
                <a:ea typeface="Calibri"/>
                <a:cs typeface="Calibri"/>
                <a:sym typeface="Calibri"/>
              </a:rPr>
              <a:t>     COWG  </a:t>
            </a:r>
            <a:endParaRPr b="1" sz="2500">
              <a:solidFill>
                <a:srgbClr val="000000"/>
              </a:solidFill>
              <a:latin typeface="Calibri"/>
              <a:ea typeface="Calibri"/>
              <a:cs typeface="Calibri"/>
              <a:sym typeface="Calibri"/>
            </a:endParaRPr>
          </a:p>
          <a:p>
            <a:pPr indent="0" lvl="0" marL="2286000" rtl="0" algn="l">
              <a:lnSpc>
                <a:spcPct val="90000"/>
              </a:lnSpc>
              <a:spcBef>
                <a:spcPts val="1000"/>
              </a:spcBef>
              <a:spcAft>
                <a:spcPts val="0"/>
              </a:spcAft>
              <a:buNone/>
            </a:pPr>
            <a:r>
              <a:rPr lang="fr" sz="2500">
                <a:solidFill>
                  <a:srgbClr val="000000"/>
                </a:solidFill>
                <a:latin typeface="Calibri"/>
                <a:ea typeface="Calibri"/>
                <a:cs typeface="Calibri"/>
                <a:sym typeface="Calibri"/>
              </a:rPr>
              <a:t>Corrélations et prédictions</a:t>
            </a:r>
            <a:endParaRPr sz="2500">
              <a:solidFill>
                <a:srgbClr val="000000"/>
              </a:solidFill>
              <a:latin typeface="Calibri"/>
              <a:ea typeface="Calibri"/>
              <a:cs typeface="Calibri"/>
              <a:sym typeface="Calibri"/>
            </a:endParaRPr>
          </a:p>
        </p:txBody>
      </p:sp>
      <p:sp>
        <p:nvSpPr>
          <p:cNvPr id="64" name="Google Shape;64;p13"/>
          <p:cNvSpPr txBox="1"/>
          <p:nvPr/>
        </p:nvSpPr>
        <p:spPr>
          <a:xfrm>
            <a:off x="182950" y="1225750"/>
            <a:ext cx="3419700" cy="95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800">
                <a:solidFill>
                  <a:schemeClr val="dk2"/>
                </a:solidFill>
                <a:latin typeface="Calibri"/>
                <a:ea typeface="Calibri"/>
                <a:cs typeface="Calibri"/>
                <a:sym typeface="Calibri"/>
              </a:rPr>
              <a:t>Encadrants :</a:t>
            </a:r>
            <a:endParaRPr b="1" sz="1800">
              <a:solidFill>
                <a:schemeClr val="dk2"/>
              </a:solidFill>
              <a:latin typeface="Calibri"/>
              <a:ea typeface="Calibri"/>
              <a:cs typeface="Calibri"/>
              <a:sym typeface="Calibri"/>
            </a:endParaRPr>
          </a:p>
          <a:p>
            <a:pPr indent="0" lvl="0" marL="0" rtl="0" algn="l">
              <a:spcBef>
                <a:spcPts val="0"/>
              </a:spcBef>
              <a:spcAft>
                <a:spcPts val="0"/>
              </a:spcAft>
              <a:buNone/>
            </a:pPr>
            <a:r>
              <a:rPr lang="fr" sz="1800">
                <a:solidFill>
                  <a:schemeClr val="dk2"/>
                </a:solidFill>
                <a:latin typeface="Calibri"/>
                <a:ea typeface="Calibri"/>
                <a:cs typeface="Calibri"/>
                <a:sym typeface="Calibri"/>
              </a:rPr>
              <a:t>Corinne CASIOT-MAROUANI</a:t>
            </a:r>
            <a:endParaRPr sz="1800">
              <a:solidFill>
                <a:schemeClr val="dk2"/>
              </a:solidFill>
              <a:latin typeface="Calibri"/>
              <a:ea typeface="Calibri"/>
              <a:cs typeface="Calibri"/>
              <a:sym typeface="Calibri"/>
            </a:endParaRPr>
          </a:p>
          <a:p>
            <a:pPr indent="0" lvl="0" marL="0" rtl="0" algn="l">
              <a:spcBef>
                <a:spcPts val="0"/>
              </a:spcBef>
              <a:spcAft>
                <a:spcPts val="0"/>
              </a:spcAft>
              <a:buNone/>
            </a:pPr>
            <a:r>
              <a:rPr lang="fr" sz="1800">
                <a:solidFill>
                  <a:schemeClr val="dk2"/>
                </a:solidFill>
                <a:latin typeface="Calibri"/>
                <a:ea typeface="Calibri"/>
                <a:cs typeface="Calibri"/>
                <a:sym typeface="Calibri"/>
              </a:rPr>
              <a:t>Jonathan DUBOIS</a:t>
            </a:r>
            <a:endParaRPr sz="1800">
              <a:solidFill>
                <a:schemeClr val="dk2"/>
              </a:solidFill>
              <a:latin typeface="Calibri"/>
              <a:ea typeface="Calibri"/>
              <a:cs typeface="Calibri"/>
              <a:sym typeface="Calibri"/>
            </a:endParaRPr>
          </a:p>
        </p:txBody>
      </p:sp>
      <p:sp>
        <p:nvSpPr>
          <p:cNvPr id="65" name="Google Shape;65;p13"/>
          <p:cNvSpPr txBox="1"/>
          <p:nvPr/>
        </p:nvSpPr>
        <p:spPr>
          <a:xfrm>
            <a:off x="7308025" y="1225750"/>
            <a:ext cx="2232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800">
                <a:solidFill>
                  <a:schemeClr val="dk2"/>
                </a:solidFill>
                <a:latin typeface="Calibri"/>
                <a:ea typeface="Calibri"/>
                <a:cs typeface="Calibri"/>
                <a:sym typeface="Calibri"/>
              </a:rPr>
              <a:t>Stagiaire :</a:t>
            </a:r>
            <a:endParaRPr b="1" sz="1800">
              <a:solidFill>
                <a:schemeClr val="dk2"/>
              </a:solidFill>
              <a:latin typeface="Calibri"/>
              <a:ea typeface="Calibri"/>
              <a:cs typeface="Calibri"/>
              <a:sym typeface="Calibri"/>
            </a:endParaRPr>
          </a:p>
          <a:p>
            <a:pPr indent="0" lvl="0" marL="0" rtl="0" algn="l">
              <a:spcBef>
                <a:spcPts val="0"/>
              </a:spcBef>
              <a:spcAft>
                <a:spcPts val="0"/>
              </a:spcAft>
              <a:buNone/>
            </a:pPr>
            <a:r>
              <a:rPr lang="fr" sz="1800">
                <a:solidFill>
                  <a:schemeClr val="dk2"/>
                </a:solidFill>
                <a:latin typeface="Calibri"/>
                <a:ea typeface="Calibri"/>
                <a:cs typeface="Calibri"/>
                <a:sym typeface="Calibri"/>
              </a:rPr>
              <a:t>Laura CLETZ</a:t>
            </a:r>
            <a:endParaRPr sz="1800">
              <a:solidFill>
                <a:schemeClr val="dk2"/>
              </a:solidFill>
              <a:latin typeface="Calibri"/>
              <a:ea typeface="Calibri"/>
              <a:cs typeface="Calibri"/>
              <a:sym typeface="Calibri"/>
            </a:endParaRPr>
          </a:p>
        </p:txBody>
      </p:sp>
      <p:pic>
        <p:nvPicPr>
          <p:cNvPr id="66" name="Google Shape;66;p13"/>
          <p:cNvPicPr preferRelativeResize="0"/>
          <p:nvPr/>
        </p:nvPicPr>
        <p:blipFill rotWithShape="1">
          <a:blip r:embed="rId3">
            <a:alphaModFix/>
          </a:blip>
          <a:srcRect b="0" l="0" r="62271" t="0"/>
          <a:stretch/>
        </p:blipFill>
        <p:spPr>
          <a:xfrm>
            <a:off x="4176550" y="1506800"/>
            <a:ext cx="790901" cy="765350"/>
          </a:xfrm>
          <a:prstGeom prst="rect">
            <a:avLst/>
          </a:prstGeom>
          <a:noFill/>
          <a:ln>
            <a:noFill/>
          </a:ln>
        </p:spPr>
      </p:pic>
      <p:pic>
        <p:nvPicPr>
          <p:cNvPr id="67" name="Google Shape;67;p13"/>
          <p:cNvPicPr preferRelativeResize="0"/>
          <p:nvPr/>
        </p:nvPicPr>
        <p:blipFill>
          <a:blip r:embed="rId4">
            <a:alphaModFix/>
          </a:blip>
          <a:stretch>
            <a:fillRect/>
          </a:stretch>
        </p:blipFill>
        <p:spPr>
          <a:xfrm>
            <a:off x="4967462" y="2080125"/>
            <a:ext cx="1474875" cy="983250"/>
          </a:xfrm>
          <a:prstGeom prst="rect">
            <a:avLst/>
          </a:prstGeom>
          <a:noFill/>
          <a:ln>
            <a:noFill/>
          </a:ln>
        </p:spPr>
      </p:pic>
      <p:pic>
        <p:nvPicPr>
          <p:cNvPr id="68" name="Google Shape;68;p13"/>
          <p:cNvPicPr preferRelativeResize="0"/>
          <p:nvPr/>
        </p:nvPicPr>
        <p:blipFill>
          <a:blip r:embed="rId5">
            <a:alphaModFix/>
          </a:blip>
          <a:stretch>
            <a:fillRect/>
          </a:stretch>
        </p:blipFill>
        <p:spPr>
          <a:xfrm>
            <a:off x="2419575" y="2250200"/>
            <a:ext cx="1687860" cy="862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txBox="1"/>
          <p:nvPr/>
        </p:nvSpPr>
        <p:spPr>
          <a:xfrm>
            <a:off x="987900" y="88375"/>
            <a:ext cx="71682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sz="3600">
                <a:latin typeface="Oswald"/>
                <a:ea typeface="Oswald"/>
                <a:cs typeface="Oswald"/>
                <a:sym typeface="Oswald"/>
              </a:rPr>
              <a:t>Organigramme des corrélations</a:t>
            </a:r>
            <a:r>
              <a:rPr lang="fr" sz="3600">
                <a:latin typeface="Oswald"/>
                <a:ea typeface="Oswald"/>
                <a:cs typeface="Oswald"/>
                <a:sym typeface="Oswald"/>
              </a:rPr>
              <a:t> </a:t>
            </a:r>
            <a:endParaRPr/>
          </a:p>
        </p:txBody>
      </p:sp>
      <p:cxnSp>
        <p:nvCxnSpPr>
          <p:cNvPr id="74" name="Google Shape;74;p14"/>
          <p:cNvCxnSpPr>
            <a:stCxn id="75" idx="2"/>
            <a:endCxn id="76" idx="1"/>
          </p:cNvCxnSpPr>
          <p:nvPr/>
        </p:nvCxnSpPr>
        <p:spPr>
          <a:xfrm>
            <a:off x="1334100" y="2978450"/>
            <a:ext cx="304800" cy="883800"/>
          </a:xfrm>
          <a:prstGeom prst="bentConnector3">
            <a:avLst>
              <a:gd fmla="val 49996" name="adj1"/>
            </a:avLst>
          </a:prstGeom>
          <a:noFill/>
          <a:ln cap="flat" cmpd="sng" w="9525">
            <a:solidFill>
              <a:srgbClr val="C2C2C2"/>
            </a:solidFill>
            <a:prstDash val="solid"/>
            <a:round/>
            <a:headEnd len="sm" w="sm" type="none"/>
            <a:tailEnd len="sm" w="sm" type="none"/>
          </a:ln>
        </p:spPr>
      </p:cxnSp>
      <p:cxnSp>
        <p:nvCxnSpPr>
          <p:cNvPr id="77" name="Google Shape;77;p14"/>
          <p:cNvCxnSpPr>
            <a:stCxn id="75" idx="2"/>
            <a:endCxn id="78" idx="1"/>
          </p:cNvCxnSpPr>
          <p:nvPr/>
        </p:nvCxnSpPr>
        <p:spPr>
          <a:xfrm flipH="1" rot="10800000">
            <a:off x="1334100" y="2101250"/>
            <a:ext cx="304800" cy="877200"/>
          </a:xfrm>
          <a:prstGeom prst="bentConnector3">
            <a:avLst>
              <a:gd fmla="val 49996" name="adj1"/>
            </a:avLst>
          </a:prstGeom>
          <a:noFill/>
          <a:ln cap="flat" cmpd="sng" w="9525">
            <a:solidFill>
              <a:srgbClr val="C2C2C2"/>
            </a:solidFill>
            <a:prstDash val="solid"/>
            <a:round/>
            <a:headEnd len="sm" w="sm" type="none"/>
            <a:tailEnd len="sm" w="sm" type="none"/>
          </a:ln>
        </p:spPr>
      </p:cxnSp>
      <p:sp>
        <p:nvSpPr>
          <p:cNvPr id="75" name="Google Shape;75;p14"/>
          <p:cNvSpPr/>
          <p:nvPr/>
        </p:nvSpPr>
        <p:spPr>
          <a:xfrm rot="-5400000">
            <a:off x="68100" y="2715800"/>
            <a:ext cx="2006700" cy="525300"/>
          </a:xfrm>
          <a:prstGeom prst="roundRect">
            <a:avLst>
              <a:gd fmla="val 16667" name="adj"/>
            </a:avLst>
          </a:prstGeom>
          <a:solidFill>
            <a:srgbClr val="B4A7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Dates</a:t>
            </a:r>
            <a:endParaRPr sz="1100">
              <a:solidFill>
                <a:srgbClr val="FFFFFF"/>
              </a:solidFill>
              <a:latin typeface="Roboto"/>
              <a:ea typeface="Roboto"/>
              <a:cs typeface="Roboto"/>
              <a:sym typeface="Roboto"/>
            </a:endParaRPr>
          </a:p>
        </p:txBody>
      </p:sp>
      <p:sp>
        <p:nvSpPr>
          <p:cNvPr id="78" name="Google Shape;78;p14"/>
          <p:cNvSpPr/>
          <p:nvPr/>
        </p:nvSpPr>
        <p:spPr>
          <a:xfrm>
            <a:off x="1638875" y="1838650"/>
            <a:ext cx="1443900" cy="525300"/>
          </a:xfrm>
          <a:prstGeom prst="roundRect">
            <a:avLst>
              <a:gd fmla="val 16667" name="adj"/>
            </a:avLst>
          </a:prstGeom>
          <a:solidFill>
            <a:srgbClr val="351C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Pluie au temps T</a:t>
            </a:r>
            <a:endParaRPr sz="1100">
              <a:solidFill>
                <a:srgbClr val="FFFFFF"/>
              </a:solidFill>
              <a:latin typeface="Roboto"/>
              <a:ea typeface="Roboto"/>
              <a:cs typeface="Roboto"/>
              <a:sym typeface="Roboto"/>
            </a:endParaRPr>
          </a:p>
        </p:txBody>
      </p:sp>
      <p:sp>
        <p:nvSpPr>
          <p:cNvPr id="76" name="Google Shape;76;p14"/>
          <p:cNvSpPr/>
          <p:nvPr/>
        </p:nvSpPr>
        <p:spPr>
          <a:xfrm>
            <a:off x="1638875" y="3599575"/>
            <a:ext cx="1443900" cy="525300"/>
          </a:xfrm>
          <a:prstGeom prst="roundRect">
            <a:avLst>
              <a:gd fmla="val 16667" name="adj"/>
            </a:avLst>
          </a:prstGeom>
          <a:solidFill>
            <a:srgbClr val="351C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Pluie au temps T-1</a:t>
            </a:r>
            <a:endParaRPr sz="1100">
              <a:solidFill>
                <a:srgbClr val="FFFFFF"/>
              </a:solidFill>
              <a:latin typeface="Roboto"/>
              <a:ea typeface="Roboto"/>
              <a:cs typeface="Roboto"/>
              <a:sym typeface="Roboto"/>
            </a:endParaRPr>
          </a:p>
        </p:txBody>
      </p:sp>
      <p:sp>
        <p:nvSpPr>
          <p:cNvPr id="79" name="Google Shape;79;p14"/>
          <p:cNvSpPr/>
          <p:nvPr/>
        </p:nvSpPr>
        <p:spPr>
          <a:xfrm>
            <a:off x="4540625" y="1015975"/>
            <a:ext cx="892800" cy="450000"/>
          </a:xfrm>
          <a:prstGeom prst="roundRect">
            <a:avLst>
              <a:gd fmla="val 16667" name="adj"/>
            </a:avLst>
          </a:prstGeom>
          <a:solidFill>
            <a:srgbClr val="351C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Cuivre</a:t>
            </a:r>
            <a:endParaRPr sz="1100">
              <a:solidFill>
                <a:srgbClr val="FFFFFF"/>
              </a:solidFill>
              <a:latin typeface="Roboto"/>
              <a:ea typeface="Roboto"/>
              <a:cs typeface="Roboto"/>
              <a:sym typeface="Roboto"/>
            </a:endParaRPr>
          </a:p>
        </p:txBody>
      </p:sp>
      <p:sp>
        <p:nvSpPr>
          <p:cNvPr id="80" name="Google Shape;80;p14"/>
          <p:cNvSpPr/>
          <p:nvPr/>
        </p:nvSpPr>
        <p:spPr>
          <a:xfrm>
            <a:off x="4540625" y="1534125"/>
            <a:ext cx="892800" cy="450000"/>
          </a:xfrm>
          <a:prstGeom prst="roundRect">
            <a:avLst>
              <a:gd fmla="val 16667" name="adj"/>
            </a:avLst>
          </a:prstGeom>
          <a:solidFill>
            <a:srgbClr val="674EA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Arsenic</a:t>
            </a:r>
            <a:endParaRPr sz="1100">
              <a:solidFill>
                <a:srgbClr val="FFFFFF"/>
              </a:solidFill>
              <a:latin typeface="Roboto"/>
              <a:ea typeface="Roboto"/>
              <a:cs typeface="Roboto"/>
              <a:sym typeface="Roboto"/>
            </a:endParaRPr>
          </a:p>
        </p:txBody>
      </p:sp>
      <p:sp>
        <p:nvSpPr>
          <p:cNvPr id="81" name="Google Shape;81;p14"/>
          <p:cNvSpPr/>
          <p:nvPr/>
        </p:nvSpPr>
        <p:spPr>
          <a:xfrm>
            <a:off x="4540625" y="2052275"/>
            <a:ext cx="892800" cy="450000"/>
          </a:xfrm>
          <a:prstGeom prst="roundRect">
            <a:avLst>
              <a:gd fmla="val 16667" name="adj"/>
            </a:avLst>
          </a:prstGeom>
          <a:solidFill>
            <a:srgbClr val="674EA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Plomb</a:t>
            </a:r>
            <a:endParaRPr sz="1100">
              <a:solidFill>
                <a:srgbClr val="FFFFFF"/>
              </a:solidFill>
              <a:latin typeface="Roboto"/>
              <a:ea typeface="Roboto"/>
              <a:cs typeface="Roboto"/>
              <a:sym typeface="Roboto"/>
            </a:endParaRPr>
          </a:p>
        </p:txBody>
      </p:sp>
      <p:sp>
        <p:nvSpPr>
          <p:cNvPr id="82" name="Google Shape;82;p14"/>
          <p:cNvSpPr/>
          <p:nvPr/>
        </p:nvSpPr>
        <p:spPr>
          <a:xfrm>
            <a:off x="4540625" y="2570425"/>
            <a:ext cx="892800" cy="450000"/>
          </a:xfrm>
          <a:prstGeom prst="roundRect">
            <a:avLst>
              <a:gd fmla="val 16667" name="adj"/>
            </a:avLst>
          </a:prstGeom>
          <a:solidFill>
            <a:srgbClr val="351C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Zinc</a:t>
            </a:r>
            <a:endParaRPr sz="1100">
              <a:solidFill>
                <a:srgbClr val="FFFFFF"/>
              </a:solidFill>
              <a:latin typeface="Roboto"/>
              <a:ea typeface="Roboto"/>
              <a:cs typeface="Roboto"/>
              <a:sym typeface="Roboto"/>
            </a:endParaRPr>
          </a:p>
        </p:txBody>
      </p:sp>
      <p:cxnSp>
        <p:nvCxnSpPr>
          <p:cNvPr id="83" name="Google Shape;83;p14"/>
          <p:cNvCxnSpPr/>
          <p:nvPr/>
        </p:nvCxnSpPr>
        <p:spPr>
          <a:xfrm flipH="1" rot="5400000">
            <a:off x="2747850" y="2450575"/>
            <a:ext cx="866100" cy="196200"/>
          </a:xfrm>
          <a:prstGeom prst="bentConnector2">
            <a:avLst/>
          </a:prstGeom>
          <a:noFill/>
          <a:ln cap="flat" cmpd="sng" w="9525">
            <a:solidFill>
              <a:srgbClr val="C2C2C2"/>
            </a:solidFill>
            <a:prstDash val="solid"/>
            <a:round/>
            <a:headEnd len="sm" w="sm" type="none"/>
            <a:tailEnd len="sm" w="sm" type="none"/>
          </a:ln>
        </p:spPr>
      </p:cxnSp>
      <p:cxnSp>
        <p:nvCxnSpPr>
          <p:cNvPr id="84" name="Google Shape;84;p14"/>
          <p:cNvCxnSpPr/>
          <p:nvPr/>
        </p:nvCxnSpPr>
        <p:spPr>
          <a:xfrm flipH="1">
            <a:off x="3082775" y="2981725"/>
            <a:ext cx="304800" cy="894900"/>
          </a:xfrm>
          <a:prstGeom prst="bentConnector3">
            <a:avLst>
              <a:gd fmla="val 35671" name="adj1"/>
            </a:avLst>
          </a:prstGeom>
          <a:noFill/>
          <a:ln cap="flat" cmpd="sng" w="9525">
            <a:solidFill>
              <a:srgbClr val="C2C2C2"/>
            </a:solidFill>
            <a:prstDash val="solid"/>
            <a:round/>
            <a:headEnd len="sm" w="sm" type="none"/>
            <a:tailEnd len="sm" w="sm" type="none"/>
          </a:ln>
        </p:spPr>
      </p:cxnSp>
      <p:sp>
        <p:nvSpPr>
          <p:cNvPr id="85" name="Google Shape;85;p14"/>
          <p:cNvSpPr/>
          <p:nvPr/>
        </p:nvSpPr>
        <p:spPr>
          <a:xfrm rot="-5400000">
            <a:off x="2637413" y="2715800"/>
            <a:ext cx="2006700" cy="525300"/>
          </a:xfrm>
          <a:prstGeom prst="roundRect">
            <a:avLst>
              <a:gd fmla="val 16667" name="adj"/>
            </a:avLst>
          </a:prstGeom>
          <a:solidFill>
            <a:srgbClr val="674EA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O2</a:t>
            </a:r>
            <a:endParaRPr sz="1100">
              <a:solidFill>
                <a:srgbClr val="FFFFFF"/>
              </a:solidFill>
              <a:latin typeface="Roboto"/>
              <a:ea typeface="Roboto"/>
              <a:cs typeface="Roboto"/>
              <a:sym typeface="Roboto"/>
            </a:endParaRPr>
          </a:p>
        </p:txBody>
      </p:sp>
      <p:cxnSp>
        <p:nvCxnSpPr>
          <p:cNvPr id="86" name="Google Shape;86;p14"/>
          <p:cNvCxnSpPr>
            <a:endCxn id="80" idx="1"/>
          </p:cNvCxnSpPr>
          <p:nvPr/>
        </p:nvCxnSpPr>
        <p:spPr>
          <a:xfrm rot="-5400000">
            <a:off x="3817475" y="2038875"/>
            <a:ext cx="1002900" cy="443400"/>
          </a:xfrm>
          <a:prstGeom prst="bentConnector2">
            <a:avLst/>
          </a:prstGeom>
          <a:noFill/>
          <a:ln cap="flat" cmpd="sng" w="9525">
            <a:solidFill>
              <a:srgbClr val="C2C2C2"/>
            </a:solidFill>
            <a:prstDash val="solid"/>
            <a:round/>
            <a:headEnd len="sm" w="sm" type="none"/>
            <a:tailEnd len="sm" w="sm" type="none"/>
          </a:ln>
        </p:spPr>
      </p:cxnSp>
      <p:sp>
        <p:nvSpPr>
          <p:cNvPr id="87" name="Google Shape;87;p14"/>
          <p:cNvSpPr/>
          <p:nvPr/>
        </p:nvSpPr>
        <p:spPr>
          <a:xfrm>
            <a:off x="4540625" y="3088575"/>
            <a:ext cx="892800" cy="450000"/>
          </a:xfrm>
          <a:prstGeom prst="roundRect">
            <a:avLst>
              <a:gd fmla="val 16667" name="adj"/>
            </a:avLst>
          </a:prstGeom>
          <a:solidFill>
            <a:srgbClr val="B4A7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Sulfate</a:t>
            </a:r>
            <a:endParaRPr sz="1100">
              <a:solidFill>
                <a:srgbClr val="FFFFFF"/>
              </a:solidFill>
              <a:latin typeface="Roboto"/>
              <a:ea typeface="Roboto"/>
              <a:cs typeface="Roboto"/>
              <a:sym typeface="Roboto"/>
            </a:endParaRPr>
          </a:p>
        </p:txBody>
      </p:sp>
      <p:sp>
        <p:nvSpPr>
          <p:cNvPr id="88" name="Google Shape;88;p14"/>
          <p:cNvSpPr/>
          <p:nvPr/>
        </p:nvSpPr>
        <p:spPr>
          <a:xfrm>
            <a:off x="4540625" y="4124875"/>
            <a:ext cx="892800" cy="450000"/>
          </a:xfrm>
          <a:prstGeom prst="roundRect">
            <a:avLst>
              <a:gd fmla="val 16667" name="adj"/>
            </a:avLst>
          </a:prstGeom>
          <a:solidFill>
            <a:srgbClr val="D9D2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Cadmium</a:t>
            </a:r>
            <a:endParaRPr sz="1100">
              <a:solidFill>
                <a:srgbClr val="FFFFFF"/>
              </a:solidFill>
              <a:latin typeface="Roboto"/>
              <a:ea typeface="Roboto"/>
              <a:cs typeface="Roboto"/>
              <a:sym typeface="Roboto"/>
            </a:endParaRPr>
          </a:p>
        </p:txBody>
      </p:sp>
      <p:sp>
        <p:nvSpPr>
          <p:cNvPr id="89" name="Google Shape;89;p14"/>
          <p:cNvSpPr/>
          <p:nvPr/>
        </p:nvSpPr>
        <p:spPr>
          <a:xfrm>
            <a:off x="4540625" y="3606725"/>
            <a:ext cx="892800" cy="450000"/>
          </a:xfrm>
          <a:prstGeom prst="roundRect">
            <a:avLst>
              <a:gd fmla="val 16667" name="adj"/>
            </a:avLst>
          </a:prstGeom>
          <a:solidFill>
            <a:srgbClr val="674EA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FeII</a:t>
            </a:r>
            <a:endParaRPr sz="1100">
              <a:solidFill>
                <a:srgbClr val="FFFFFF"/>
              </a:solidFill>
              <a:latin typeface="Roboto"/>
              <a:ea typeface="Roboto"/>
              <a:cs typeface="Roboto"/>
              <a:sym typeface="Roboto"/>
            </a:endParaRPr>
          </a:p>
        </p:txBody>
      </p:sp>
      <p:sp>
        <p:nvSpPr>
          <p:cNvPr id="90" name="Google Shape;90;p14"/>
          <p:cNvSpPr/>
          <p:nvPr/>
        </p:nvSpPr>
        <p:spPr>
          <a:xfrm>
            <a:off x="4540625" y="4643025"/>
            <a:ext cx="892800" cy="450000"/>
          </a:xfrm>
          <a:prstGeom prst="roundRect">
            <a:avLst>
              <a:gd fmla="val 16667" name="adj"/>
            </a:avLst>
          </a:prstGeom>
          <a:solidFill>
            <a:srgbClr val="D9D2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Antimoine</a:t>
            </a:r>
            <a:endParaRPr sz="1100">
              <a:solidFill>
                <a:srgbClr val="FFFFFF"/>
              </a:solidFill>
              <a:latin typeface="Roboto"/>
              <a:ea typeface="Roboto"/>
              <a:cs typeface="Roboto"/>
              <a:sym typeface="Roboto"/>
            </a:endParaRPr>
          </a:p>
        </p:txBody>
      </p:sp>
      <p:cxnSp>
        <p:nvCxnSpPr>
          <p:cNvPr id="91" name="Google Shape;91;p14"/>
          <p:cNvCxnSpPr>
            <a:endCxn id="79" idx="1"/>
          </p:cNvCxnSpPr>
          <p:nvPr/>
        </p:nvCxnSpPr>
        <p:spPr>
          <a:xfrm rot="-5400000">
            <a:off x="3879575" y="1458925"/>
            <a:ext cx="879000" cy="443100"/>
          </a:xfrm>
          <a:prstGeom prst="bentConnector2">
            <a:avLst/>
          </a:prstGeom>
          <a:noFill/>
          <a:ln cap="flat" cmpd="sng" w="9525">
            <a:solidFill>
              <a:srgbClr val="C2C2C2"/>
            </a:solidFill>
            <a:prstDash val="solid"/>
            <a:round/>
            <a:headEnd len="sm" w="sm" type="none"/>
            <a:tailEnd len="sm" w="sm" type="none"/>
          </a:ln>
        </p:spPr>
      </p:cxnSp>
      <p:cxnSp>
        <p:nvCxnSpPr>
          <p:cNvPr id="92" name="Google Shape;92;p14"/>
          <p:cNvCxnSpPr/>
          <p:nvPr/>
        </p:nvCxnSpPr>
        <p:spPr>
          <a:xfrm rot="-5400000">
            <a:off x="3817625" y="2524650"/>
            <a:ext cx="1002900" cy="443400"/>
          </a:xfrm>
          <a:prstGeom prst="bentConnector2">
            <a:avLst/>
          </a:prstGeom>
          <a:noFill/>
          <a:ln cap="flat" cmpd="sng" w="9525">
            <a:solidFill>
              <a:srgbClr val="C2C2C2"/>
            </a:solidFill>
            <a:prstDash val="solid"/>
            <a:round/>
            <a:headEnd len="sm" w="sm" type="none"/>
            <a:tailEnd len="sm" w="sm" type="none"/>
          </a:ln>
        </p:spPr>
      </p:cxnSp>
      <p:cxnSp>
        <p:nvCxnSpPr>
          <p:cNvPr id="93" name="Google Shape;93;p14"/>
          <p:cNvCxnSpPr/>
          <p:nvPr/>
        </p:nvCxnSpPr>
        <p:spPr>
          <a:xfrm rot="-5400000">
            <a:off x="3817475" y="3091875"/>
            <a:ext cx="1002900" cy="443400"/>
          </a:xfrm>
          <a:prstGeom prst="bentConnector2">
            <a:avLst/>
          </a:prstGeom>
          <a:noFill/>
          <a:ln cap="flat" cmpd="sng" w="9525">
            <a:solidFill>
              <a:srgbClr val="C2C2C2"/>
            </a:solidFill>
            <a:prstDash val="solid"/>
            <a:round/>
            <a:headEnd len="sm" w="sm" type="none"/>
            <a:tailEnd len="sm" w="sm" type="none"/>
          </a:ln>
        </p:spPr>
      </p:cxnSp>
      <p:cxnSp>
        <p:nvCxnSpPr>
          <p:cNvPr id="94" name="Google Shape;94;p14"/>
          <p:cNvCxnSpPr/>
          <p:nvPr/>
        </p:nvCxnSpPr>
        <p:spPr>
          <a:xfrm rot="-5400000">
            <a:off x="3817475" y="3610025"/>
            <a:ext cx="1002900" cy="443400"/>
          </a:xfrm>
          <a:prstGeom prst="bentConnector2">
            <a:avLst/>
          </a:prstGeom>
          <a:noFill/>
          <a:ln cap="flat" cmpd="sng" w="9525">
            <a:solidFill>
              <a:srgbClr val="C2C2C2"/>
            </a:solidFill>
            <a:prstDash val="solid"/>
            <a:round/>
            <a:headEnd len="sm" w="sm" type="none"/>
            <a:tailEnd len="sm" w="sm" type="none"/>
          </a:ln>
        </p:spPr>
      </p:cxnSp>
      <p:cxnSp>
        <p:nvCxnSpPr>
          <p:cNvPr id="95" name="Google Shape;95;p14"/>
          <p:cNvCxnSpPr/>
          <p:nvPr/>
        </p:nvCxnSpPr>
        <p:spPr>
          <a:xfrm rot="-5400000">
            <a:off x="3817625" y="4128175"/>
            <a:ext cx="1002900" cy="443400"/>
          </a:xfrm>
          <a:prstGeom prst="bentConnector2">
            <a:avLst/>
          </a:prstGeom>
          <a:noFill/>
          <a:ln cap="flat" cmpd="sng" w="9525">
            <a:solidFill>
              <a:srgbClr val="C2C2C2"/>
            </a:solidFill>
            <a:prstDash val="solid"/>
            <a:round/>
            <a:headEnd len="sm" w="sm" type="none"/>
            <a:tailEnd len="sm" w="sm" type="none"/>
          </a:ln>
        </p:spPr>
      </p:cxnSp>
      <p:cxnSp>
        <p:nvCxnSpPr>
          <p:cNvPr id="96" name="Google Shape;96;p14"/>
          <p:cNvCxnSpPr>
            <a:endCxn id="88" idx="1"/>
          </p:cNvCxnSpPr>
          <p:nvPr/>
        </p:nvCxnSpPr>
        <p:spPr>
          <a:xfrm>
            <a:off x="4101425" y="4348075"/>
            <a:ext cx="439200" cy="1800"/>
          </a:xfrm>
          <a:prstGeom prst="straightConnector1">
            <a:avLst/>
          </a:prstGeom>
          <a:noFill/>
          <a:ln cap="flat" cmpd="sng" w="9525">
            <a:solidFill>
              <a:srgbClr val="B7B7B7"/>
            </a:solidFill>
            <a:prstDash val="solid"/>
            <a:round/>
            <a:headEnd len="med" w="med" type="none"/>
            <a:tailEnd len="med" w="med" type="none"/>
          </a:ln>
        </p:spPr>
      </p:cxnSp>
      <p:cxnSp>
        <p:nvCxnSpPr>
          <p:cNvPr id="97" name="Google Shape;97;p14"/>
          <p:cNvCxnSpPr/>
          <p:nvPr/>
        </p:nvCxnSpPr>
        <p:spPr>
          <a:xfrm>
            <a:off x="4092375" y="4897375"/>
            <a:ext cx="448200" cy="600"/>
          </a:xfrm>
          <a:prstGeom prst="straightConnector1">
            <a:avLst/>
          </a:prstGeom>
          <a:noFill/>
          <a:ln cap="flat" cmpd="sng" w="9525">
            <a:solidFill>
              <a:srgbClr val="B7B7B7"/>
            </a:solidFill>
            <a:prstDash val="solid"/>
            <a:round/>
            <a:headEnd len="med" w="med" type="none"/>
            <a:tailEnd len="med" w="med" type="none"/>
          </a:ln>
        </p:spPr>
      </p:cxnSp>
      <p:cxnSp>
        <p:nvCxnSpPr>
          <p:cNvPr id="98" name="Google Shape;98;p14"/>
          <p:cNvCxnSpPr/>
          <p:nvPr/>
        </p:nvCxnSpPr>
        <p:spPr>
          <a:xfrm>
            <a:off x="3903425" y="2962525"/>
            <a:ext cx="193800" cy="4500"/>
          </a:xfrm>
          <a:prstGeom prst="straightConnector1">
            <a:avLst/>
          </a:prstGeom>
          <a:noFill/>
          <a:ln cap="flat" cmpd="sng" w="9525">
            <a:solidFill>
              <a:srgbClr val="B7B7B7"/>
            </a:solidFill>
            <a:prstDash val="solid"/>
            <a:round/>
            <a:headEnd len="med" w="med" type="none"/>
            <a:tailEnd len="med" w="med" type="none"/>
          </a:ln>
        </p:spPr>
      </p:cxnSp>
      <p:cxnSp>
        <p:nvCxnSpPr>
          <p:cNvPr id="99" name="Google Shape;99;p14"/>
          <p:cNvCxnSpPr/>
          <p:nvPr/>
        </p:nvCxnSpPr>
        <p:spPr>
          <a:xfrm rot="5400000">
            <a:off x="5153825" y="3656625"/>
            <a:ext cx="1002900" cy="443400"/>
          </a:xfrm>
          <a:prstGeom prst="bentConnector2">
            <a:avLst/>
          </a:prstGeom>
          <a:noFill/>
          <a:ln cap="flat" cmpd="sng" w="9525">
            <a:solidFill>
              <a:srgbClr val="C2C2C2"/>
            </a:solidFill>
            <a:prstDash val="solid"/>
            <a:round/>
            <a:headEnd len="sm" w="sm" type="none"/>
            <a:tailEnd len="sm" w="sm" type="none"/>
          </a:ln>
        </p:spPr>
      </p:cxnSp>
      <p:cxnSp>
        <p:nvCxnSpPr>
          <p:cNvPr id="100" name="Google Shape;100;p14"/>
          <p:cNvCxnSpPr/>
          <p:nvPr/>
        </p:nvCxnSpPr>
        <p:spPr>
          <a:xfrm rot="5400000">
            <a:off x="5215625" y="4236875"/>
            <a:ext cx="879000" cy="443100"/>
          </a:xfrm>
          <a:prstGeom prst="bentConnector2">
            <a:avLst/>
          </a:prstGeom>
          <a:noFill/>
          <a:ln cap="flat" cmpd="sng" w="9525">
            <a:solidFill>
              <a:srgbClr val="C2C2C2"/>
            </a:solidFill>
            <a:prstDash val="solid"/>
            <a:round/>
            <a:headEnd len="sm" w="sm" type="none"/>
            <a:tailEnd len="sm" w="sm" type="none"/>
          </a:ln>
        </p:spPr>
      </p:cxnSp>
      <p:cxnSp>
        <p:nvCxnSpPr>
          <p:cNvPr id="101" name="Google Shape;101;p14"/>
          <p:cNvCxnSpPr/>
          <p:nvPr/>
        </p:nvCxnSpPr>
        <p:spPr>
          <a:xfrm rot="5400000">
            <a:off x="5153675" y="3170850"/>
            <a:ext cx="1002900" cy="443400"/>
          </a:xfrm>
          <a:prstGeom prst="bentConnector2">
            <a:avLst/>
          </a:prstGeom>
          <a:noFill/>
          <a:ln cap="flat" cmpd="sng" w="9525">
            <a:solidFill>
              <a:srgbClr val="C2C2C2"/>
            </a:solidFill>
            <a:prstDash val="solid"/>
            <a:round/>
            <a:headEnd len="sm" w="sm" type="none"/>
            <a:tailEnd len="sm" w="sm" type="none"/>
          </a:ln>
        </p:spPr>
      </p:cxnSp>
      <p:cxnSp>
        <p:nvCxnSpPr>
          <p:cNvPr id="102" name="Google Shape;102;p14"/>
          <p:cNvCxnSpPr/>
          <p:nvPr/>
        </p:nvCxnSpPr>
        <p:spPr>
          <a:xfrm rot="5400000">
            <a:off x="5153825" y="2603625"/>
            <a:ext cx="1002900" cy="443400"/>
          </a:xfrm>
          <a:prstGeom prst="bentConnector2">
            <a:avLst/>
          </a:prstGeom>
          <a:noFill/>
          <a:ln cap="flat" cmpd="sng" w="9525">
            <a:solidFill>
              <a:srgbClr val="C2C2C2"/>
            </a:solidFill>
            <a:prstDash val="solid"/>
            <a:round/>
            <a:headEnd len="sm" w="sm" type="none"/>
            <a:tailEnd len="sm" w="sm" type="none"/>
          </a:ln>
        </p:spPr>
      </p:cxnSp>
      <p:cxnSp>
        <p:nvCxnSpPr>
          <p:cNvPr id="103" name="Google Shape;103;p14"/>
          <p:cNvCxnSpPr/>
          <p:nvPr/>
        </p:nvCxnSpPr>
        <p:spPr>
          <a:xfrm rot="5400000">
            <a:off x="5153825" y="2085475"/>
            <a:ext cx="1002900" cy="443400"/>
          </a:xfrm>
          <a:prstGeom prst="bentConnector2">
            <a:avLst/>
          </a:prstGeom>
          <a:noFill/>
          <a:ln cap="flat" cmpd="sng" w="9525">
            <a:solidFill>
              <a:srgbClr val="C2C2C2"/>
            </a:solidFill>
            <a:prstDash val="solid"/>
            <a:round/>
            <a:headEnd len="sm" w="sm" type="none"/>
            <a:tailEnd len="sm" w="sm" type="none"/>
          </a:ln>
        </p:spPr>
      </p:cxnSp>
      <p:cxnSp>
        <p:nvCxnSpPr>
          <p:cNvPr id="104" name="Google Shape;104;p14"/>
          <p:cNvCxnSpPr/>
          <p:nvPr/>
        </p:nvCxnSpPr>
        <p:spPr>
          <a:xfrm rot="5400000">
            <a:off x="5153675" y="1567325"/>
            <a:ext cx="1002900" cy="443400"/>
          </a:xfrm>
          <a:prstGeom prst="bentConnector2">
            <a:avLst/>
          </a:prstGeom>
          <a:noFill/>
          <a:ln cap="flat" cmpd="sng" w="9525">
            <a:solidFill>
              <a:srgbClr val="C2C2C2"/>
            </a:solidFill>
            <a:prstDash val="solid"/>
            <a:round/>
            <a:headEnd len="sm" w="sm" type="none"/>
            <a:tailEnd len="sm" w="sm" type="none"/>
          </a:ln>
        </p:spPr>
      </p:cxnSp>
      <p:cxnSp>
        <p:nvCxnSpPr>
          <p:cNvPr id="105" name="Google Shape;105;p14"/>
          <p:cNvCxnSpPr/>
          <p:nvPr/>
        </p:nvCxnSpPr>
        <p:spPr>
          <a:xfrm rot="10800000">
            <a:off x="5433400" y="1789050"/>
            <a:ext cx="449700" cy="3900"/>
          </a:xfrm>
          <a:prstGeom prst="straightConnector1">
            <a:avLst/>
          </a:prstGeom>
          <a:noFill/>
          <a:ln cap="flat" cmpd="sng" w="9525">
            <a:solidFill>
              <a:srgbClr val="B7B7B7"/>
            </a:solidFill>
            <a:prstDash val="solid"/>
            <a:round/>
            <a:headEnd len="med" w="med" type="none"/>
            <a:tailEnd len="med" w="med" type="none"/>
          </a:ln>
        </p:spPr>
      </p:cxnSp>
      <p:cxnSp>
        <p:nvCxnSpPr>
          <p:cNvPr id="106" name="Google Shape;106;p14"/>
          <p:cNvCxnSpPr>
            <a:endCxn id="79" idx="3"/>
          </p:cNvCxnSpPr>
          <p:nvPr/>
        </p:nvCxnSpPr>
        <p:spPr>
          <a:xfrm rot="10800000">
            <a:off x="5433425" y="1240975"/>
            <a:ext cx="446100" cy="2400"/>
          </a:xfrm>
          <a:prstGeom prst="straightConnector1">
            <a:avLst/>
          </a:prstGeom>
          <a:noFill/>
          <a:ln cap="flat" cmpd="sng" w="9525">
            <a:solidFill>
              <a:srgbClr val="B7B7B7"/>
            </a:solidFill>
            <a:prstDash val="solid"/>
            <a:round/>
            <a:headEnd len="med" w="med" type="none"/>
            <a:tailEnd len="med" w="med" type="none"/>
          </a:ln>
        </p:spPr>
      </p:cxnSp>
      <p:cxnSp>
        <p:nvCxnSpPr>
          <p:cNvPr id="107" name="Google Shape;107;p14"/>
          <p:cNvCxnSpPr/>
          <p:nvPr/>
        </p:nvCxnSpPr>
        <p:spPr>
          <a:xfrm rot="10800000">
            <a:off x="5876975" y="3171875"/>
            <a:ext cx="193800" cy="4500"/>
          </a:xfrm>
          <a:prstGeom prst="straightConnector1">
            <a:avLst/>
          </a:prstGeom>
          <a:noFill/>
          <a:ln cap="flat" cmpd="sng" w="9525">
            <a:solidFill>
              <a:srgbClr val="B7B7B7"/>
            </a:solidFill>
            <a:prstDash val="solid"/>
            <a:round/>
            <a:headEnd len="med" w="med" type="none"/>
            <a:tailEnd len="med" w="med" type="none"/>
          </a:ln>
        </p:spPr>
      </p:cxnSp>
      <p:sp>
        <p:nvSpPr>
          <p:cNvPr id="108" name="Google Shape;108;p14"/>
          <p:cNvSpPr/>
          <p:nvPr/>
        </p:nvSpPr>
        <p:spPr>
          <a:xfrm rot="-5400000">
            <a:off x="5329913" y="2715800"/>
            <a:ext cx="2006700" cy="525300"/>
          </a:xfrm>
          <a:prstGeom prst="roundRect">
            <a:avLst>
              <a:gd fmla="val 16667" name="adj"/>
            </a:avLst>
          </a:prstGeom>
          <a:solidFill>
            <a:srgbClr val="674EA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Température de l’eau</a:t>
            </a:r>
            <a:endParaRPr sz="1100">
              <a:solidFill>
                <a:srgbClr val="FFFFFF"/>
              </a:solidFill>
              <a:latin typeface="Roboto"/>
              <a:ea typeface="Roboto"/>
              <a:cs typeface="Roboto"/>
              <a:sym typeface="Roboto"/>
            </a:endParaRPr>
          </a:p>
        </p:txBody>
      </p:sp>
      <p:cxnSp>
        <p:nvCxnSpPr>
          <p:cNvPr id="109" name="Google Shape;109;p14"/>
          <p:cNvCxnSpPr/>
          <p:nvPr/>
        </p:nvCxnSpPr>
        <p:spPr>
          <a:xfrm>
            <a:off x="6595925" y="2975150"/>
            <a:ext cx="304800" cy="883800"/>
          </a:xfrm>
          <a:prstGeom prst="bentConnector3">
            <a:avLst>
              <a:gd fmla="val 49996" name="adj1"/>
            </a:avLst>
          </a:prstGeom>
          <a:noFill/>
          <a:ln cap="flat" cmpd="sng" w="9525">
            <a:solidFill>
              <a:srgbClr val="C2C2C2"/>
            </a:solidFill>
            <a:prstDash val="solid"/>
            <a:round/>
            <a:headEnd len="sm" w="sm" type="none"/>
            <a:tailEnd len="sm" w="sm" type="none"/>
          </a:ln>
        </p:spPr>
      </p:cxnSp>
      <p:cxnSp>
        <p:nvCxnSpPr>
          <p:cNvPr id="110" name="Google Shape;110;p14"/>
          <p:cNvCxnSpPr/>
          <p:nvPr/>
        </p:nvCxnSpPr>
        <p:spPr>
          <a:xfrm flipH="1" rot="10800000">
            <a:off x="6595925" y="2097950"/>
            <a:ext cx="304800" cy="877200"/>
          </a:xfrm>
          <a:prstGeom prst="bentConnector3">
            <a:avLst>
              <a:gd fmla="val 49996" name="adj1"/>
            </a:avLst>
          </a:prstGeom>
          <a:noFill/>
          <a:ln cap="flat" cmpd="sng" w="9525">
            <a:solidFill>
              <a:srgbClr val="C2C2C2"/>
            </a:solidFill>
            <a:prstDash val="solid"/>
            <a:round/>
            <a:headEnd len="sm" w="sm" type="none"/>
            <a:tailEnd len="sm" w="sm" type="none"/>
          </a:ln>
        </p:spPr>
      </p:cxnSp>
      <p:sp>
        <p:nvSpPr>
          <p:cNvPr id="111" name="Google Shape;111;p14"/>
          <p:cNvSpPr/>
          <p:nvPr/>
        </p:nvSpPr>
        <p:spPr>
          <a:xfrm>
            <a:off x="6891275" y="1821663"/>
            <a:ext cx="1443900" cy="525300"/>
          </a:xfrm>
          <a:prstGeom prst="roundRect">
            <a:avLst>
              <a:gd fmla="val 16667" name="adj"/>
            </a:avLst>
          </a:prstGeom>
          <a:solidFill>
            <a:srgbClr val="B4A7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pH</a:t>
            </a:r>
            <a:endParaRPr sz="1100">
              <a:solidFill>
                <a:srgbClr val="FFFFFF"/>
              </a:solidFill>
              <a:latin typeface="Roboto"/>
              <a:ea typeface="Roboto"/>
              <a:cs typeface="Roboto"/>
              <a:sym typeface="Roboto"/>
            </a:endParaRPr>
          </a:p>
        </p:txBody>
      </p:sp>
      <p:sp>
        <p:nvSpPr>
          <p:cNvPr id="112" name="Google Shape;112;p14"/>
          <p:cNvSpPr/>
          <p:nvPr/>
        </p:nvSpPr>
        <p:spPr>
          <a:xfrm>
            <a:off x="6891275" y="3582588"/>
            <a:ext cx="1443900" cy="525300"/>
          </a:xfrm>
          <a:prstGeom prst="roundRect">
            <a:avLst>
              <a:gd fmla="val 16667" name="adj"/>
            </a:avLst>
          </a:prstGeom>
          <a:solidFill>
            <a:srgbClr val="B4A7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Conductivité</a:t>
            </a:r>
            <a:endParaRPr sz="1100">
              <a:solidFill>
                <a:srgbClr val="FFFFFF"/>
              </a:solidFill>
              <a:latin typeface="Roboto"/>
              <a:ea typeface="Roboto"/>
              <a:cs typeface="Roboto"/>
              <a:sym typeface="Roboto"/>
            </a:endParaRPr>
          </a:p>
        </p:txBody>
      </p:sp>
      <p:cxnSp>
        <p:nvCxnSpPr>
          <p:cNvPr id="113" name="Google Shape;113;p14"/>
          <p:cNvCxnSpPr/>
          <p:nvPr/>
        </p:nvCxnSpPr>
        <p:spPr>
          <a:xfrm rot="10800000">
            <a:off x="5876675" y="1240975"/>
            <a:ext cx="0" cy="71700"/>
          </a:xfrm>
          <a:prstGeom prst="straightConnector1">
            <a:avLst/>
          </a:prstGeom>
          <a:noFill/>
          <a:ln cap="flat" cmpd="sng" w="9525">
            <a:solidFill>
              <a:srgbClr val="B7B7B7"/>
            </a:solidFill>
            <a:prstDash val="solid"/>
            <a:round/>
            <a:headEnd len="med" w="med" type="none"/>
            <a:tailEnd len="med" w="med" type="none"/>
          </a:ln>
        </p:spPr>
      </p:cxnSp>
      <p:cxnSp>
        <p:nvCxnSpPr>
          <p:cNvPr id="114" name="Google Shape;114;p14"/>
          <p:cNvCxnSpPr/>
          <p:nvPr/>
        </p:nvCxnSpPr>
        <p:spPr>
          <a:xfrm rot="10800000">
            <a:off x="4097225" y="4800475"/>
            <a:ext cx="2400" cy="96900"/>
          </a:xfrm>
          <a:prstGeom prst="straightConnector1">
            <a:avLst/>
          </a:prstGeom>
          <a:noFill/>
          <a:ln cap="flat" cmpd="sng" w="9525">
            <a:solidFill>
              <a:srgbClr val="B7B7B7"/>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5"/>
          <p:cNvSpPr txBox="1"/>
          <p:nvPr>
            <p:ph type="title"/>
          </p:nvPr>
        </p:nvSpPr>
        <p:spPr>
          <a:xfrm>
            <a:off x="430800" y="128030"/>
            <a:ext cx="8282400" cy="596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fr">
                <a:solidFill>
                  <a:srgbClr val="000000"/>
                </a:solidFill>
              </a:rPr>
              <a:t>Liens entre la météo et la température de l’eau</a:t>
            </a:r>
            <a:endParaRPr>
              <a:solidFill>
                <a:schemeClr val="dk2"/>
              </a:solidFill>
            </a:endParaRPr>
          </a:p>
        </p:txBody>
      </p:sp>
      <p:pic>
        <p:nvPicPr>
          <p:cNvPr id="120" name="Google Shape;120;p15" title="Capture d’écran 2025-07-02 à 10.15.04.png"/>
          <p:cNvPicPr preferRelativeResize="0"/>
          <p:nvPr/>
        </p:nvPicPr>
        <p:blipFill>
          <a:blip r:embed="rId3">
            <a:alphaModFix/>
          </a:blip>
          <a:stretch>
            <a:fillRect/>
          </a:stretch>
        </p:blipFill>
        <p:spPr>
          <a:xfrm>
            <a:off x="639450" y="926750"/>
            <a:ext cx="7865098" cy="4216751"/>
          </a:xfrm>
          <a:prstGeom prst="rect">
            <a:avLst/>
          </a:prstGeom>
          <a:noFill/>
          <a:ln>
            <a:noFill/>
          </a:ln>
        </p:spPr>
      </p:pic>
      <p:sp>
        <p:nvSpPr>
          <p:cNvPr id="121" name="Google Shape;121;p15"/>
          <p:cNvSpPr txBox="1"/>
          <p:nvPr/>
        </p:nvSpPr>
        <p:spPr>
          <a:xfrm rot="-5400000">
            <a:off x="2739950" y="1005700"/>
            <a:ext cx="653700" cy="3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850">
                <a:highlight>
                  <a:srgbClr val="FFFFFF"/>
                </a:highlight>
                <a:latin typeface="Verdana"/>
                <a:ea typeface="Verdana"/>
                <a:cs typeface="Verdana"/>
                <a:sym typeface="Verdana"/>
              </a:rPr>
              <a:t>369417</a:t>
            </a:r>
            <a:endParaRPr/>
          </a:p>
        </p:txBody>
      </p:sp>
      <p:cxnSp>
        <p:nvCxnSpPr>
          <p:cNvPr id="122" name="Google Shape;122;p15"/>
          <p:cNvCxnSpPr/>
          <p:nvPr/>
        </p:nvCxnSpPr>
        <p:spPr>
          <a:xfrm rot="10800000">
            <a:off x="2973350" y="939575"/>
            <a:ext cx="0" cy="3694200"/>
          </a:xfrm>
          <a:prstGeom prst="straightConnector1">
            <a:avLst/>
          </a:prstGeom>
          <a:noFill/>
          <a:ln cap="flat" cmpd="sng" w="9525">
            <a:solidFill>
              <a:srgbClr val="FF0000"/>
            </a:solidFill>
            <a:prstDash val="solid"/>
            <a:round/>
            <a:headEnd len="med" w="med" type="none"/>
            <a:tailEnd len="med" w="med" type="none"/>
          </a:ln>
        </p:spPr>
      </p:cxnSp>
      <p:sp>
        <p:nvSpPr>
          <p:cNvPr id="123" name="Google Shape;123;p15"/>
          <p:cNvSpPr txBox="1"/>
          <p:nvPr/>
        </p:nvSpPr>
        <p:spPr>
          <a:xfrm rot="-5400000">
            <a:off x="2815400" y="2590800"/>
            <a:ext cx="502800" cy="3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850">
                <a:highlight>
                  <a:srgbClr val="FFFFFF"/>
                </a:highlight>
                <a:latin typeface="Verdana"/>
                <a:ea typeface="Verdana"/>
                <a:cs typeface="Verdana"/>
                <a:sym typeface="Verdana"/>
              </a:rPr>
              <a:t>54.7</a:t>
            </a:r>
            <a:endParaRPr/>
          </a:p>
        </p:txBody>
      </p:sp>
      <p:sp>
        <p:nvSpPr>
          <p:cNvPr id="124" name="Google Shape;124;p15"/>
          <p:cNvSpPr/>
          <p:nvPr/>
        </p:nvSpPr>
        <p:spPr>
          <a:xfrm>
            <a:off x="592100" y="1222800"/>
            <a:ext cx="386100" cy="3000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125" name="Google Shape;125;p15"/>
          <p:cNvSpPr txBox="1"/>
          <p:nvPr/>
        </p:nvSpPr>
        <p:spPr>
          <a:xfrm rot="-5400000">
            <a:off x="2646350" y="3557875"/>
            <a:ext cx="840900" cy="3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850">
                <a:highlight>
                  <a:srgbClr val="FFFFFF"/>
                </a:highlight>
                <a:latin typeface="Verdana"/>
                <a:ea typeface="Verdana"/>
                <a:cs typeface="Verdana"/>
                <a:sym typeface="Verdana"/>
              </a:rPr>
              <a:t>12.54</a:t>
            </a:r>
            <a:endParaRPr/>
          </a:p>
        </p:txBody>
      </p:sp>
      <p:sp>
        <p:nvSpPr>
          <p:cNvPr id="126" name="Google Shape;126;p15"/>
          <p:cNvSpPr txBox="1"/>
          <p:nvPr/>
        </p:nvSpPr>
        <p:spPr>
          <a:xfrm rot="-5400000">
            <a:off x="1566800" y="1763375"/>
            <a:ext cx="3000000" cy="3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850">
                <a:highlight>
                  <a:srgbClr val="FFFFFF"/>
                </a:highlight>
                <a:latin typeface="Verdana"/>
                <a:ea typeface="Verdana"/>
                <a:cs typeface="Verdana"/>
                <a:sym typeface="Verdana"/>
              </a:rPr>
              <a:t>23.6</a:t>
            </a:r>
            <a:endParaRPr/>
          </a:p>
        </p:txBody>
      </p:sp>
      <p:cxnSp>
        <p:nvCxnSpPr>
          <p:cNvPr id="127" name="Google Shape;127;p15"/>
          <p:cNvCxnSpPr/>
          <p:nvPr/>
        </p:nvCxnSpPr>
        <p:spPr>
          <a:xfrm rot="10800000">
            <a:off x="5043625" y="939575"/>
            <a:ext cx="0" cy="3694200"/>
          </a:xfrm>
          <a:prstGeom prst="straightConnector1">
            <a:avLst/>
          </a:prstGeom>
          <a:noFill/>
          <a:ln cap="flat" cmpd="sng" w="9525">
            <a:solidFill>
              <a:srgbClr val="FF0000"/>
            </a:solidFill>
            <a:prstDash val="solid"/>
            <a:round/>
            <a:headEnd len="med" w="med" type="none"/>
            <a:tailEnd len="med" w="med" type="none"/>
          </a:ln>
        </p:spPr>
      </p:cxnSp>
      <p:sp>
        <p:nvSpPr>
          <p:cNvPr id="128" name="Google Shape;128;p15"/>
          <p:cNvSpPr txBox="1"/>
          <p:nvPr/>
        </p:nvSpPr>
        <p:spPr>
          <a:xfrm rot="-5400000">
            <a:off x="3626300" y="1005700"/>
            <a:ext cx="3000000" cy="3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850">
                <a:highlight>
                  <a:srgbClr val="FFFFFF"/>
                </a:highlight>
                <a:latin typeface="Verdana"/>
                <a:ea typeface="Verdana"/>
                <a:cs typeface="Verdana"/>
                <a:sym typeface="Verdana"/>
              </a:rPr>
              <a:t>56.0</a:t>
            </a:r>
            <a:endParaRPr/>
          </a:p>
        </p:txBody>
      </p:sp>
      <p:sp>
        <p:nvSpPr>
          <p:cNvPr id="129" name="Google Shape;129;p15"/>
          <p:cNvSpPr txBox="1"/>
          <p:nvPr/>
        </p:nvSpPr>
        <p:spPr>
          <a:xfrm rot="-5400000">
            <a:off x="3626300" y="180200"/>
            <a:ext cx="3000000" cy="3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850">
                <a:highlight>
                  <a:srgbClr val="FFFFFF"/>
                </a:highlight>
                <a:latin typeface="Verdana"/>
                <a:ea typeface="Verdana"/>
                <a:cs typeface="Verdana"/>
                <a:sym typeface="Verdana"/>
              </a:rPr>
              <a:t>367910</a:t>
            </a:r>
            <a:endParaRPr/>
          </a:p>
        </p:txBody>
      </p:sp>
      <p:sp>
        <p:nvSpPr>
          <p:cNvPr id="130" name="Google Shape;130;p15"/>
          <p:cNvSpPr txBox="1"/>
          <p:nvPr/>
        </p:nvSpPr>
        <p:spPr>
          <a:xfrm rot="-5400000">
            <a:off x="3626300" y="1763375"/>
            <a:ext cx="3000000" cy="3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850">
                <a:highlight>
                  <a:srgbClr val="FFFFFF"/>
                </a:highlight>
                <a:latin typeface="Verdana"/>
                <a:ea typeface="Verdana"/>
                <a:cs typeface="Verdana"/>
                <a:sym typeface="Verdana"/>
              </a:rPr>
              <a:t>25.2</a:t>
            </a:r>
            <a:endParaRPr/>
          </a:p>
        </p:txBody>
      </p:sp>
      <p:sp>
        <p:nvSpPr>
          <p:cNvPr id="131" name="Google Shape;131;p15"/>
          <p:cNvSpPr txBox="1"/>
          <p:nvPr/>
        </p:nvSpPr>
        <p:spPr>
          <a:xfrm rot="-5400000">
            <a:off x="3626300" y="2478325"/>
            <a:ext cx="3000000" cy="3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850">
                <a:highlight>
                  <a:srgbClr val="FFFFFF"/>
                </a:highlight>
                <a:latin typeface="Verdana"/>
                <a:ea typeface="Verdana"/>
                <a:cs typeface="Verdana"/>
                <a:sym typeface="Verdana"/>
              </a:rPr>
              <a:t>12.35</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6"/>
          <p:cNvSpPr txBox="1"/>
          <p:nvPr/>
        </p:nvSpPr>
        <p:spPr>
          <a:xfrm>
            <a:off x="987900" y="88375"/>
            <a:ext cx="71682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sz="3600">
                <a:latin typeface="Oswald"/>
                <a:ea typeface="Oswald"/>
                <a:cs typeface="Oswald"/>
                <a:sym typeface="Oswald"/>
              </a:rPr>
              <a:t>Liens entre la météo et la qualité de l’eau</a:t>
            </a:r>
            <a:r>
              <a:rPr lang="fr" sz="3600">
                <a:latin typeface="Oswald"/>
                <a:ea typeface="Oswald"/>
                <a:cs typeface="Oswald"/>
                <a:sym typeface="Oswald"/>
              </a:rPr>
              <a:t> </a:t>
            </a:r>
            <a:endParaRPr/>
          </a:p>
        </p:txBody>
      </p:sp>
      <p:sp>
        <p:nvSpPr>
          <p:cNvPr id="137" name="Google Shape;137;p16"/>
          <p:cNvSpPr/>
          <p:nvPr/>
        </p:nvSpPr>
        <p:spPr>
          <a:xfrm>
            <a:off x="4540625" y="1015975"/>
            <a:ext cx="892800" cy="450000"/>
          </a:xfrm>
          <a:prstGeom prst="roundRect">
            <a:avLst>
              <a:gd fmla="val 16667" name="adj"/>
            </a:avLst>
          </a:prstGeom>
          <a:solidFill>
            <a:srgbClr val="351C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Cuivre</a:t>
            </a:r>
            <a:endParaRPr sz="1100">
              <a:solidFill>
                <a:srgbClr val="FFFFFF"/>
              </a:solidFill>
              <a:latin typeface="Roboto"/>
              <a:ea typeface="Roboto"/>
              <a:cs typeface="Roboto"/>
              <a:sym typeface="Roboto"/>
            </a:endParaRPr>
          </a:p>
        </p:txBody>
      </p:sp>
      <p:sp>
        <p:nvSpPr>
          <p:cNvPr id="138" name="Google Shape;138;p16"/>
          <p:cNvSpPr/>
          <p:nvPr/>
        </p:nvSpPr>
        <p:spPr>
          <a:xfrm>
            <a:off x="4540625" y="1534125"/>
            <a:ext cx="892800" cy="450000"/>
          </a:xfrm>
          <a:prstGeom prst="roundRect">
            <a:avLst>
              <a:gd fmla="val 16667" name="adj"/>
            </a:avLst>
          </a:prstGeom>
          <a:solidFill>
            <a:srgbClr val="351C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Arsenic</a:t>
            </a:r>
            <a:endParaRPr sz="1100">
              <a:solidFill>
                <a:srgbClr val="FFFFFF"/>
              </a:solidFill>
              <a:latin typeface="Roboto"/>
              <a:ea typeface="Roboto"/>
              <a:cs typeface="Roboto"/>
              <a:sym typeface="Roboto"/>
            </a:endParaRPr>
          </a:p>
        </p:txBody>
      </p:sp>
      <p:sp>
        <p:nvSpPr>
          <p:cNvPr id="139" name="Google Shape;139;p16"/>
          <p:cNvSpPr/>
          <p:nvPr/>
        </p:nvSpPr>
        <p:spPr>
          <a:xfrm>
            <a:off x="4540625" y="2052275"/>
            <a:ext cx="892800" cy="450000"/>
          </a:xfrm>
          <a:prstGeom prst="roundRect">
            <a:avLst>
              <a:gd fmla="val 16667" name="adj"/>
            </a:avLst>
          </a:prstGeom>
          <a:solidFill>
            <a:srgbClr val="8E7C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Plomb</a:t>
            </a:r>
            <a:endParaRPr sz="1100">
              <a:solidFill>
                <a:srgbClr val="FFFFFF"/>
              </a:solidFill>
              <a:latin typeface="Roboto"/>
              <a:ea typeface="Roboto"/>
              <a:cs typeface="Roboto"/>
              <a:sym typeface="Roboto"/>
            </a:endParaRPr>
          </a:p>
        </p:txBody>
      </p:sp>
      <p:sp>
        <p:nvSpPr>
          <p:cNvPr id="140" name="Google Shape;140;p16"/>
          <p:cNvSpPr/>
          <p:nvPr/>
        </p:nvSpPr>
        <p:spPr>
          <a:xfrm>
            <a:off x="4540625" y="2570425"/>
            <a:ext cx="892800" cy="450000"/>
          </a:xfrm>
          <a:prstGeom prst="roundRect">
            <a:avLst>
              <a:gd fmla="val 16667" name="adj"/>
            </a:avLst>
          </a:prstGeom>
          <a:solidFill>
            <a:srgbClr val="351C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Zinc</a:t>
            </a:r>
            <a:endParaRPr sz="1100">
              <a:solidFill>
                <a:srgbClr val="FFFFFF"/>
              </a:solidFill>
              <a:latin typeface="Roboto"/>
              <a:ea typeface="Roboto"/>
              <a:cs typeface="Roboto"/>
              <a:sym typeface="Roboto"/>
            </a:endParaRPr>
          </a:p>
        </p:txBody>
      </p:sp>
      <p:sp>
        <p:nvSpPr>
          <p:cNvPr id="141" name="Google Shape;141;p16"/>
          <p:cNvSpPr/>
          <p:nvPr/>
        </p:nvSpPr>
        <p:spPr>
          <a:xfrm rot="-5400000">
            <a:off x="2637413" y="2715800"/>
            <a:ext cx="2006700" cy="525300"/>
          </a:xfrm>
          <a:prstGeom prst="roundRect">
            <a:avLst>
              <a:gd fmla="val 16667" name="adj"/>
            </a:avLst>
          </a:prstGeom>
          <a:solidFill>
            <a:srgbClr val="8E7C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O2</a:t>
            </a:r>
            <a:endParaRPr sz="1100">
              <a:solidFill>
                <a:srgbClr val="FFFFFF"/>
              </a:solidFill>
              <a:latin typeface="Roboto"/>
              <a:ea typeface="Roboto"/>
              <a:cs typeface="Roboto"/>
              <a:sym typeface="Roboto"/>
            </a:endParaRPr>
          </a:p>
        </p:txBody>
      </p:sp>
      <p:cxnSp>
        <p:nvCxnSpPr>
          <p:cNvPr id="142" name="Google Shape;142;p16"/>
          <p:cNvCxnSpPr>
            <a:endCxn id="138" idx="1"/>
          </p:cNvCxnSpPr>
          <p:nvPr/>
        </p:nvCxnSpPr>
        <p:spPr>
          <a:xfrm rot="-5400000">
            <a:off x="3817475" y="2038875"/>
            <a:ext cx="1002900" cy="443400"/>
          </a:xfrm>
          <a:prstGeom prst="bentConnector2">
            <a:avLst/>
          </a:prstGeom>
          <a:noFill/>
          <a:ln cap="flat" cmpd="sng" w="9525">
            <a:solidFill>
              <a:srgbClr val="C2C2C2"/>
            </a:solidFill>
            <a:prstDash val="solid"/>
            <a:round/>
            <a:headEnd len="sm" w="sm" type="none"/>
            <a:tailEnd len="sm" w="sm" type="none"/>
          </a:ln>
        </p:spPr>
      </p:cxnSp>
      <p:sp>
        <p:nvSpPr>
          <p:cNvPr id="143" name="Google Shape;143;p16"/>
          <p:cNvSpPr/>
          <p:nvPr/>
        </p:nvSpPr>
        <p:spPr>
          <a:xfrm>
            <a:off x="4540625" y="3088575"/>
            <a:ext cx="892800" cy="450000"/>
          </a:xfrm>
          <a:prstGeom prst="roundRect">
            <a:avLst>
              <a:gd fmla="val 16667" name="adj"/>
            </a:avLst>
          </a:prstGeom>
          <a:solidFill>
            <a:srgbClr val="D9D2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Sulfate</a:t>
            </a:r>
            <a:endParaRPr sz="1100">
              <a:solidFill>
                <a:srgbClr val="FFFFFF"/>
              </a:solidFill>
              <a:latin typeface="Roboto"/>
              <a:ea typeface="Roboto"/>
              <a:cs typeface="Roboto"/>
              <a:sym typeface="Roboto"/>
            </a:endParaRPr>
          </a:p>
        </p:txBody>
      </p:sp>
      <p:sp>
        <p:nvSpPr>
          <p:cNvPr id="144" name="Google Shape;144;p16"/>
          <p:cNvSpPr/>
          <p:nvPr/>
        </p:nvSpPr>
        <p:spPr>
          <a:xfrm>
            <a:off x="4540625" y="4124875"/>
            <a:ext cx="892800" cy="450000"/>
          </a:xfrm>
          <a:prstGeom prst="roundRect">
            <a:avLst>
              <a:gd fmla="val 16667" name="adj"/>
            </a:avLst>
          </a:prstGeom>
          <a:solidFill>
            <a:srgbClr val="351C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Cadmium</a:t>
            </a:r>
            <a:endParaRPr sz="1100">
              <a:solidFill>
                <a:srgbClr val="FFFFFF"/>
              </a:solidFill>
              <a:latin typeface="Roboto"/>
              <a:ea typeface="Roboto"/>
              <a:cs typeface="Roboto"/>
              <a:sym typeface="Roboto"/>
            </a:endParaRPr>
          </a:p>
        </p:txBody>
      </p:sp>
      <p:sp>
        <p:nvSpPr>
          <p:cNvPr id="145" name="Google Shape;145;p16"/>
          <p:cNvSpPr/>
          <p:nvPr/>
        </p:nvSpPr>
        <p:spPr>
          <a:xfrm>
            <a:off x="4540625" y="3606725"/>
            <a:ext cx="892800" cy="450000"/>
          </a:xfrm>
          <a:prstGeom prst="roundRect">
            <a:avLst>
              <a:gd fmla="val 16667" name="adj"/>
            </a:avLst>
          </a:prstGeom>
          <a:solidFill>
            <a:srgbClr val="674EA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FeII</a:t>
            </a:r>
            <a:endParaRPr sz="1100">
              <a:solidFill>
                <a:srgbClr val="FFFFFF"/>
              </a:solidFill>
              <a:latin typeface="Roboto"/>
              <a:ea typeface="Roboto"/>
              <a:cs typeface="Roboto"/>
              <a:sym typeface="Roboto"/>
            </a:endParaRPr>
          </a:p>
        </p:txBody>
      </p:sp>
      <p:sp>
        <p:nvSpPr>
          <p:cNvPr id="146" name="Google Shape;146;p16"/>
          <p:cNvSpPr/>
          <p:nvPr/>
        </p:nvSpPr>
        <p:spPr>
          <a:xfrm>
            <a:off x="4540625" y="4643025"/>
            <a:ext cx="892800" cy="450000"/>
          </a:xfrm>
          <a:prstGeom prst="roundRect">
            <a:avLst>
              <a:gd fmla="val 16667" name="adj"/>
            </a:avLst>
          </a:prstGeom>
          <a:solidFill>
            <a:srgbClr val="D9D2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Antimoine</a:t>
            </a:r>
            <a:endParaRPr sz="1100">
              <a:solidFill>
                <a:srgbClr val="FFFFFF"/>
              </a:solidFill>
              <a:latin typeface="Roboto"/>
              <a:ea typeface="Roboto"/>
              <a:cs typeface="Roboto"/>
              <a:sym typeface="Roboto"/>
            </a:endParaRPr>
          </a:p>
        </p:txBody>
      </p:sp>
      <p:cxnSp>
        <p:nvCxnSpPr>
          <p:cNvPr id="147" name="Google Shape;147;p16"/>
          <p:cNvCxnSpPr>
            <a:endCxn id="137" idx="1"/>
          </p:cNvCxnSpPr>
          <p:nvPr/>
        </p:nvCxnSpPr>
        <p:spPr>
          <a:xfrm rot="-5400000">
            <a:off x="3879575" y="1458925"/>
            <a:ext cx="879000" cy="443100"/>
          </a:xfrm>
          <a:prstGeom prst="bentConnector2">
            <a:avLst/>
          </a:prstGeom>
          <a:noFill/>
          <a:ln cap="flat" cmpd="sng" w="9525">
            <a:solidFill>
              <a:srgbClr val="C2C2C2"/>
            </a:solidFill>
            <a:prstDash val="solid"/>
            <a:round/>
            <a:headEnd len="sm" w="sm" type="none"/>
            <a:tailEnd len="sm" w="sm" type="none"/>
          </a:ln>
        </p:spPr>
      </p:cxnSp>
      <p:cxnSp>
        <p:nvCxnSpPr>
          <p:cNvPr id="148" name="Google Shape;148;p16"/>
          <p:cNvCxnSpPr/>
          <p:nvPr/>
        </p:nvCxnSpPr>
        <p:spPr>
          <a:xfrm rot="-5400000">
            <a:off x="3817625" y="2524650"/>
            <a:ext cx="1002900" cy="443400"/>
          </a:xfrm>
          <a:prstGeom prst="bentConnector2">
            <a:avLst/>
          </a:prstGeom>
          <a:noFill/>
          <a:ln cap="flat" cmpd="sng" w="9525">
            <a:solidFill>
              <a:srgbClr val="C2C2C2"/>
            </a:solidFill>
            <a:prstDash val="solid"/>
            <a:round/>
            <a:headEnd len="sm" w="sm" type="none"/>
            <a:tailEnd len="sm" w="sm" type="none"/>
          </a:ln>
        </p:spPr>
      </p:cxnSp>
      <p:cxnSp>
        <p:nvCxnSpPr>
          <p:cNvPr id="149" name="Google Shape;149;p16"/>
          <p:cNvCxnSpPr/>
          <p:nvPr/>
        </p:nvCxnSpPr>
        <p:spPr>
          <a:xfrm rot="-5400000">
            <a:off x="3817475" y="3091875"/>
            <a:ext cx="1002900" cy="443400"/>
          </a:xfrm>
          <a:prstGeom prst="bentConnector2">
            <a:avLst/>
          </a:prstGeom>
          <a:noFill/>
          <a:ln cap="flat" cmpd="sng" w="9525">
            <a:solidFill>
              <a:srgbClr val="C2C2C2"/>
            </a:solidFill>
            <a:prstDash val="solid"/>
            <a:round/>
            <a:headEnd len="sm" w="sm" type="none"/>
            <a:tailEnd len="sm" w="sm" type="none"/>
          </a:ln>
        </p:spPr>
      </p:cxnSp>
      <p:cxnSp>
        <p:nvCxnSpPr>
          <p:cNvPr id="150" name="Google Shape;150;p16"/>
          <p:cNvCxnSpPr/>
          <p:nvPr/>
        </p:nvCxnSpPr>
        <p:spPr>
          <a:xfrm rot="-5400000">
            <a:off x="3817475" y="3610025"/>
            <a:ext cx="1002900" cy="443400"/>
          </a:xfrm>
          <a:prstGeom prst="bentConnector2">
            <a:avLst/>
          </a:prstGeom>
          <a:noFill/>
          <a:ln cap="flat" cmpd="sng" w="9525">
            <a:solidFill>
              <a:srgbClr val="C2C2C2"/>
            </a:solidFill>
            <a:prstDash val="solid"/>
            <a:round/>
            <a:headEnd len="sm" w="sm" type="none"/>
            <a:tailEnd len="sm" w="sm" type="none"/>
          </a:ln>
        </p:spPr>
      </p:cxnSp>
      <p:cxnSp>
        <p:nvCxnSpPr>
          <p:cNvPr id="151" name="Google Shape;151;p16"/>
          <p:cNvCxnSpPr/>
          <p:nvPr/>
        </p:nvCxnSpPr>
        <p:spPr>
          <a:xfrm rot="-5400000">
            <a:off x="3817625" y="4128175"/>
            <a:ext cx="1002900" cy="443400"/>
          </a:xfrm>
          <a:prstGeom prst="bentConnector2">
            <a:avLst/>
          </a:prstGeom>
          <a:noFill/>
          <a:ln cap="flat" cmpd="sng" w="9525">
            <a:solidFill>
              <a:srgbClr val="C2C2C2"/>
            </a:solidFill>
            <a:prstDash val="solid"/>
            <a:round/>
            <a:headEnd len="sm" w="sm" type="none"/>
            <a:tailEnd len="sm" w="sm" type="none"/>
          </a:ln>
        </p:spPr>
      </p:cxnSp>
      <p:cxnSp>
        <p:nvCxnSpPr>
          <p:cNvPr id="152" name="Google Shape;152;p16"/>
          <p:cNvCxnSpPr>
            <a:endCxn id="144" idx="1"/>
          </p:cNvCxnSpPr>
          <p:nvPr/>
        </p:nvCxnSpPr>
        <p:spPr>
          <a:xfrm>
            <a:off x="4101425" y="4348075"/>
            <a:ext cx="439200" cy="1800"/>
          </a:xfrm>
          <a:prstGeom prst="straightConnector1">
            <a:avLst/>
          </a:prstGeom>
          <a:noFill/>
          <a:ln cap="flat" cmpd="sng" w="9525">
            <a:solidFill>
              <a:srgbClr val="B7B7B7"/>
            </a:solidFill>
            <a:prstDash val="solid"/>
            <a:round/>
            <a:headEnd len="med" w="med" type="none"/>
            <a:tailEnd len="med" w="med" type="none"/>
          </a:ln>
        </p:spPr>
      </p:cxnSp>
      <p:cxnSp>
        <p:nvCxnSpPr>
          <p:cNvPr id="153" name="Google Shape;153;p16"/>
          <p:cNvCxnSpPr/>
          <p:nvPr/>
        </p:nvCxnSpPr>
        <p:spPr>
          <a:xfrm>
            <a:off x="4092375" y="4897375"/>
            <a:ext cx="448200" cy="600"/>
          </a:xfrm>
          <a:prstGeom prst="straightConnector1">
            <a:avLst/>
          </a:prstGeom>
          <a:noFill/>
          <a:ln cap="flat" cmpd="sng" w="9525">
            <a:solidFill>
              <a:srgbClr val="B7B7B7"/>
            </a:solidFill>
            <a:prstDash val="solid"/>
            <a:round/>
            <a:headEnd len="med" w="med" type="none"/>
            <a:tailEnd len="med" w="med" type="none"/>
          </a:ln>
        </p:spPr>
      </p:cxnSp>
      <p:cxnSp>
        <p:nvCxnSpPr>
          <p:cNvPr id="154" name="Google Shape;154;p16"/>
          <p:cNvCxnSpPr/>
          <p:nvPr/>
        </p:nvCxnSpPr>
        <p:spPr>
          <a:xfrm>
            <a:off x="3903425" y="2962525"/>
            <a:ext cx="193800" cy="4500"/>
          </a:xfrm>
          <a:prstGeom prst="straightConnector1">
            <a:avLst/>
          </a:prstGeom>
          <a:noFill/>
          <a:ln cap="flat" cmpd="sng" w="9525">
            <a:solidFill>
              <a:srgbClr val="B7B7B7"/>
            </a:solidFill>
            <a:prstDash val="solid"/>
            <a:round/>
            <a:headEnd len="med" w="med" type="none"/>
            <a:tailEnd len="med" w="med" type="none"/>
          </a:ln>
        </p:spPr>
      </p:cxnSp>
      <p:cxnSp>
        <p:nvCxnSpPr>
          <p:cNvPr id="155" name="Google Shape;155;p16"/>
          <p:cNvCxnSpPr/>
          <p:nvPr/>
        </p:nvCxnSpPr>
        <p:spPr>
          <a:xfrm rot="5400000">
            <a:off x="5153825" y="3656625"/>
            <a:ext cx="1002900" cy="443400"/>
          </a:xfrm>
          <a:prstGeom prst="bentConnector2">
            <a:avLst/>
          </a:prstGeom>
          <a:noFill/>
          <a:ln cap="flat" cmpd="sng" w="9525">
            <a:solidFill>
              <a:srgbClr val="C2C2C2"/>
            </a:solidFill>
            <a:prstDash val="solid"/>
            <a:round/>
            <a:headEnd len="sm" w="sm" type="none"/>
            <a:tailEnd len="sm" w="sm" type="none"/>
          </a:ln>
        </p:spPr>
      </p:cxnSp>
      <p:cxnSp>
        <p:nvCxnSpPr>
          <p:cNvPr id="156" name="Google Shape;156;p16"/>
          <p:cNvCxnSpPr/>
          <p:nvPr/>
        </p:nvCxnSpPr>
        <p:spPr>
          <a:xfrm rot="5400000">
            <a:off x="5215625" y="4236875"/>
            <a:ext cx="879000" cy="443100"/>
          </a:xfrm>
          <a:prstGeom prst="bentConnector2">
            <a:avLst/>
          </a:prstGeom>
          <a:noFill/>
          <a:ln cap="flat" cmpd="sng" w="9525">
            <a:solidFill>
              <a:srgbClr val="C2C2C2"/>
            </a:solidFill>
            <a:prstDash val="solid"/>
            <a:round/>
            <a:headEnd len="sm" w="sm" type="none"/>
            <a:tailEnd len="sm" w="sm" type="none"/>
          </a:ln>
        </p:spPr>
      </p:cxnSp>
      <p:cxnSp>
        <p:nvCxnSpPr>
          <p:cNvPr id="157" name="Google Shape;157;p16"/>
          <p:cNvCxnSpPr/>
          <p:nvPr/>
        </p:nvCxnSpPr>
        <p:spPr>
          <a:xfrm rot="5400000">
            <a:off x="5153675" y="3170850"/>
            <a:ext cx="1002900" cy="443400"/>
          </a:xfrm>
          <a:prstGeom prst="bentConnector2">
            <a:avLst/>
          </a:prstGeom>
          <a:noFill/>
          <a:ln cap="flat" cmpd="sng" w="9525">
            <a:solidFill>
              <a:srgbClr val="C2C2C2"/>
            </a:solidFill>
            <a:prstDash val="solid"/>
            <a:round/>
            <a:headEnd len="sm" w="sm" type="none"/>
            <a:tailEnd len="sm" w="sm" type="none"/>
          </a:ln>
        </p:spPr>
      </p:cxnSp>
      <p:cxnSp>
        <p:nvCxnSpPr>
          <p:cNvPr id="158" name="Google Shape;158;p16"/>
          <p:cNvCxnSpPr/>
          <p:nvPr/>
        </p:nvCxnSpPr>
        <p:spPr>
          <a:xfrm rot="5400000">
            <a:off x="5153825" y="2603625"/>
            <a:ext cx="1002900" cy="443400"/>
          </a:xfrm>
          <a:prstGeom prst="bentConnector2">
            <a:avLst/>
          </a:prstGeom>
          <a:noFill/>
          <a:ln cap="flat" cmpd="sng" w="9525">
            <a:solidFill>
              <a:srgbClr val="C2C2C2"/>
            </a:solidFill>
            <a:prstDash val="solid"/>
            <a:round/>
            <a:headEnd len="sm" w="sm" type="none"/>
            <a:tailEnd len="sm" w="sm" type="none"/>
          </a:ln>
        </p:spPr>
      </p:cxnSp>
      <p:cxnSp>
        <p:nvCxnSpPr>
          <p:cNvPr id="159" name="Google Shape;159;p16"/>
          <p:cNvCxnSpPr/>
          <p:nvPr/>
        </p:nvCxnSpPr>
        <p:spPr>
          <a:xfrm rot="5400000">
            <a:off x="5153825" y="2085475"/>
            <a:ext cx="1002900" cy="443400"/>
          </a:xfrm>
          <a:prstGeom prst="bentConnector2">
            <a:avLst/>
          </a:prstGeom>
          <a:noFill/>
          <a:ln cap="flat" cmpd="sng" w="9525">
            <a:solidFill>
              <a:srgbClr val="C2C2C2"/>
            </a:solidFill>
            <a:prstDash val="solid"/>
            <a:round/>
            <a:headEnd len="sm" w="sm" type="none"/>
            <a:tailEnd len="sm" w="sm" type="none"/>
          </a:ln>
        </p:spPr>
      </p:cxnSp>
      <p:cxnSp>
        <p:nvCxnSpPr>
          <p:cNvPr id="160" name="Google Shape;160;p16"/>
          <p:cNvCxnSpPr/>
          <p:nvPr/>
        </p:nvCxnSpPr>
        <p:spPr>
          <a:xfrm rot="5400000">
            <a:off x="5153675" y="1567325"/>
            <a:ext cx="1002900" cy="443400"/>
          </a:xfrm>
          <a:prstGeom prst="bentConnector2">
            <a:avLst/>
          </a:prstGeom>
          <a:noFill/>
          <a:ln cap="flat" cmpd="sng" w="9525">
            <a:solidFill>
              <a:srgbClr val="C2C2C2"/>
            </a:solidFill>
            <a:prstDash val="solid"/>
            <a:round/>
            <a:headEnd len="sm" w="sm" type="none"/>
            <a:tailEnd len="sm" w="sm" type="none"/>
          </a:ln>
        </p:spPr>
      </p:cxnSp>
      <p:cxnSp>
        <p:nvCxnSpPr>
          <p:cNvPr id="161" name="Google Shape;161;p16"/>
          <p:cNvCxnSpPr/>
          <p:nvPr/>
        </p:nvCxnSpPr>
        <p:spPr>
          <a:xfrm rot="10800000">
            <a:off x="5433400" y="1789050"/>
            <a:ext cx="449700" cy="3900"/>
          </a:xfrm>
          <a:prstGeom prst="straightConnector1">
            <a:avLst/>
          </a:prstGeom>
          <a:noFill/>
          <a:ln cap="flat" cmpd="sng" w="9525">
            <a:solidFill>
              <a:srgbClr val="B7B7B7"/>
            </a:solidFill>
            <a:prstDash val="solid"/>
            <a:round/>
            <a:headEnd len="med" w="med" type="none"/>
            <a:tailEnd len="med" w="med" type="none"/>
          </a:ln>
        </p:spPr>
      </p:cxnSp>
      <p:cxnSp>
        <p:nvCxnSpPr>
          <p:cNvPr id="162" name="Google Shape;162;p16"/>
          <p:cNvCxnSpPr>
            <a:endCxn id="137" idx="3"/>
          </p:cNvCxnSpPr>
          <p:nvPr/>
        </p:nvCxnSpPr>
        <p:spPr>
          <a:xfrm rot="10800000">
            <a:off x="5433425" y="1240975"/>
            <a:ext cx="446100" cy="2400"/>
          </a:xfrm>
          <a:prstGeom prst="straightConnector1">
            <a:avLst/>
          </a:prstGeom>
          <a:noFill/>
          <a:ln cap="flat" cmpd="sng" w="9525">
            <a:solidFill>
              <a:srgbClr val="B7B7B7"/>
            </a:solidFill>
            <a:prstDash val="solid"/>
            <a:round/>
            <a:headEnd len="med" w="med" type="none"/>
            <a:tailEnd len="med" w="med" type="none"/>
          </a:ln>
        </p:spPr>
      </p:cxnSp>
      <p:cxnSp>
        <p:nvCxnSpPr>
          <p:cNvPr id="163" name="Google Shape;163;p16"/>
          <p:cNvCxnSpPr/>
          <p:nvPr/>
        </p:nvCxnSpPr>
        <p:spPr>
          <a:xfrm rot="10800000">
            <a:off x="5876675" y="1240975"/>
            <a:ext cx="0" cy="71700"/>
          </a:xfrm>
          <a:prstGeom prst="straightConnector1">
            <a:avLst/>
          </a:prstGeom>
          <a:noFill/>
          <a:ln cap="flat" cmpd="sng" w="9525">
            <a:solidFill>
              <a:srgbClr val="B7B7B7"/>
            </a:solidFill>
            <a:prstDash val="solid"/>
            <a:round/>
            <a:headEnd len="med" w="med" type="none"/>
            <a:tailEnd len="med" w="med" type="none"/>
          </a:ln>
        </p:spPr>
      </p:cxnSp>
      <p:cxnSp>
        <p:nvCxnSpPr>
          <p:cNvPr id="164" name="Google Shape;164;p16"/>
          <p:cNvCxnSpPr/>
          <p:nvPr/>
        </p:nvCxnSpPr>
        <p:spPr>
          <a:xfrm rot="10800000">
            <a:off x="4097225" y="4800475"/>
            <a:ext cx="2400" cy="96900"/>
          </a:xfrm>
          <a:prstGeom prst="straightConnector1">
            <a:avLst/>
          </a:prstGeom>
          <a:noFill/>
          <a:ln cap="flat" cmpd="sng" w="9525">
            <a:solidFill>
              <a:srgbClr val="B7B7B7"/>
            </a:solidFill>
            <a:prstDash val="solid"/>
            <a:round/>
            <a:headEnd len="med" w="med" type="none"/>
            <a:tailEnd len="med" w="med" type="none"/>
          </a:ln>
        </p:spPr>
      </p:cxnSp>
      <p:cxnSp>
        <p:nvCxnSpPr>
          <p:cNvPr id="165" name="Google Shape;165;p16"/>
          <p:cNvCxnSpPr/>
          <p:nvPr/>
        </p:nvCxnSpPr>
        <p:spPr>
          <a:xfrm>
            <a:off x="3184325" y="2962525"/>
            <a:ext cx="193800" cy="4500"/>
          </a:xfrm>
          <a:prstGeom prst="straightConnector1">
            <a:avLst/>
          </a:prstGeom>
          <a:noFill/>
          <a:ln cap="flat" cmpd="sng" w="9525">
            <a:solidFill>
              <a:srgbClr val="B7B7B7"/>
            </a:solidFill>
            <a:prstDash val="solid"/>
            <a:round/>
            <a:headEnd len="med" w="med" type="none"/>
            <a:tailEnd len="med" w="med" type="none"/>
          </a:ln>
        </p:spPr>
      </p:cxnSp>
      <p:sp>
        <p:nvSpPr>
          <p:cNvPr id="166" name="Google Shape;166;p16"/>
          <p:cNvSpPr/>
          <p:nvPr/>
        </p:nvSpPr>
        <p:spPr>
          <a:xfrm rot="-5400000">
            <a:off x="1918313" y="2715800"/>
            <a:ext cx="2006700" cy="525300"/>
          </a:xfrm>
          <a:prstGeom prst="roundRect">
            <a:avLst>
              <a:gd fmla="val 16667" name="adj"/>
            </a:avLst>
          </a:prstGeom>
          <a:solidFill>
            <a:srgbClr val="351C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Évapotranspiration</a:t>
            </a:r>
            <a:endParaRPr sz="1100">
              <a:solidFill>
                <a:srgbClr val="FFFFFF"/>
              </a:solidFill>
              <a:latin typeface="Roboto"/>
              <a:ea typeface="Roboto"/>
              <a:cs typeface="Roboto"/>
              <a:sym typeface="Roboto"/>
            </a:endParaRPr>
          </a:p>
        </p:txBody>
      </p:sp>
      <p:cxnSp>
        <p:nvCxnSpPr>
          <p:cNvPr id="167" name="Google Shape;167;p16"/>
          <p:cNvCxnSpPr/>
          <p:nvPr/>
        </p:nvCxnSpPr>
        <p:spPr>
          <a:xfrm>
            <a:off x="2465225" y="2962525"/>
            <a:ext cx="193800" cy="4500"/>
          </a:xfrm>
          <a:prstGeom prst="straightConnector1">
            <a:avLst/>
          </a:prstGeom>
          <a:noFill/>
          <a:ln cap="flat" cmpd="sng" w="9525">
            <a:solidFill>
              <a:srgbClr val="B7B7B7"/>
            </a:solidFill>
            <a:prstDash val="solid"/>
            <a:round/>
            <a:headEnd len="med" w="med" type="none"/>
            <a:tailEnd len="med" w="med" type="none"/>
          </a:ln>
        </p:spPr>
      </p:cxnSp>
      <p:sp>
        <p:nvSpPr>
          <p:cNvPr id="168" name="Google Shape;168;p16"/>
          <p:cNvSpPr/>
          <p:nvPr/>
        </p:nvSpPr>
        <p:spPr>
          <a:xfrm rot="-5400000">
            <a:off x="1199213" y="2715800"/>
            <a:ext cx="2006700" cy="525300"/>
          </a:xfrm>
          <a:prstGeom prst="roundRect">
            <a:avLst>
              <a:gd fmla="val 16667" name="adj"/>
            </a:avLst>
          </a:prstGeom>
          <a:solidFill>
            <a:srgbClr val="8E7C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Humidité</a:t>
            </a:r>
            <a:endParaRPr sz="1100">
              <a:solidFill>
                <a:srgbClr val="FFFFFF"/>
              </a:solidFill>
              <a:latin typeface="Roboto"/>
              <a:ea typeface="Roboto"/>
              <a:cs typeface="Roboto"/>
              <a:sym typeface="Roboto"/>
            </a:endParaRPr>
          </a:p>
        </p:txBody>
      </p:sp>
      <p:cxnSp>
        <p:nvCxnSpPr>
          <p:cNvPr id="169" name="Google Shape;169;p16"/>
          <p:cNvCxnSpPr>
            <a:stCxn id="168" idx="3"/>
          </p:cNvCxnSpPr>
          <p:nvPr/>
        </p:nvCxnSpPr>
        <p:spPr>
          <a:xfrm rot="-5400000">
            <a:off x="2932613" y="814550"/>
            <a:ext cx="430500" cy="1890600"/>
          </a:xfrm>
          <a:prstGeom prst="bentConnector2">
            <a:avLst/>
          </a:prstGeom>
          <a:noFill/>
          <a:ln cap="flat" cmpd="sng" w="9525">
            <a:solidFill>
              <a:srgbClr val="C2C2C2"/>
            </a:solidFill>
            <a:prstDash val="solid"/>
            <a:round/>
            <a:headEnd len="sm" w="sm" type="none"/>
            <a:tailEnd len="sm" w="sm" type="none"/>
          </a:ln>
        </p:spPr>
      </p:cxnSp>
      <p:cxnSp>
        <p:nvCxnSpPr>
          <p:cNvPr id="170" name="Google Shape;170;p16"/>
          <p:cNvCxnSpPr>
            <a:stCxn id="168" idx="1"/>
          </p:cNvCxnSpPr>
          <p:nvPr/>
        </p:nvCxnSpPr>
        <p:spPr>
          <a:xfrm flipH="1" rot="-5400000">
            <a:off x="2914013" y="3270350"/>
            <a:ext cx="467700" cy="1890600"/>
          </a:xfrm>
          <a:prstGeom prst="bentConnector2">
            <a:avLst/>
          </a:prstGeom>
          <a:noFill/>
          <a:ln cap="flat" cmpd="sng" w="9525">
            <a:solidFill>
              <a:srgbClr val="C2C2C2"/>
            </a:solidFill>
            <a:prstDash val="solid"/>
            <a:round/>
            <a:headEnd len="sm" w="sm" type="none"/>
            <a:tailEnd len="sm" w="sm" type="none"/>
          </a:ln>
        </p:spPr>
      </p:cxnSp>
      <p:cxnSp>
        <p:nvCxnSpPr>
          <p:cNvPr id="171" name="Google Shape;171;p16"/>
          <p:cNvCxnSpPr/>
          <p:nvPr/>
        </p:nvCxnSpPr>
        <p:spPr>
          <a:xfrm>
            <a:off x="1746125" y="2976200"/>
            <a:ext cx="193800" cy="4500"/>
          </a:xfrm>
          <a:prstGeom prst="straightConnector1">
            <a:avLst/>
          </a:prstGeom>
          <a:noFill/>
          <a:ln cap="flat" cmpd="sng" w="9525">
            <a:solidFill>
              <a:srgbClr val="B7B7B7"/>
            </a:solidFill>
            <a:prstDash val="solid"/>
            <a:round/>
            <a:headEnd len="med" w="med" type="none"/>
            <a:tailEnd len="med" w="med" type="none"/>
          </a:ln>
        </p:spPr>
      </p:cxnSp>
      <p:sp>
        <p:nvSpPr>
          <p:cNvPr id="172" name="Google Shape;172;p16"/>
          <p:cNvSpPr/>
          <p:nvPr/>
        </p:nvSpPr>
        <p:spPr>
          <a:xfrm rot="-5400000">
            <a:off x="480113" y="2715800"/>
            <a:ext cx="2006700" cy="525300"/>
          </a:xfrm>
          <a:prstGeom prst="roundRect">
            <a:avLst>
              <a:gd fmla="val 16667" name="adj"/>
            </a:avLst>
          </a:prstGeom>
          <a:solidFill>
            <a:srgbClr val="674EA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Température de l’air</a:t>
            </a:r>
            <a:endParaRPr sz="1100">
              <a:solidFill>
                <a:srgbClr val="FFFFFF"/>
              </a:solidFill>
              <a:latin typeface="Roboto"/>
              <a:ea typeface="Roboto"/>
              <a:cs typeface="Roboto"/>
              <a:sym typeface="Roboto"/>
            </a:endParaRPr>
          </a:p>
        </p:txBody>
      </p:sp>
      <p:cxnSp>
        <p:nvCxnSpPr>
          <p:cNvPr id="173" name="Google Shape;173;p16"/>
          <p:cNvCxnSpPr/>
          <p:nvPr/>
        </p:nvCxnSpPr>
        <p:spPr>
          <a:xfrm>
            <a:off x="1027025" y="2976200"/>
            <a:ext cx="193800" cy="4500"/>
          </a:xfrm>
          <a:prstGeom prst="straightConnector1">
            <a:avLst/>
          </a:prstGeom>
          <a:noFill/>
          <a:ln cap="flat" cmpd="sng" w="9525">
            <a:solidFill>
              <a:srgbClr val="B7B7B7"/>
            </a:solidFill>
            <a:prstDash val="solid"/>
            <a:round/>
            <a:headEnd len="med" w="med" type="none"/>
            <a:tailEnd len="med" w="med" type="none"/>
          </a:ln>
        </p:spPr>
      </p:cxnSp>
      <p:sp>
        <p:nvSpPr>
          <p:cNvPr id="174" name="Google Shape;174;p16"/>
          <p:cNvSpPr/>
          <p:nvPr/>
        </p:nvSpPr>
        <p:spPr>
          <a:xfrm rot="-5400000">
            <a:off x="-238987" y="2715800"/>
            <a:ext cx="2006700" cy="525300"/>
          </a:xfrm>
          <a:prstGeom prst="roundRect">
            <a:avLst>
              <a:gd fmla="val 16667" name="adj"/>
            </a:avLst>
          </a:prstGeom>
          <a:solidFill>
            <a:srgbClr val="B4A7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Rayonnement solaire</a:t>
            </a:r>
            <a:endParaRPr sz="1100">
              <a:solidFill>
                <a:srgbClr val="FFFFFF"/>
              </a:solidFill>
              <a:latin typeface="Roboto"/>
              <a:ea typeface="Roboto"/>
              <a:cs typeface="Roboto"/>
              <a:sym typeface="Roboto"/>
            </a:endParaRPr>
          </a:p>
        </p:txBody>
      </p:sp>
      <p:cxnSp>
        <p:nvCxnSpPr>
          <p:cNvPr id="175" name="Google Shape;175;p16"/>
          <p:cNvCxnSpPr/>
          <p:nvPr/>
        </p:nvCxnSpPr>
        <p:spPr>
          <a:xfrm rot="10800000">
            <a:off x="5876975" y="3171875"/>
            <a:ext cx="193800" cy="4500"/>
          </a:xfrm>
          <a:prstGeom prst="straightConnector1">
            <a:avLst/>
          </a:prstGeom>
          <a:noFill/>
          <a:ln cap="flat" cmpd="sng" w="9525">
            <a:solidFill>
              <a:srgbClr val="B7B7B7"/>
            </a:solidFill>
            <a:prstDash val="solid"/>
            <a:round/>
            <a:headEnd len="med" w="med" type="none"/>
            <a:tailEnd len="med" w="med" type="none"/>
          </a:ln>
        </p:spPr>
      </p:cxnSp>
      <p:sp>
        <p:nvSpPr>
          <p:cNvPr id="176" name="Google Shape;176;p16"/>
          <p:cNvSpPr/>
          <p:nvPr/>
        </p:nvSpPr>
        <p:spPr>
          <a:xfrm rot="-5400000">
            <a:off x="5329913" y="2715800"/>
            <a:ext cx="2006700" cy="525300"/>
          </a:xfrm>
          <a:prstGeom prst="roundRect">
            <a:avLst>
              <a:gd fmla="val 16667" name="adj"/>
            </a:avLst>
          </a:prstGeom>
          <a:solidFill>
            <a:srgbClr val="8E7C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Température de l’eau</a:t>
            </a:r>
            <a:endParaRPr sz="1100">
              <a:solidFill>
                <a:srgbClr val="FFFFFF"/>
              </a:solidFill>
              <a:latin typeface="Roboto"/>
              <a:ea typeface="Roboto"/>
              <a:cs typeface="Roboto"/>
              <a:sym typeface="Roboto"/>
            </a:endParaRPr>
          </a:p>
        </p:txBody>
      </p:sp>
      <p:cxnSp>
        <p:nvCxnSpPr>
          <p:cNvPr id="177" name="Google Shape;177;p16"/>
          <p:cNvCxnSpPr/>
          <p:nvPr/>
        </p:nvCxnSpPr>
        <p:spPr>
          <a:xfrm>
            <a:off x="6595925" y="2975150"/>
            <a:ext cx="304800" cy="883800"/>
          </a:xfrm>
          <a:prstGeom prst="bentConnector3">
            <a:avLst>
              <a:gd fmla="val 49996" name="adj1"/>
            </a:avLst>
          </a:prstGeom>
          <a:noFill/>
          <a:ln cap="flat" cmpd="sng" w="9525">
            <a:solidFill>
              <a:srgbClr val="C2C2C2"/>
            </a:solidFill>
            <a:prstDash val="solid"/>
            <a:round/>
            <a:headEnd len="sm" w="sm" type="none"/>
            <a:tailEnd len="sm" w="sm" type="none"/>
          </a:ln>
        </p:spPr>
      </p:cxnSp>
      <p:cxnSp>
        <p:nvCxnSpPr>
          <p:cNvPr id="178" name="Google Shape;178;p16"/>
          <p:cNvCxnSpPr/>
          <p:nvPr/>
        </p:nvCxnSpPr>
        <p:spPr>
          <a:xfrm flipH="1" rot="10800000">
            <a:off x="6595925" y="2097950"/>
            <a:ext cx="304800" cy="877200"/>
          </a:xfrm>
          <a:prstGeom prst="bentConnector3">
            <a:avLst>
              <a:gd fmla="val 49996" name="adj1"/>
            </a:avLst>
          </a:prstGeom>
          <a:noFill/>
          <a:ln cap="flat" cmpd="sng" w="9525">
            <a:solidFill>
              <a:srgbClr val="C2C2C2"/>
            </a:solidFill>
            <a:prstDash val="solid"/>
            <a:round/>
            <a:headEnd len="sm" w="sm" type="none"/>
            <a:tailEnd len="sm" w="sm" type="none"/>
          </a:ln>
        </p:spPr>
      </p:cxnSp>
      <p:sp>
        <p:nvSpPr>
          <p:cNvPr id="179" name="Google Shape;179;p16"/>
          <p:cNvSpPr/>
          <p:nvPr/>
        </p:nvSpPr>
        <p:spPr>
          <a:xfrm>
            <a:off x="6891275" y="1821663"/>
            <a:ext cx="1443900" cy="525300"/>
          </a:xfrm>
          <a:prstGeom prst="roundRect">
            <a:avLst>
              <a:gd fmla="val 16667" name="adj"/>
            </a:avLst>
          </a:prstGeom>
          <a:solidFill>
            <a:srgbClr val="B4A7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pH</a:t>
            </a:r>
            <a:endParaRPr sz="1100">
              <a:solidFill>
                <a:srgbClr val="FFFFFF"/>
              </a:solidFill>
              <a:latin typeface="Roboto"/>
              <a:ea typeface="Roboto"/>
              <a:cs typeface="Roboto"/>
              <a:sym typeface="Roboto"/>
            </a:endParaRPr>
          </a:p>
        </p:txBody>
      </p:sp>
      <p:sp>
        <p:nvSpPr>
          <p:cNvPr id="180" name="Google Shape;180;p16"/>
          <p:cNvSpPr/>
          <p:nvPr/>
        </p:nvSpPr>
        <p:spPr>
          <a:xfrm>
            <a:off x="6891275" y="3582588"/>
            <a:ext cx="1443900" cy="525300"/>
          </a:xfrm>
          <a:prstGeom prst="roundRect">
            <a:avLst>
              <a:gd fmla="val 16667" name="adj"/>
            </a:avLst>
          </a:prstGeom>
          <a:solidFill>
            <a:srgbClr val="8E7C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Conductivité</a:t>
            </a:r>
            <a:endParaRPr sz="1100">
              <a:solidFill>
                <a:srgbClr val="FFFFFF"/>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7"/>
          <p:cNvSpPr txBox="1"/>
          <p:nvPr>
            <p:ph type="title"/>
          </p:nvPr>
        </p:nvSpPr>
        <p:spPr>
          <a:xfrm>
            <a:off x="430800" y="128030"/>
            <a:ext cx="8282400" cy="596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fr">
                <a:solidFill>
                  <a:srgbClr val="000000"/>
                </a:solidFill>
              </a:rPr>
              <a:t>Analyse de la variance par période</a:t>
            </a:r>
            <a:endParaRPr>
              <a:solidFill>
                <a:srgbClr val="000000"/>
              </a:solidFill>
            </a:endParaRPr>
          </a:p>
        </p:txBody>
      </p:sp>
      <p:sp>
        <p:nvSpPr>
          <p:cNvPr id="186" name="Google Shape;186;p17"/>
          <p:cNvSpPr/>
          <p:nvPr/>
        </p:nvSpPr>
        <p:spPr>
          <a:xfrm>
            <a:off x="516200" y="927575"/>
            <a:ext cx="518100" cy="137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latin typeface="Source Code Pro"/>
              <a:ea typeface="Source Code Pro"/>
              <a:cs typeface="Source Code Pro"/>
              <a:sym typeface="Source Code Pro"/>
            </a:endParaRPr>
          </a:p>
        </p:txBody>
      </p:sp>
      <p:sp>
        <p:nvSpPr>
          <p:cNvPr id="187" name="Google Shape;187;p17"/>
          <p:cNvSpPr txBox="1"/>
          <p:nvPr/>
        </p:nvSpPr>
        <p:spPr>
          <a:xfrm>
            <a:off x="-632950" y="851675"/>
            <a:ext cx="30000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sz="1000">
                <a:latin typeface="Source Code Pro"/>
                <a:ea typeface="Source Code Pro"/>
                <a:cs typeface="Source Code Pro"/>
                <a:sym typeface="Source Code Pro"/>
              </a:rPr>
              <a:t>FAMD</a:t>
            </a:r>
            <a:endParaRPr/>
          </a:p>
        </p:txBody>
      </p:sp>
      <p:pic>
        <p:nvPicPr>
          <p:cNvPr id="188" name="Google Shape;188;p17" title="Capture d’écran 2025-07-01 à 09.48.57.png"/>
          <p:cNvPicPr preferRelativeResize="0"/>
          <p:nvPr/>
        </p:nvPicPr>
        <p:blipFill>
          <a:blip r:embed="rId3">
            <a:alphaModFix/>
          </a:blip>
          <a:stretch>
            <a:fillRect/>
          </a:stretch>
        </p:blipFill>
        <p:spPr>
          <a:xfrm>
            <a:off x="0" y="851668"/>
            <a:ext cx="9143997" cy="425945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8"/>
          <p:cNvSpPr txBox="1"/>
          <p:nvPr>
            <p:ph type="title"/>
          </p:nvPr>
        </p:nvSpPr>
        <p:spPr>
          <a:xfrm>
            <a:off x="430800" y="128030"/>
            <a:ext cx="8282400" cy="596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fr">
                <a:solidFill>
                  <a:srgbClr val="000000"/>
                </a:solidFill>
              </a:rPr>
              <a:t>Analyse de la variance par période et par méthode</a:t>
            </a:r>
            <a:endParaRPr>
              <a:solidFill>
                <a:srgbClr val="000000"/>
              </a:solidFill>
            </a:endParaRPr>
          </a:p>
        </p:txBody>
      </p:sp>
      <p:sp>
        <p:nvSpPr>
          <p:cNvPr id="194" name="Google Shape;194;p18"/>
          <p:cNvSpPr/>
          <p:nvPr/>
        </p:nvSpPr>
        <p:spPr>
          <a:xfrm>
            <a:off x="516200" y="927575"/>
            <a:ext cx="518100" cy="137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latin typeface="Source Code Pro"/>
              <a:ea typeface="Source Code Pro"/>
              <a:cs typeface="Source Code Pro"/>
              <a:sym typeface="Source Code Pro"/>
            </a:endParaRPr>
          </a:p>
        </p:txBody>
      </p:sp>
      <p:pic>
        <p:nvPicPr>
          <p:cNvPr id="195" name="Google Shape;195;p18" title="Capture d’écran 2025-07-01 à 09.49.25.png"/>
          <p:cNvPicPr preferRelativeResize="0"/>
          <p:nvPr/>
        </p:nvPicPr>
        <p:blipFill>
          <a:blip r:embed="rId3">
            <a:alphaModFix/>
          </a:blip>
          <a:stretch>
            <a:fillRect/>
          </a:stretch>
        </p:blipFill>
        <p:spPr>
          <a:xfrm>
            <a:off x="0" y="857251"/>
            <a:ext cx="9143997" cy="42862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id="200" name="Google Shape;200;p19" title="Capture d’écran 2025-07-02 à 14.59.23.png"/>
          <p:cNvPicPr preferRelativeResize="0"/>
          <p:nvPr/>
        </p:nvPicPr>
        <p:blipFill rotWithShape="1">
          <a:blip r:embed="rId3">
            <a:alphaModFix/>
          </a:blip>
          <a:srcRect b="0" l="0" r="0" t="0"/>
          <a:stretch/>
        </p:blipFill>
        <p:spPr>
          <a:xfrm>
            <a:off x="0" y="866775"/>
            <a:ext cx="5021276" cy="4279051"/>
          </a:xfrm>
          <a:prstGeom prst="rect">
            <a:avLst/>
          </a:prstGeom>
          <a:noFill/>
          <a:ln>
            <a:noFill/>
          </a:ln>
        </p:spPr>
      </p:pic>
      <p:sp>
        <p:nvSpPr>
          <p:cNvPr id="201" name="Google Shape;201;p19"/>
          <p:cNvSpPr txBox="1"/>
          <p:nvPr>
            <p:ph type="title"/>
          </p:nvPr>
        </p:nvSpPr>
        <p:spPr>
          <a:xfrm>
            <a:off x="430800" y="128030"/>
            <a:ext cx="8282400" cy="596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fr">
                <a:solidFill>
                  <a:srgbClr val="000000"/>
                </a:solidFill>
              </a:rPr>
              <a:t>Analyse de sensibilité - Arsenic</a:t>
            </a:r>
            <a:endParaRPr>
              <a:solidFill>
                <a:srgbClr val="000000"/>
              </a:solidFill>
            </a:endParaRPr>
          </a:p>
        </p:txBody>
      </p:sp>
      <p:pic>
        <p:nvPicPr>
          <p:cNvPr id="202" name="Google Shape;202;p19" title="Capture d’écran 2025-07-02 à 14.57.33.png"/>
          <p:cNvPicPr preferRelativeResize="0"/>
          <p:nvPr/>
        </p:nvPicPr>
        <p:blipFill rotWithShape="1">
          <a:blip r:embed="rId4">
            <a:alphaModFix/>
          </a:blip>
          <a:srcRect b="0" l="5580" r="0" t="0"/>
          <a:stretch/>
        </p:blipFill>
        <p:spPr>
          <a:xfrm>
            <a:off x="4257375" y="866775"/>
            <a:ext cx="4909727" cy="4279049"/>
          </a:xfrm>
          <a:prstGeom prst="rect">
            <a:avLst/>
          </a:prstGeom>
          <a:noFill/>
          <a:ln>
            <a:noFill/>
          </a:ln>
        </p:spPr>
      </p:pic>
      <p:cxnSp>
        <p:nvCxnSpPr>
          <p:cNvPr id="203" name="Google Shape;203;p19"/>
          <p:cNvCxnSpPr/>
          <p:nvPr/>
        </p:nvCxnSpPr>
        <p:spPr>
          <a:xfrm rot="10800000">
            <a:off x="4257375" y="863250"/>
            <a:ext cx="23100" cy="4286100"/>
          </a:xfrm>
          <a:prstGeom prst="straightConnector1">
            <a:avLst/>
          </a:prstGeom>
          <a:noFill/>
          <a:ln cap="flat" cmpd="sng" w="9525">
            <a:solidFill>
              <a:schemeClr val="dk2"/>
            </a:solidFill>
            <a:prstDash val="solid"/>
            <a:round/>
            <a:headEnd len="med" w="med" type="none"/>
            <a:tailEnd len="med" w="med" type="none"/>
          </a:ln>
        </p:spPr>
      </p:cxnSp>
      <p:sp>
        <p:nvSpPr>
          <p:cNvPr id="204" name="Google Shape;204;p19"/>
          <p:cNvSpPr txBox="1"/>
          <p:nvPr/>
        </p:nvSpPr>
        <p:spPr>
          <a:xfrm>
            <a:off x="5761450" y="782200"/>
            <a:ext cx="6569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800" u="sng">
                <a:solidFill>
                  <a:schemeClr val="dk2"/>
                </a:solidFill>
                <a:latin typeface="Source Code Pro"/>
                <a:ea typeface="Source Code Pro"/>
                <a:cs typeface="Source Code Pro"/>
                <a:sym typeface="Source Code Pro"/>
              </a:rPr>
              <a:t>2011-2022</a:t>
            </a:r>
            <a:endParaRPr sz="1800" u="sng">
              <a:solidFill>
                <a:schemeClr val="dk2"/>
              </a:solidFill>
              <a:latin typeface="Source Code Pro"/>
              <a:ea typeface="Source Code Pro"/>
              <a:cs typeface="Source Code Pro"/>
              <a:sym typeface="Source Code Pro"/>
            </a:endParaRPr>
          </a:p>
        </p:txBody>
      </p:sp>
      <p:sp>
        <p:nvSpPr>
          <p:cNvPr id="205" name="Google Shape;205;p19"/>
          <p:cNvSpPr txBox="1"/>
          <p:nvPr/>
        </p:nvSpPr>
        <p:spPr>
          <a:xfrm>
            <a:off x="1193450" y="782200"/>
            <a:ext cx="2227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800" u="sng">
                <a:solidFill>
                  <a:schemeClr val="dk2"/>
                </a:solidFill>
                <a:latin typeface="Source Code Pro"/>
                <a:ea typeface="Source Code Pro"/>
                <a:cs typeface="Source Code Pro"/>
                <a:sym typeface="Source Code Pro"/>
              </a:rPr>
              <a:t>2004-</a:t>
            </a:r>
            <a:r>
              <a:rPr lang="fr" sz="1800" u="sng">
                <a:solidFill>
                  <a:schemeClr val="dk2"/>
                </a:solidFill>
                <a:latin typeface="Source Code Pro"/>
                <a:ea typeface="Source Code Pro"/>
                <a:cs typeface="Source Code Pro"/>
                <a:sym typeface="Source Code Pro"/>
              </a:rPr>
              <a:t>2011</a:t>
            </a:r>
            <a:endParaRPr sz="1800" u="sng">
              <a:solidFill>
                <a:schemeClr val="dk2"/>
              </a:solidFill>
              <a:latin typeface="Source Code Pro"/>
              <a:ea typeface="Source Code Pro"/>
              <a:cs typeface="Source Code Pro"/>
              <a:sym typeface="Source Code Pro"/>
            </a:endParaRPr>
          </a:p>
        </p:txBody>
      </p:sp>
      <p:sp>
        <p:nvSpPr>
          <p:cNvPr id="206" name="Google Shape;206;p19"/>
          <p:cNvSpPr/>
          <p:nvPr/>
        </p:nvSpPr>
        <p:spPr>
          <a:xfrm>
            <a:off x="3723050" y="975732"/>
            <a:ext cx="534330" cy="4019112"/>
          </a:xfrm>
          <a:prstGeom prst="flowChartTerminator">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207" name="Google Shape;207;p19"/>
          <p:cNvSpPr/>
          <p:nvPr/>
        </p:nvSpPr>
        <p:spPr>
          <a:xfrm>
            <a:off x="5402775" y="2079250"/>
            <a:ext cx="649080" cy="2915568"/>
          </a:xfrm>
          <a:prstGeom prst="flowChartTerminator">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pic>
        <p:nvPicPr>
          <p:cNvPr id="212" name="Google Shape;212;p20" title="Capture d’écran 2025-07-02 à 15.00.15.png"/>
          <p:cNvPicPr preferRelativeResize="0"/>
          <p:nvPr/>
        </p:nvPicPr>
        <p:blipFill>
          <a:blip r:embed="rId3">
            <a:alphaModFix/>
          </a:blip>
          <a:stretch>
            <a:fillRect/>
          </a:stretch>
        </p:blipFill>
        <p:spPr>
          <a:xfrm>
            <a:off x="0" y="866775"/>
            <a:ext cx="5145825" cy="4279049"/>
          </a:xfrm>
          <a:prstGeom prst="rect">
            <a:avLst/>
          </a:prstGeom>
          <a:noFill/>
          <a:ln>
            <a:noFill/>
          </a:ln>
        </p:spPr>
      </p:pic>
      <p:sp>
        <p:nvSpPr>
          <p:cNvPr id="213" name="Google Shape;213;p20"/>
          <p:cNvSpPr txBox="1"/>
          <p:nvPr>
            <p:ph type="title"/>
          </p:nvPr>
        </p:nvSpPr>
        <p:spPr>
          <a:xfrm>
            <a:off x="430800" y="128030"/>
            <a:ext cx="8282400" cy="596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fr">
                <a:solidFill>
                  <a:srgbClr val="000000"/>
                </a:solidFill>
              </a:rPr>
              <a:t>Analyse de sensibilité - Arsenic</a:t>
            </a:r>
            <a:endParaRPr>
              <a:solidFill>
                <a:srgbClr val="000000"/>
              </a:solidFill>
            </a:endParaRPr>
          </a:p>
        </p:txBody>
      </p:sp>
      <p:sp>
        <p:nvSpPr>
          <p:cNvPr id="214" name="Google Shape;214;p20"/>
          <p:cNvSpPr txBox="1"/>
          <p:nvPr/>
        </p:nvSpPr>
        <p:spPr>
          <a:xfrm>
            <a:off x="1193450" y="782200"/>
            <a:ext cx="2227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800" u="sng">
                <a:solidFill>
                  <a:schemeClr val="dk2"/>
                </a:solidFill>
                <a:latin typeface="Source Code Pro"/>
                <a:ea typeface="Source Code Pro"/>
                <a:cs typeface="Source Code Pro"/>
                <a:sym typeface="Source Code Pro"/>
              </a:rPr>
              <a:t>2004-2011</a:t>
            </a:r>
            <a:endParaRPr sz="1800" u="sng">
              <a:solidFill>
                <a:schemeClr val="dk2"/>
              </a:solidFill>
              <a:latin typeface="Source Code Pro"/>
              <a:ea typeface="Source Code Pro"/>
              <a:cs typeface="Source Code Pro"/>
              <a:sym typeface="Source Code Pro"/>
            </a:endParaRPr>
          </a:p>
        </p:txBody>
      </p:sp>
      <p:pic>
        <p:nvPicPr>
          <p:cNvPr id="215" name="Google Shape;215;p20" title="Capture d’écran 2025-07-02 à 14.58.11.png"/>
          <p:cNvPicPr preferRelativeResize="0"/>
          <p:nvPr/>
        </p:nvPicPr>
        <p:blipFill rotWithShape="1">
          <a:blip r:embed="rId4">
            <a:alphaModFix/>
          </a:blip>
          <a:srcRect b="0" l="7467" r="0" t="0"/>
          <a:stretch/>
        </p:blipFill>
        <p:spPr>
          <a:xfrm>
            <a:off x="4344175" y="863250"/>
            <a:ext cx="4799826" cy="4286099"/>
          </a:xfrm>
          <a:prstGeom prst="rect">
            <a:avLst/>
          </a:prstGeom>
          <a:noFill/>
          <a:ln>
            <a:noFill/>
          </a:ln>
        </p:spPr>
      </p:pic>
      <p:cxnSp>
        <p:nvCxnSpPr>
          <p:cNvPr id="216" name="Google Shape;216;p20"/>
          <p:cNvCxnSpPr/>
          <p:nvPr/>
        </p:nvCxnSpPr>
        <p:spPr>
          <a:xfrm rot="10800000">
            <a:off x="4321075" y="863250"/>
            <a:ext cx="23100" cy="4286100"/>
          </a:xfrm>
          <a:prstGeom prst="straightConnector1">
            <a:avLst/>
          </a:prstGeom>
          <a:noFill/>
          <a:ln cap="flat" cmpd="sng" w="9525">
            <a:solidFill>
              <a:schemeClr val="dk2"/>
            </a:solidFill>
            <a:prstDash val="solid"/>
            <a:round/>
            <a:headEnd len="med" w="med" type="none"/>
            <a:tailEnd len="med" w="med" type="none"/>
          </a:ln>
        </p:spPr>
      </p:cxnSp>
      <p:sp>
        <p:nvSpPr>
          <p:cNvPr id="217" name="Google Shape;217;p20"/>
          <p:cNvSpPr txBox="1"/>
          <p:nvPr/>
        </p:nvSpPr>
        <p:spPr>
          <a:xfrm>
            <a:off x="5244300" y="782200"/>
            <a:ext cx="2227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800" u="sng">
                <a:solidFill>
                  <a:schemeClr val="dk2"/>
                </a:solidFill>
                <a:latin typeface="Source Code Pro"/>
                <a:ea typeface="Source Code Pro"/>
                <a:cs typeface="Source Code Pro"/>
                <a:sym typeface="Source Code Pro"/>
              </a:rPr>
              <a:t>2011-2022</a:t>
            </a:r>
            <a:endParaRPr sz="1800" u="sng">
              <a:solidFill>
                <a:schemeClr val="dk2"/>
              </a:solidFill>
              <a:latin typeface="Source Code Pro"/>
              <a:ea typeface="Source Code Pro"/>
              <a:cs typeface="Source Code Pro"/>
              <a:sym typeface="Source Code Pro"/>
            </a:endParaRPr>
          </a:p>
        </p:txBody>
      </p:sp>
      <p:sp>
        <p:nvSpPr>
          <p:cNvPr id="218" name="Google Shape;218;p20"/>
          <p:cNvSpPr/>
          <p:nvPr/>
        </p:nvSpPr>
        <p:spPr>
          <a:xfrm>
            <a:off x="1684300" y="2520650"/>
            <a:ext cx="604044" cy="2474226"/>
          </a:xfrm>
          <a:prstGeom prst="flowChartTerminator">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219" name="Google Shape;219;p20"/>
          <p:cNvSpPr/>
          <p:nvPr/>
        </p:nvSpPr>
        <p:spPr>
          <a:xfrm>
            <a:off x="7725925" y="1091900"/>
            <a:ext cx="604044" cy="3788154"/>
          </a:xfrm>
          <a:prstGeom prst="flowChartTerminator">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pic>
        <p:nvPicPr>
          <p:cNvPr id="224" name="Google Shape;224;p21" title="Capture d’écran 2025-07-02 à 15.00.58.png"/>
          <p:cNvPicPr preferRelativeResize="0"/>
          <p:nvPr/>
        </p:nvPicPr>
        <p:blipFill>
          <a:blip r:embed="rId3">
            <a:alphaModFix/>
          </a:blip>
          <a:stretch>
            <a:fillRect/>
          </a:stretch>
        </p:blipFill>
        <p:spPr>
          <a:xfrm>
            <a:off x="0" y="870300"/>
            <a:ext cx="5238748" cy="4279050"/>
          </a:xfrm>
          <a:prstGeom prst="rect">
            <a:avLst/>
          </a:prstGeom>
          <a:noFill/>
          <a:ln>
            <a:noFill/>
          </a:ln>
        </p:spPr>
      </p:pic>
      <p:sp>
        <p:nvSpPr>
          <p:cNvPr id="225" name="Google Shape;225;p21"/>
          <p:cNvSpPr txBox="1"/>
          <p:nvPr>
            <p:ph type="title"/>
          </p:nvPr>
        </p:nvSpPr>
        <p:spPr>
          <a:xfrm>
            <a:off x="430800" y="128030"/>
            <a:ext cx="8282400" cy="596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fr">
                <a:solidFill>
                  <a:srgbClr val="000000"/>
                </a:solidFill>
              </a:rPr>
              <a:t>Analyse de sensibilité - Arsenic</a:t>
            </a:r>
            <a:endParaRPr>
              <a:solidFill>
                <a:srgbClr val="000000"/>
              </a:solidFill>
            </a:endParaRPr>
          </a:p>
        </p:txBody>
      </p:sp>
      <p:sp>
        <p:nvSpPr>
          <p:cNvPr id="226" name="Google Shape;226;p21"/>
          <p:cNvSpPr txBox="1"/>
          <p:nvPr/>
        </p:nvSpPr>
        <p:spPr>
          <a:xfrm>
            <a:off x="1193450" y="782200"/>
            <a:ext cx="2227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800" u="sng">
                <a:solidFill>
                  <a:schemeClr val="dk2"/>
                </a:solidFill>
                <a:latin typeface="Source Code Pro"/>
                <a:ea typeface="Source Code Pro"/>
                <a:cs typeface="Source Code Pro"/>
                <a:sym typeface="Source Code Pro"/>
              </a:rPr>
              <a:t>2004-2011</a:t>
            </a:r>
            <a:endParaRPr sz="1800" u="sng">
              <a:solidFill>
                <a:schemeClr val="dk2"/>
              </a:solidFill>
              <a:latin typeface="Source Code Pro"/>
              <a:ea typeface="Source Code Pro"/>
              <a:cs typeface="Source Code Pro"/>
              <a:sym typeface="Source Code Pro"/>
            </a:endParaRPr>
          </a:p>
        </p:txBody>
      </p:sp>
      <p:pic>
        <p:nvPicPr>
          <p:cNvPr id="227" name="Google Shape;227;p21" title="Capture d’écran 2025-07-02 à 14.59.00.png"/>
          <p:cNvPicPr preferRelativeResize="0"/>
          <p:nvPr/>
        </p:nvPicPr>
        <p:blipFill rotWithShape="1">
          <a:blip r:embed="rId4">
            <a:alphaModFix/>
          </a:blip>
          <a:srcRect b="0" l="5499" r="0" t="0"/>
          <a:stretch/>
        </p:blipFill>
        <p:spPr>
          <a:xfrm>
            <a:off x="4294175" y="866775"/>
            <a:ext cx="4849823" cy="4286099"/>
          </a:xfrm>
          <a:prstGeom prst="rect">
            <a:avLst/>
          </a:prstGeom>
          <a:noFill/>
          <a:ln>
            <a:noFill/>
          </a:ln>
        </p:spPr>
      </p:pic>
      <p:cxnSp>
        <p:nvCxnSpPr>
          <p:cNvPr id="228" name="Google Shape;228;p21"/>
          <p:cNvCxnSpPr/>
          <p:nvPr/>
        </p:nvCxnSpPr>
        <p:spPr>
          <a:xfrm rot="10800000">
            <a:off x="4294163" y="866775"/>
            <a:ext cx="23100" cy="4286100"/>
          </a:xfrm>
          <a:prstGeom prst="straightConnector1">
            <a:avLst/>
          </a:prstGeom>
          <a:noFill/>
          <a:ln cap="flat" cmpd="sng" w="9525">
            <a:solidFill>
              <a:schemeClr val="dk2"/>
            </a:solidFill>
            <a:prstDash val="solid"/>
            <a:round/>
            <a:headEnd len="med" w="med" type="none"/>
            <a:tailEnd len="med" w="med" type="none"/>
          </a:ln>
        </p:spPr>
      </p:cxnSp>
      <p:sp>
        <p:nvSpPr>
          <p:cNvPr id="229" name="Google Shape;229;p21"/>
          <p:cNvSpPr txBox="1"/>
          <p:nvPr/>
        </p:nvSpPr>
        <p:spPr>
          <a:xfrm>
            <a:off x="5418525" y="782200"/>
            <a:ext cx="2227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800" u="sng">
                <a:solidFill>
                  <a:schemeClr val="dk2"/>
                </a:solidFill>
                <a:latin typeface="Source Code Pro"/>
                <a:ea typeface="Source Code Pro"/>
                <a:cs typeface="Source Code Pro"/>
                <a:sym typeface="Source Code Pro"/>
              </a:rPr>
              <a:t>2011-2022</a:t>
            </a:r>
            <a:endParaRPr sz="1800" u="sng">
              <a:solidFill>
                <a:schemeClr val="dk2"/>
              </a:solidFill>
              <a:latin typeface="Source Code Pro"/>
              <a:ea typeface="Source Code Pro"/>
              <a:cs typeface="Source Code Pro"/>
              <a:sym typeface="Source Code Pro"/>
            </a:endParaRPr>
          </a:p>
        </p:txBody>
      </p:sp>
      <p:sp>
        <p:nvSpPr>
          <p:cNvPr id="230" name="Google Shape;230;p21"/>
          <p:cNvSpPr/>
          <p:nvPr/>
        </p:nvSpPr>
        <p:spPr>
          <a:xfrm>
            <a:off x="5180675" y="2183775"/>
            <a:ext cx="2346354" cy="2811024"/>
          </a:xfrm>
          <a:prstGeom prst="flowChartTerminator">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231" name="Google Shape;231;p21"/>
          <p:cNvSpPr/>
          <p:nvPr/>
        </p:nvSpPr>
        <p:spPr>
          <a:xfrm>
            <a:off x="255550" y="2311550"/>
            <a:ext cx="1719144" cy="2683260"/>
          </a:xfrm>
          <a:prstGeom prst="flowChartTerminator">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2"/>
          <p:cNvSpPr txBox="1"/>
          <p:nvPr>
            <p:ph type="title"/>
          </p:nvPr>
        </p:nvSpPr>
        <p:spPr>
          <a:xfrm>
            <a:off x="430800" y="128030"/>
            <a:ext cx="8282400" cy="596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fr">
                <a:solidFill>
                  <a:srgbClr val="000000"/>
                </a:solidFill>
              </a:rPr>
              <a:t>Analyse Factorielle de Données Mixtes (FAMD)</a:t>
            </a:r>
            <a:endParaRPr>
              <a:solidFill>
                <a:srgbClr val="000000"/>
              </a:solidFill>
            </a:endParaRPr>
          </a:p>
        </p:txBody>
      </p:sp>
      <p:sp>
        <p:nvSpPr>
          <p:cNvPr id="237" name="Google Shape;237;p22"/>
          <p:cNvSpPr/>
          <p:nvPr/>
        </p:nvSpPr>
        <p:spPr>
          <a:xfrm>
            <a:off x="516200" y="927575"/>
            <a:ext cx="518100" cy="137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latin typeface="Source Code Pro"/>
              <a:ea typeface="Source Code Pro"/>
              <a:cs typeface="Source Code Pro"/>
              <a:sym typeface="Source Code Pro"/>
            </a:endParaRPr>
          </a:p>
        </p:txBody>
      </p:sp>
      <p:pic>
        <p:nvPicPr>
          <p:cNvPr id="238" name="Google Shape;238;p22" title="Capture d’écran 2025-07-02 à 15.36.49.png"/>
          <p:cNvPicPr preferRelativeResize="0"/>
          <p:nvPr/>
        </p:nvPicPr>
        <p:blipFill>
          <a:blip r:embed="rId3">
            <a:alphaModFix/>
          </a:blip>
          <a:stretch>
            <a:fillRect/>
          </a:stretch>
        </p:blipFill>
        <p:spPr>
          <a:xfrm>
            <a:off x="0" y="724125"/>
            <a:ext cx="9144003" cy="4419375"/>
          </a:xfrm>
          <a:prstGeom prst="rect">
            <a:avLst/>
          </a:prstGeom>
          <a:noFill/>
          <a:ln>
            <a:noFill/>
          </a:ln>
        </p:spPr>
      </p:pic>
      <p:cxnSp>
        <p:nvCxnSpPr>
          <p:cNvPr id="239" name="Google Shape;239;p22"/>
          <p:cNvCxnSpPr/>
          <p:nvPr/>
        </p:nvCxnSpPr>
        <p:spPr>
          <a:xfrm flipH="1" rot="10800000">
            <a:off x="739450" y="1091925"/>
            <a:ext cx="1130700" cy="3570300"/>
          </a:xfrm>
          <a:prstGeom prst="straightConnector1">
            <a:avLst/>
          </a:prstGeom>
          <a:noFill/>
          <a:ln cap="flat" cmpd="sng" w="9525">
            <a:solidFill>
              <a:srgbClr val="0000FF"/>
            </a:solidFill>
            <a:prstDash val="solid"/>
            <a:round/>
            <a:headEnd len="med" w="med" type="none"/>
            <a:tailEnd len="med" w="med" type="triangle"/>
          </a:ln>
        </p:spPr>
      </p:cxnSp>
      <p:sp>
        <p:nvSpPr>
          <p:cNvPr id="240" name="Google Shape;240;p22"/>
          <p:cNvSpPr/>
          <p:nvPr/>
        </p:nvSpPr>
        <p:spPr>
          <a:xfrm>
            <a:off x="5517525" y="4181700"/>
            <a:ext cx="1986300" cy="639000"/>
          </a:xfrm>
          <a:prstGeom prst="flowChartAlternateProcess">
            <a:avLst/>
          </a:prstGeom>
          <a:noFill/>
          <a:ln cap="flat" cmpd="sng" w="19050">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3"/>
          <p:cNvSpPr txBox="1"/>
          <p:nvPr>
            <p:ph type="title"/>
          </p:nvPr>
        </p:nvSpPr>
        <p:spPr>
          <a:xfrm>
            <a:off x="430800" y="128030"/>
            <a:ext cx="8282400" cy="596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fr">
                <a:solidFill>
                  <a:srgbClr val="000000"/>
                </a:solidFill>
              </a:rPr>
              <a:t>Analyse Factorielle de Données Mixtes (FAMD)</a:t>
            </a:r>
            <a:endParaRPr>
              <a:solidFill>
                <a:srgbClr val="000000"/>
              </a:solidFill>
            </a:endParaRPr>
          </a:p>
        </p:txBody>
      </p:sp>
      <p:sp>
        <p:nvSpPr>
          <p:cNvPr id="246" name="Google Shape;246;p23"/>
          <p:cNvSpPr/>
          <p:nvPr/>
        </p:nvSpPr>
        <p:spPr>
          <a:xfrm>
            <a:off x="0" y="775575"/>
            <a:ext cx="518100" cy="137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latin typeface="Source Code Pro"/>
              <a:ea typeface="Source Code Pro"/>
              <a:cs typeface="Source Code Pro"/>
              <a:sym typeface="Source Code Pro"/>
            </a:endParaRPr>
          </a:p>
        </p:txBody>
      </p:sp>
      <p:sp>
        <p:nvSpPr>
          <p:cNvPr id="247" name="Google Shape;247;p23"/>
          <p:cNvSpPr txBox="1"/>
          <p:nvPr/>
        </p:nvSpPr>
        <p:spPr>
          <a:xfrm>
            <a:off x="-1130700" y="682875"/>
            <a:ext cx="30000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sz="900">
                <a:latin typeface="Source Code Pro"/>
                <a:ea typeface="Source Code Pro"/>
                <a:cs typeface="Source Code Pro"/>
                <a:sym typeface="Source Code Pro"/>
              </a:rPr>
              <a:t>FAMD</a:t>
            </a:r>
            <a:endParaRPr sz="1300"/>
          </a:p>
        </p:txBody>
      </p:sp>
      <p:pic>
        <p:nvPicPr>
          <p:cNvPr id="248" name="Google Shape;248;p23" title="Capture d’écran 2025-07-02 à 15.36.41.png"/>
          <p:cNvPicPr preferRelativeResize="0"/>
          <p:nvPr/>
        </p:nvPicPr>
        <p:blipFill>
          <a:blip r:embed="rId3">
            <a:alphaModFix/>
          </a:blip>
          <a:stretch>
            <a:fillRect/>
          </a:stretch>
        </p:blipFill>
        <p:spPr>
          <a:xfrm>
            <a:off x="0" y="724125"/>
            <a:ext cx="9144003" cy="4419375"/>
          </a:xfrm>
          <a:prstGeom prst="rect">
            <a:avLst/>
          </a:prstGeom>
          <a:noFill/>
          <a:ln>
            <a:noFill/>
          </a:ln>
        </p:spPr>
      </p:pic>
      <p:cxnSp>
        <p:nvCxnSpPr>
          <p:cNvPr id="249" name="Google Shape;249;p23"/>
          <p:cNvCxnSpPr/>
          <p:nvPr/>
        </p:nvCxnSpPr>
        <p:spPr>
          <a:xfrm flipH="1" rot="10800000">
            <a:off x="2830300" y="1033875"/>
            <a:ext cx="1002900" cy="3219300"/>
          </a:xfrm>
          <a:prstGeom prst="straightConnector1">
            <a:avLst/>
          </a:prstGeom>
          <a:noFill/>
          <a:ln cap="flat" cmpd="sng" w="9525">
            <a:solidFill>
              <a:srgbClr val="0000FF"/>
            </a:solidFill>
            <a:prstDash val="solid"/>
            <a:round/>
            <a:headEnd len="med" w="med" type="none"/>
            <a:tailEnd len="med" w="med" type="triangle"/>
          </a:ln>
        </p:spPr>
      </p:cxnSp>
      <p:sp>
        <p:nvSpPr>
          <p:cNvPr id="250" name="Google Shape;250;p23"/>
          <p:cNvSpPr/>
          <p:nvPr/>
        </p:nvSpPr>
        <p:spPr>
          <a:xfrm rot="-3112608">
            <a:off x="-36549" y="2068075"/>
            <a:ext cx="3631949" cy="1022405"/>
          </a:xfrm>
          <a:prstGeom prst="flowChartAlternateProcess">
            <a:avLst/>
          </a:prstGeom>
          <a:noFill/>
          <a:ln cap="flat" cmpd="sng" w="19050">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251" name="Google Shape;251;p23"/>
          <p:cNvSpPr/>
          <p:nvPr/>
        </p:nvSpPr>
        <p:spPr>
          <a:xfrm>
            <a:off x="2741350" y="2172200"/>
            <a:ext cx="681300" cy="5343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4"/>
          <p:cNvSpPr txBox="1"/>
          <p:nvPr>
            <p:ph type="title"/>
          </p:nvPr>
        </p:nvSpPr>
        <p:spPr>
          <a:xfrm>
            <a:off x="430800" y="128030"/>
            <a:ext cx="8282400" cy="596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fr">
                <a:solidFill>
                  <a:srgbClr val="000000"/>
                </a:solidFill>
              </a:rPr>
              <a:t>Analyse Factorielle de Données Mixtes (FAMD)</a:t>
            </a:r>
            <a:endParaRPr>
              <a:solidFill>
                <a:srgbClr val="000000"/>
              </a:solidFill>
            </a:endParaRPr>
          </a:p>
        </p:txBody>
      </p:sp>
      <p:sp>
        <p:nvSpPr>
          <p:cNvPr id="257" name="Google Shape;257;p24"/>
          <p:cNvSpPr/>
          <p:nvPr/>
        </p:nvSpPr>
        <p:spPr>
          <a:xfrm>
            <a:off x="159400" y="923050"/>
            <a:ext cx="518100" cy="137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latin typeface="Source Code Pro"/>
              <a:ea typeface="Source Code Pro"/>
              <a:cs typeface="Source Code Pro"/>
              <a:sym typeface="Source Code Pro"/>
            </a:endParaRPr>
          </a:p>
        </p:txBody>
      </p:sp>
      <p:pic>
        <p:nvPicPr>
          <p:cNvPr id="258" name="Google Shape;258;p24" title="Capture d’écran 2025-07-02 à 15.41.01.png"/>
          <p:cNvPicPr preferRelativeResize="0"/>
          <p:nvPr/>
        </p:nvPicPr>
        <p:blipFill>
          <a:blip r:embed="rId3">
            <a:alphaModFix/>
          </a:blip>
          <a:stretch>
            <a:fillRect/>
          </a:stretch>
        </p:blipFill>
        <p:spPr>
          <a:xfrm>
            <a:off x="0" y="834930"/>
            <a:ext cx="9144003" cy="4308571"/>
          </a:xfrm>
          <a:prstGeom prst="rect">
            <a:avLst/>
          </a:prstGeom>
          <a:noFill/>
          <a:ln>
            <a:noFill/>
          </a:ln>
        </p:spPr>
      </p:pic>
      <p:cxnSp>
        <p:nvCxnSpPr>
          <p:cNvPr id="259" name="Google Shape;259;p24"/>
          <p:cNvCxnSpPr/>
          <p:nvPr/>
        </p:nvCxnSpPr>
        <p:spPr>
          <a:xfrm flipH="1" rot="10800000">
            <a:off x="762675" y="2671600"/>
            <a:ext cx="3546900" cy="1967400"/>
          </a:xfrm>
          <a:prstGeom prst="straightConnector1">
            <a:avLst/>
          </a:prstGeom>
          <a:noFill/>
          <a:ln cap="flat" cmpd="sng" w="9525">
            <a:solidFill>
              <a:srgbClr val="0000FF"/>
            </a:solidFill>
            <a:prstDash val="solid"/>
            <a:round/>
            <a:headEnd len="med" w="med" type="none"/>
            <a:tailEnd len="med" w="med" type="triangle"/>
          </a:ln>
        </p:spPr>
      </p:cxnSp>
      <p:cxnSp>
        <p:nvCxnSpPr>
          <p:cNvPr id="260" name="Google Shape;260;p24"/>
          <p:cNvCxnSpPr/>
          <p:nvPr/>
        </p:nvCxnSpPr>
        <p:spPr>
          <a:xfrm flipH="1" rot="10800000">
            <a:off x="762675" y="3716950"/>
            <a:ext cx="4557300" cy="914100"/>
          </a:xfrm>
          <a:prstGeom prst="straightConnector1">
            <a:avLst/>
          </a:prstGeom>
          <a:noFill/>
          <a:ln cap="flat" cmpd="sng" w="9525">
            <a:solidFill>
              <a:srgbClr val="0000FF"/>
            </a:solidFill>
            <a:prstDash val="solid"/>
            <a:round/>
            <a:headEnd len="med" w="med" type="none"/>
            <a:tailEnd len="med" w="med" type="triangle"/>
          </a:ln>
        </p:spPr>
      </p:cxnSp>
      <p:cxnSp>
        <p:nvCxnSpPr>
          <p:cNvPr id="261" name="Google Shape;261;p24"/>
          <p:cNvCxnSpPr/>
          <p:nvPr/>
        </p:nvCxnSpPr>
        <p:spPr>
          <a:xfrm flipH="1" rot="10800000">
            <a:off x="766650" y="4553425"/>
            <a:ext cx="5645400" cy="8130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5"/>
          <p:cNvSpPr txBox="1"/>
          <p:nvPr>
            <p:ph type="title"/>
          </p:nvPr>
        </p:nvSpPr>
        <p:spPr>
          <a:xfrm>
            <a:off x="430800" y="128030"/>
            <a:ext cx="8282400" cy="596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fr">
                <a:solidFill>
                  <a:srgbClr val="000000"/>
                </a:solidFill>
              </a:rPr>
              <a:t>Analyse Factorielle de Données Mixtes (FAMD)</a:t>
            </a:r>
            <a:endParaRPr>
              <a:solidFill>
                <a:srgbClr val="000000"/>
              </a:solidFill>
            </a:endParaRPr>
          </a:p>
        </p:txBody>
      </p:sp>
      <p:pic>
        <p:nvPicPr>
          <p:cNvPr id="267" name="Google Shape;267;p25" title="Capture d’écran 2025-07-02 à 15.41.08.png"/>
          <p:cNvPicPr preferRelativeResize="0"/>
          <p:nvPr/>
        </p:nvPicPr>
        <p:blipFill>
          <a:blip r:embed="rId3">
            <a:alphaModFix/>
          </a:blip>
          <a:stretch>
            <a:fillRect/>
          </a:stretch>
        </p:blipFill>
        <p:spPr>
          <a:xfrm>
            <a:off x="0" y="857245"/>
            <a:ext cx="9144003" cy="4286256"/>
          </a:xfrm>
          <a:prstGeom prst="rect">
            <a:avLst/>
          </a:prstGeom>
          <a:noFill/>
          <a:ln>
            <a:noFill/>
          </a:ln>
        </p:spPr>
      </p:pic>
      <p:cxnSp>
        <p:nvCxnSpPr>
          <p:cNvPr id="268" name="Google Shape;268;p25"/>
          <p:cNvCxnSpPr/>
          <p:nvPr/>
        </p:nvCxnSpPr>
        <p:spPr>
          <a:xfrm flipH="1" rot="10800000">
            <a:off x="2752950" y="1811900"/>
            <a:ext cx="3845100" cy="1928400"/>
          </a:xfrm>
          <a:prstGeom prst="straightConnector1">
            <a:avLst/>
          </a:prstGeom>
          <a:noFill/>
          <a:ln cap="flat" cmpd="sng" w="9525">
            <a:solidFill>
              <a:srgbClr val="0000FF"/>
            </a:solidFill>
            <a:prstDash val="solid"/>
            <a:round/>
            <a:headEnd len="med" w="med" type="none"/>
            <a:tailEnd len="med" w="med" type="triangle"/>
          </a:ln>
        </p:spPr>
      </p:cxnSp>
      <p:cxnSp>
        <p:nvCxnSpPr>
          <p:cNvPr id="269" name="Google Shape;269;p25"/>
          <p:cNvCxnSpPr/>
          <p:nvPr/>
        </p:nvCxnSpPr>
        <p:spPr>
          <a:xfrm flipH="1" rot="10800000">
            <a:off x="2416100" y="2381225"/>
            <a:ext cx="4576500" cy="789900"/>
          </a:xfrm>
          <a:prstGeom prst="straightConnector1">
            <a:avLst/>
          </a:prstGeom>
          <a:noFill/>
          <a:ln cap="flat" cmpd="sng" w="9525">
            <a:solidFill>
              <a:srgbClr val="0000FF"/>
            </a:solidFill>
            <a:prstDash val="solid"/>
            <a:round/>
            <a:headEnd len="med" w="med" type="none"/>
            <a:tailEnd len="med" w="med" type="triangle"/>
          </a:ln>
        </p:spPr>
      </p:cxnSp>
      <p:cxnSp>
        <p:nvCxnSpPr>
          <p:cNvPr id="270" name="Google Shape;270;p25"/>
          <p:cNvCxnSpPr/>
          <p:nvPr/>
        </p:nvCxnSpPr>
        <p:spPr>
          <a:xfrm flipH="1" rot="10800000">
            <a:off x="1684300" y="2735450"/>
            <a:ext cx="5645400" cy="8130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6"/>
          <p:cNvSpPr txBox="1"/>
          <p:nvPr>
            <p:ph type="title"/>
          </p:nvPr>
        </p:nvSpPr>
        <p:spPr>
          <a:xfrm>
            <a:off x="430800" y="128030"/>
            <a:ext cx="8282400" cy="596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fr">
                <a:solidFill>
                  <a:srgbClr val="000000"/>
                </a:solidFill>
              </a:rPr>
              <a:t>Analyse Factorielle de Données Mixtes (FAMD)</a:t>
            </a:r>
            <a:endParaRPr>
              <a:solidFill>
                <a:srgbClr val="000000"/>
              </a:solidFill>
            </a:endParaRPr>
          </a:p>
        </p:txBody>
      </p:sp>
      <p:sp>
        <p:nvSpPr>
          <p:cNvPr id="276" name="Google Shape;276;p26"/>
          <p:cNvSpPr/>
          <p:nvPr/>
        </p:nvSpPr>
        <p:spPr>
          <a:xfrm>
            <a:off x="2331975" y="1149650"/>
            <a:ext cx="661200" cy="195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pic>
        <p:nvPicPr>
          <p:cNvPr id="277" name="Google Shape;277;p26" title="Capture d’écran 2025-07-02 à 15.44.37.png"/>
          <p:cNvPicPr preferRelativeResize="0"/>
          <p:nvPr/>
        </p:nvPicPr>
        <p:blipFill>
          <a:blip r:embed="rId3">
            <a:alphaModFix/>
          </a:blip>
          <a:stretch>
            <a:fillRect/>
          </a:stretch>
        </p:blipFill>
        <p:spPr>
          <a:xfrm>
            <a:off x="0" y="870647"/>
            <a:ext cx="9144003" cy="4272857"/>
          </a:xfrm>
          <a:prstGeom prst="rect">
            <a:avLst/>
          </a:prstGeom>
          <a:noFill/>
          <a:ln>
            <a:noFill/>
          </a:ln>
        </p:spPr>
      </p:pic>
      <p:cxnSp>
        <p:nvCxnSpPr>
          <p:cNvPr id="278" name="Google Shape;278;p26"/>
          <p:cNvCxnSpPr/>
          <p:nvPr/>
        </p:nvCxnSpPr>
        <p:spPr>
          <a:xfrm flipH="1" rot="10800000">
            <a:off x="716225" y="3727900"/>
            <a:ext cx="4985400" cy="911100"/>
          </a:xfrm>
          <a:prstGeom prst="straightConnector1">
            <a:avLst/>
          </a:prstGeom>
          <a:noFill/>
          <a:ln cap="flat" cmpd="sng" w="9525">
            <a:solidFill>
              <a:srgbClr val="0000FF"/>
            </a:solidFill>
            <a:prstDash val="solid"/>
            <a:round/>
            <a:headEnd len="med" w="med" type="none"/>
            <a:tailEnd len="med" w="med" type="triangle"/>
          </a:ln>
        </p:spPr>
      </p:cxnSp>
      <p:cxnSp>
        <p:nvCxnSpPr>
          <p:cNvPr id="279" name="Google Shape;279;p26"/>
          <p:cNvCxnSpPr/>
          <p:nvPr/>
        </p:nvCxnSpPr>
        <p:spPr>
          <a:xfrm flipH="1" rot="10800000">
            <a:off x="766650" y="4449025"/>
            <a:ext cx="5784600" cy="18570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7"/>
          <p:cNvSpPr txBox="1"/>
          <p:nvPr>
            <p:ph type="title"/>
          </p:nvPr>
        </p:nvSpPr>
        <p:spPr>
          <a:xfrm>
            <a:off x="430800" y="128030"/>
            <a:ext cx="8282400" cy="596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fr">
                <a:solidFill>
                  <a:srgbClr val="000000"/>
                </a:solidFill>
              </a:rPr>
              <a:t>Analyse Factorielle de Données Mixtes (FAMD)</a:t>
            </a:r>
            <a:endParaRPr>
              <a:solidFill>
                <a:srgbClr val="000000"/>
              </a:solidFill>
            </a:endParaRPr>
          </a:p>
        </p:txBody>
      </p:sp>
      <p:pic>
        <p:nvPicPr>
          <p:cNvPr id="285" name="Google Shape;285;p27" title="Capture d’écran 2025-07-02 à 15.44.29.png"/>
          <p:cNvPicPr preferRelativeResize="0"/>
          <p:nvPr/>
        </p:nvPicPr>
        <p:blipFill>
          <a:blip r:embed="rId3">
            <a:alphaModFix/>
          </a:blip>
          <a:stretch>
            <a:fillRect/>
          </a:stretch>
        </p:blipFill>
        <p:spPr>
          <a:xfrm>
            <a:off x="0" y="817062"/>
            <a:ext cx="9144003" cy="4326437"/>
          </a:xfrm>
          <a:prstGeom prst="rect">
            <a:avLst/>
          </a:prstGeom>
          <a:noFill/>
          <a:ln>
            <a:noFill/>
          </a:ln>
        </p:spPr>
      </p:pic>
      <p:cxnSp>
        <p:nvCxnSpPr>
          <p:cNvPr id="286" name="Google Shape;286;p27"/>
          <p:cNvCxnSpPr/>
          <p:nvPr/>
        </p:nvCxnSpPr>
        <p:spPr>
          <a:xfrm flipH="1" rot="10800000">
            <a:off x="2179800" y="2833475"/>
            <a:ext cx="4985400" cy="911100"/>
          </a:xfrm>
          <a:prstGeom prst="straightConnector1">
            <a:avLst/>
          </a:prstGeom>
          <a:noFill/>
          <a:ln cap="flat" cmpd="sng" w="9525">
            <a:solidFill>
              <a:srgbClr val="0000FF"/>
            </a:solidFill>
            <a:prstDash val="solid"/>
            <a:round/>
            <a:headEnd len="med" w="med" type="none"/>
            <a:tailEnd len="med" w="med" type="triangle"/>
          </a:ln>
        </p:spPr>
      </p:cxnSp>
      <p:cxnSp>
        <p:nvCxnSpPr>
          <p:cNvPr id="287" name="Google Shape;287;p27"/>
          <p:cNvCxnSpPr/>
          <p:nvPr/>
        </p:nvCxnSpPr>
        <p:spPr>
          <a:xfrm flipH="1" rot="10800000">
            <a:off x="1780200" y="3196175"/>
            <a:ext cx="5784600" cy="18570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8"/>
          <p:cNvSpPr txBox="1"/>
          <p:nvPr>
            <p:ph type="title"/>
          </p:nvPr>
        </p:nvSpPr>
        <p:spPr>
          <a:xfrm>
            <a:off x="430800" y="128030"/>
            <a:ext cx="8282400" cy="596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fr">
                <a:solidFill>
                  <a:srgbClr val="000000"/>
                </a:solidFill>
              </a:rPr>
              <a:t>S1 en fonction de COWG</a:t>
            </a:r>
            <a:endParaRPr/>
          </a:p>
        </p:txBody>
      </p:sp>
      <p:graphicFrame>
        <p:nvGraphicFramePr>
          <p:cNvPr id="293" name="Google Shape;293;p28"/>
          <p:cNvGraphicFramePr/>
          <p:nvPr/>
        </p:nvGraphicFramePr>
        <p:xfrm>
          <a:off x="430800" y="1156850"/>
          <a:ext cx="3000000" cy="3000000"/>
        </p:xfrm>
        <a:graphic>
          <a:graphicData uri="http://schemas.openxmlformats.org/drawingml/2006/table">
            <a:tbl>
              <a:tblPr>
                <a:noFill/>
                <a:tableStyleId>{2F3D5CD2-77B3-4993-A2F8-7C0B2FFC0DF0}</a:tableStyleId>
              </a:tblPr>
              <a:tblGrid>
                <a:gridCol w="1336075"/>
                <a:gridCol w="1336075"/>
                <a:gridCol w="1336075"/>
              </a:tblGrid>
              <a:tr h="473425">
                <a:tc>
                  <a:txBody>
                    <a:bodyPr/>
                    <a:lstStyle/>
                    <a:p>
                      <a:pPr indent="0" lvl="0" marL="0" rtl="0" algn="l">
                        <a:spcBef>
                          <a:spcPts val="0"/>
                        </a:spcBef>
                        <a:spcAft>
                          <a:spcPts val="0"/>
                        </a:spcAft>
                        <a:buNone/>
                      </a:pPr>
                      <a:r>
                        <a:rPr b="1" lang="fr"/>
                        <a:t>Éléments</a:t>
                      </a:r>
                      <a:endParaRPr b="1"/>
                    </a:p>
                  </a:txBody>
                  <a:tcPr marT="91425" marB="91425" marR="91425" marL="91425"/>
                </a:tc>
                <a:tc>
                  <a:txBody>
                    <a:bodyPr/>
                    <a:lstStyle/>
                    <a:p>
                      <a:pPr indent="0" lvl="0" marL="0" rtl="0" algn="l">
                        <a:spcBef>
                          <a:spcPts val="0"/>
                        </a:spcBef>
                        <a:spcAft>
                          <a:spcPts val="0"/>
                        </a:spcAft>
                        <a:buNone/>
                      </a:pPr>
                      <a:r>
                        <a:rPr b="1" lang="fr"/>
                        <a:t>Intercept</a:t>
                      </a:r>
                      <a:endParaRPr b="1"/>
                    </a:p>
                  </a:txBody>
                  <a:tcPr marT="91425" marB="91425" marR="91425" marL="91425"/>
                </a:tc>
                <a:tc>
                  <a:txBody>
                    <a:bodyPr/>
                    <a:lstStyle/>
                    <a:p>
                      <a:pPr indent="0" lvl="0" marL="0" rtl="0" algn="l">
                        <a:spcBef>
                          <a:spcPts val="0"/>
                        </a:spcBef>
                        <a:spcAft>
                          <a:spcPts val="0"/>
                        </a:spcAft>
                        <a:buNone/>
                      </a:pPr>
                      <a:r>
                        <a:rPr b="1" lang="fr"/>
                        <a:t>Pente</a:t>
                      </a:r>
                      <a:endParaRPr b="1"/>
                    </a:p>
                  </a:txBody>
                  <a:tcPr marT="91425" marB="91425" marR="91425" marL="91425"/>
                </a:tc>
              </a:tr>
              <a:tr h="473425">
                <a:tc>
                  <a:txBody>
                    <a:bodyPr/>
                    <a:lstStyle/>
                    <a:p>
                      <a:pPr indent="0" lvl="0" marL="0" rtl="0" algn="l">
                        <a:spcBef>
                          <a:spcPts val="0"/>
                        </a:spcBef>
                        <a:spcAft>
                          <a:spcPts val="0"/>
                        </a:spcAft>
                        <a:buNone/>
                      </a:pPr>
                      <a:r>
                        <a:rPr lang="fr"/>
                        <a:t>Température</a:t>
                      </a:r>
                      <a:endParaRPr/>
                    </a:p>
                  </a:txBody>
                  <a:tcPr marT="91425" marB="91425" marR="91425" marL="91425"/>
                </a:tc>
                <a:tc>
                  <a:txBody>
                    <a:bodyPr/>
                    <a:lstStyle/>
                    <a:p>
                      <a:pPr indent="0" lvl="0" marL="0" rtl="0" algn="l">
                        <a:spcBef>
                          <a:spcPts val="0"/>
                        </a:spcBef>
                        <a:spcAft>
                          <a:spcPts val="0"/>
                        </a:spcAft>
                        <a:buNone/>
                      </a:pPr>
                      <a:r>
                        <a:rPr lang="fr"/>
                        <a:t>7.81202</a:t>
                      </a:r>
                      <a:endParaRPr/>
                    </a:p>
                  </a:txBody>
                  <a:tcPr marT="91425" marB="91425" marR="91425" marL="91425"/>
                </a:tc>
                <a:tc>
                  <a:txBody>
                    <a:bodyPr/>
                    <a:lstStyle/>
                    <a:p>
                      <a:pPr indent="0" lvl="0" marL="0" rtl="0" algn="l">
                        <a:spcBef>
                          <a:spcPts val="0"/>
                        </a:spcBef>
                        <a:spcAft>
                          <a:spcPts val="0"/>
                        </a:spcAft>
                        <a:buNone/>
                      </a:pPr>
                      <a:r>
                        <a:rPr lang="fr"/>
                        <a:t>0.51873</a:t>
                      </a:r>
                      <a:endParaRPr/>
                    </a:p>
                  </a:txBody>
                  <a:tcPr marT="91425" marB="91425" marR="91425" marL="91425"/>
                </a:tc>
              </a:tr>
              <a:tr h="473425">
                <a:tc>
                  <a:txBody>
                    <a:bodyPr/>
                    <a:lstStyle/>
                    <a:p>
                      <a:pPr indent="0" lvl="0" marL="0" rtl="0" algn="l">
                        <a:spcBef>
                          <a:spcPts val="0"/>
                        </a:spcBef>
                        <a:spcAft>
                          <a:spcPts val="0"/>
                        </a:spcAft>
                        <a:buNone/>
                      </a:pPr>
                      <a:r>
                        <a:rPr lang="fr"/>
                        <a:t>pH</a:t>
                      </a:r>
                      <a:endParaRPr/>
                    </a:p>
                  </a:txBody>
                  <a:tcPr marT="91425" marB="91425" marR="91425" marL="91425"/>
                </a:tc>
                <a:tc>
                  <a:txBody>
                    <a:bodyPr/>
                    <a:lstStyle/>
                    <a:p>
                      <a:pPr indent="0" lvl="0" marL="0" rtl="0" algn="l">
                        <a:spcBef>
                          <a:spcPts val="0"/>
                        </a:spcBef>
                        <a:spcAft>
                          <a:spcPts val="0"/>
                        </a:spcAft>
                        <a:buNone/>
                      </a:pPr>
                      <a:r>
                        <a:rPr lang="fr"/>
                        <a:t>1.42235</a:t>
                      </a:r>
                      <a:endParaRPr/>
                    </a:p>
                  </a:txBody>
                  <a:tcPr marT="91425" marB="91425" marR="91425" marL="91425"/>
                </a:tc>
                <a:tc>
                  <a:txBody>
                    <a:bodyPr/>
                    <a:lstStyle/>
                    <a:p>
                      <a:pPr indent="0" lvl="0" marL="0" rtl="0" algn="l">
                        <a:spcBef>
                          <a:spcPts val="0"/>
                        </a:spcBef>
                        <a:spcAft>
                          <a:spcPts val="0"/>
                        </a:spcAft>
                        <a:buNone/>
                      </a:pPr>
                      <a:r>
                        <a:rPr lang="fr"/>
                        <a:t>0</a:t>
                      </a:r>
                      <a:r>
                        <a:rPr lang="fr"/>
                        <a:t>.56877</a:t>
                      </a:r>
                      <a:endParaRPr/>
                    </a:p>
                  </a:txBody>
                  <a:tcPr marT="91425" marB="91425" marR="91425" marL="91425"/>
                </a:tc>
              </a:tr>
              <a:tr h="473425">
                <a:tc>
                  <a:txBody>
                    <a:bodyPr/>
                    <a:lstStyle/>
                    <a:p>
                      <a:pPr indent="0" lvl="0" marL="0" rtl="0" algn="l">
                        <a:spcBef>
                          <a:spcPts val="0"/>
                        </a:spcBef>
                        <a:spcAft>
                          <a:spcPts val="0"/>
                        </a:spcAft>
                        <a:buNone/>
                      </a:pPr>
                      <a:r>
                        <a:rPr lang="fr"/>
                        <a:t>O2</a:t>
                      </a:r>
                      <a:endParaRPr/>
                    </a:p>
                  </a:txBody>
                  <a:tcPr marT="91425" marB="91425" marR="91425" marL="91425"/>
                </a:tc>
                <a:tc>
                  <a:txBody>
                    <a:bodyPr/>
                    <a:lstStyle/>
                    <a:p>
                      <a:pPr indent="0" lvl="0" marL="0" rtl="0" algn="l">
                        <a:spcBef>
                          <a:spcPts val="0"/>
                        </a:spcBef>
                        <a:spcAft>
                          <a:spcPts val="0"/>
                        </a:spcAft>
                        <a:buNone/>
                      </a:pPr>
                      <a:r>
                        <a:rPr lang="fr"/>
                        <a:t>-0.12619 </a:t>
                      </a:r>
                      <a:endParaRPr/>
                    </a:p>
                  </a:txBody>
                  <a:tcPr marT="91425" marB="91425" marR="91425" marL="91425"/>
                </a:tc>
                <a:tc>
                  <a:txBody>
                    <a:bodyPr/>
                    <a:lstStyle/>
                    <a:p>
                      <a:pPr indent="0" lvl="0" marL="0" rtl="0" algn="l">
                        <a:spcBef>
                          <a:spcPts val="0"/>
                        </a:spcBef>
                        <a:spcAft>
                          <a:spcPts val="0"/>
                        </a:spcAft>
                        <a:buNone/>
                      </a:pPr>
                      <a:r>
                        <a:rPr lang="fr"/>
                        <a:t>0.26856</a:t>
                      </a:r>
                      <a:endParaRPr/>
                    </a:p>
                  </a:txBody>
                  <a:tcPr marT="91425" marB="91425" marR="91425" marL="91425"/>
                </a:tc>
              </a:tr>
              <a:tr h="473425">
                <a:tc>
                  <a:txBody>
                    <a:bodyPr/>
                    <a:lstStyle/>
                    <a:p>
                      <a:pPr indent="0" lvl="0" marL="0" rtl="0" algn="l">
                        <a:spcBef>
                          <a:spcPts val="0"/>
                        </a:spcBef>
                        <a:spcAft>
                          <a:spcPts val="0"/>
                        </a:spcAft>
                        <a:buNone/>
                      </a:pPr>
                      <a:r>
                        <a:rPr lang="fr"/>
                        <a:t>Conductivité</a:t>
                      </a:r>
                      <a:endParaRPr/>
                    </a:p>
                  </a:txBody>
                  <a:tcPr marT="91425" marB="91425" marR="91425" marL="91425"/>
                </a:tc>
                <a:tc>
                  <a:txBody>
                    <a:bodyPr/>
                    <a:lstStyle/>
                    <a:p>
                      <a:pPr indent="0" lvl="0" marL="0" rtl="0" algn="l">
                        <a:spcBef>
                          <a:spcPts val="0"/>
                        </a:spcBef>
                        <a:spcAft>
                          <a:spcPts val="0"/>
                        </a:spcAft>
                        <a:buNone/>
                      </a:pPr>
                      <a:r>
                        <a:rPr lang="fr"/>
                        <a:t>470.30707</a:t>
                      </a:r>
                      <a:endParaRPr/>
                    </a:p>
                  </a:txBody>
                  <a:tcPr marT="91425" marB="91425" marR="91425" marL="91425"/>
                </a:tc>
                <a:tc>
                  <a:txBody>
                    <a:bodyPr/>
                    <a:lstStyle/>
                    <a:p>
                      <a:pPr indent="0" lvl="0" marL="0" rtl="0" algn="l">
                        <a:spcBef>
                          <a:spcPts val="0"/>
                        </a:spcBef>
                        <a:spcAft>
                          <a:spcPts val="0"/>
                        </a:spcAft>
                        <a:buNone/>
                      </a:pPr>
                      <a:r>
                        <a:rPr lang="fr"/>
                        <a:t>0.98910</a:t>
                      </a:r>
                      <a:endParaRPr/>
                    </a:p>
                  </a:txBody>
                  <a:tcPr marT="91425" marB="91425" marR="91425" marL="91425"/>
                </a:tc>
              </a:tr>
              <a:tr h="473425">
                <a:tc>
                  <a:txBody>
                    <a:bodyPr/>
                    <a:lstStyle/>
                    <a:p>
                      <a:pPr indent="0" lvl="0" marL="0" rtl="0" algn="l">
                        <a:spcBef>
                          <a:spcPts val="0"/>
                        </a:spcBef>
                        <a:spcAft>
                          <a:spcPts val="0"/>
                        </a:spcAft>
                        <a:buNone/>
                      </a:pPr>
                      <a:r>
                        <a:rPr lang="fr"/>
                        <a:t>Antimoine</a:t>
                      </a:r>
                      <a:endParaRPr/>
                    </a:p>
                  </a:txBody>
                  <a:tcPr marT="91425" marB="91425" marR="91425" marL="91425"/>
                </a:tc>
                <a:tc>
                  <a:txBody>
                    <a:bodyPr/>
                    <a:lstStyle/>
                    <a:p>
                      <a:pPr indent="0" lvl="0" marL="0" rtl="0" algn="l">
                        <a:spcBef>
                          <a:spcPts val="0"/>
                        </a:spcBef>
                        <a:spcAft>
                          <a:spcPts val="0"/>
                        </a:spcAft>
                        <a:buNone/>
                      </a:pPr>
                      <a:r>
                        <a:rPr lang="fr"/>
                        <a:t>23.4267</a:t>
                      </a:r>
                      <a:endParaRPr/>
                    </a:p>
                  </a:txBody>
                  <a:tcPr marT="91425" marB="91425" marR="91425" marL="91425"/>
                </a:tc>
                <a:tc>
                  <a:txBody>
                    <a:bodyPr/>
                    <a:lstStyle/>
                    <a:p>
                      <a:pPr indent="0" lvl="0" marL="0" rtl="0" algn="l">
                        <a:spcBef>
                          <a:spcPts val="0"/>
                        </a:spcBef>
                        <a:spcAft>
                          <a:spcPts val="0"/>
                        </a:spcAft>
                        <a:buNone/>
                      </a:pPr>
                      <a:r>
                        <a:rPr lang="fr"/>
                        <a:t>1.3950</a:t>
                      </a:r>
                      <a:endParaRPr/>
                    </a:p>
                  </a:txBody>
                  <a:tcPr marT="91425" marB="91425" marR="91425" marL="91425"/>
                </a:tc>
              </a:tr>
              <a:tr h="473425">
                <a:tc>
                  <a:txBody>
                    <a:bodyPr/>
                    <a:lstStyle/>
                    <a:p>
                      <a:pPr indent="0" lvl="0" marL="0" rtl="0" algn="l">
                        <a:spcBef>
                          <a:spcPts val="0"/>
                        </a:spcBef>
                        <a:spcAft>
                          <a:spcPts val="0"/>
                        </a:spcAft>
                        <a:buNone/>
                      </a:pPr>
                      <a:r>
                        <a:rPr lang="fr"/>
                        <a:t>Arsenic</a:t>
                      </a:r>
                      <a:endParaRPr/>
                    </a:p>
                  </a:txBody>
                  <a:tcPr marT="91425" marB="91425" marR="91425" marL="91425"/>
                </a:tc>
                <a:tc>
                  <a:txBody>
                    <a:bodyPr/>
                    <a:lstStyle/>
                    <a:p>
                      <a:pPr indent="0" lvl="0" marL="0" rtl="0" algn="l">
                        <a:spcBef>
                          <a:spcPts val="0"/>
                        </a:spcBef>
                        <a:spcAft>
                          <a:spcPts val="0"/>
                        </a:spcAft>
                        <a:buNone/>
                      </a:pPr>
                      <a:r>
                        <a:rPr lang="fr"/>
                        <a:t>-6379 (NS)</a:t>
                      </a:r>
                      <a:endParaRPr/>
                    </a:p>
                  </a:txBody>
                  <a:tcPr marT="91425" marB="91425" marR="91425" marL="91425"/>
                </a:tc>
                <a:tc>
                  <a:txBody>
                    <a:bodyPr/>
                    <a:lstStyle/>
                    <a:p>
                      <a:pPr indent="0" lvl="0" marL="0" rtl="0" algn="l">
                        <a:spcBef>
                          <a:spcPts val="0"/>
                        </a:spcBef>
                        <a:spcAft>
                          <a:spcPts val="0"/>
                        </a:spcAft>
                        <a:buNone/>
                      </a:pPr>
                      <a:r>
                        <a:rPr lang="fr"/>
                        <a:t>1.222</a:t>
                      </a:r>
                      <a:endParaRPr/>
                    </a:p>
                  </a:txBody>
                  <a:tcPr marT="91425" marB="91425" marR="91425" marL="91425"/>
                </a:tc>
              </a:tr>
            </a:tbl>
          </a:graphicData>
        </a:graphic>
      </p:graphicFrame>
      <p:graphicFrame>
        <p:nvGraphicFramePr>
          <p:cNvPr id="294" name="Google Shape;294;p28"/>
          <p:cNvGraphicFramePr/>
          <p:nvPr/>
        </p:nvGraphicFramePr>
        <p:xfrm>
          <a:off x="4704975" y="1156850"/>
          <a:ext cx="3000000" cy="3000000"/>
        </p:xfrm>
        <a:graphic>
          <a:graphicData uri="http://schemas.openxmlformats.org/drawingml/2006/table">
            <a:tbl>
              <a:tblPr>
                <a:noFill/>
                <a:tableStyleId>{2F3D5CD2-77B3-4993-A2F8-7C0B2FFC0DF0}</a:tableStyleId>
              </a:tblPr>
              <a:tblGrid>
                <a:gridCol w="1336075"/>
                <a:gridCol w="1336075"/>
                <a:gridCol w="1336075"/>
              </a:tblGrid>
              <a:tr h="493625">
                <a:tc>
                  <a:txBody>
                    <a:bodyPr/>
                    <a:lstStyle/>
                    <a:p>
                      <a:pPr indent="0" lvl="0" marL="0" rtl="0" algn="l">
                        <a:spcBef>
                          <a:spcPts val="0"/>
                        </a:spcBef>
                        <a:spcAft>
                          <a:spcPts val="0"/>
                        </a:spcAft>
                        <a:buNone/>
                      </a:pPr>
                      <a:r>
                        <a:rPr b="1" lang="fr"/>
                        <a:t>Éléments</a:t>
                      </a:r>
                      <a:endParaRPr b="1"/>
                    </a:p>
                  </a:txBody>
                  <a:tcPr marT="91425" marB="91425" marR="91425" marL="91425"/>
                </a:tc>
                <a:tc>
                  <a:txBody>
                    <a:bodyPr/>
                    <a:lstStyle/>
                    <a:p>
                      <a:pPr indent="0" lvl="0" marL="0" rtl="0" algn="l">
                        <a:spcBef>
                          <a:spcPts val="0"/>
                        </a:spcBef>
                        <a:spcAft>
                          <a:spcPts val="0"/>
                        </a:spcAft>
                        <a:buNone/>
                      </a:pPr>
                      <a:r>
                        <a:rPr b="1" lang="fr"/>
                        <a:t>Intercept</a:t>
                      </a:r>
                      <a:endParaRPr b="1"/>
                    </a:p>
                  </a:txBody>
                  <a:tcPr marT="91425" marB="91425" marR="91425" marL="91425"/>
                </a:tc>
                <a:tc>
                  <a:txBody>
                    <a:bodyPr/>
                    <a:lstStyle/>
                    <a:p>
                      <a:pPr indent="0" lvl="0" marL="0" rtl="0" algn="l">
                        <a:spcBef>
                          <a:spcPts val="0"/>
                        </a:spcBef>
                        <a:spcAft>
                          <a:spcPts val="0"/>
                        </a:spcAft>
                        <a:buNone/>
                      </a:pPr>
                      <a:r>
                        <a:rPr b="1" lang="fr"/>
                        <a:t>Pente</a:t>
                      </a:r>
                      <a:endParaRPr b="1"/>
                    </a:p>
                  </a:txBody>
                  <a:tcPr marT="91425" marB="91425" marR="91425" marL="91425"/>
                </a:tc>
              </a:tr>
              <a:tr h="493625">
                <a:tc>
                  <a:txBody>
                    <a:bodyPr/>
                    <a:lstStyle/>
                    <a:p>
                      <a:pPr indent="0" lvl="0" marL="0" rtl="0" algn="l">
                        <a:spcBef>
                          <a:spcPts val="0"/>
                        </a:spcBef>
                        <a:spcAft>
                          <a:spcPts val="0"/>
                        </a:spcAft>
                        <a:buNone/>
                      </a:pPr>
                      <a:r>
                        <a:rPr lang="fr"/>
                        <a:t>Cadmium</a:t>
                      </a:r>
                      <a:endParaRPr/>
                    </a:p>
                  </a:txBody>
                  <a:tcPr marT="91425" marB="91425" marR="91425" marL="91425"/>
                </a:tc>
                <a:tc>
                  <a:txBody>
                    <a:bodyPr/>
                    <a:lstStyle/>
                    <a:p>
                      <a:pPr indent="0" lvl="0" marL="0" rtl="0" algn="l">
                        <a:spcBef>
                          <a:spcPts val="0"/>
                        </a:spcBef>
                        <a:spcAft>
                          <a:spcPts val="0"/>
                        </a:spcAft>
                        <a:buNone/>
                      </a:pPr>
                      <a:r>
                        <a:rPr lang="fr"/>
                        <a:t>12.46869</a:t>
                      </a:r>
                      <a:endParaRPr/>
                    </a:p>
                  </a:txBody>
                  <a:tcPr marT="91425" marB="91425" marR="91425" marL="91425"/>
                </a:tc>
                <a:tc>
                  <a:txBody>
                    <a:bodyPr/>
                    <a:lstStyle/>
                    <a:p>
                      <a:pPr indent="0" lvl="0" marL="0" rtl="0" algn="l">
                        <a:spcBef>
                          <a:spcPts val="0"/>
                        </a:spcBef>
                        <a:spcAft>
                          <a:spcPts val="0"/>
                        </a:spcAft>
                        <a:buNone/>
                      </a:pPr>
                      <a:r>
                        <a:rPr lang="fr"/>
                        <a:t>1.02141 </a:t>
                      </a:r>
                      <a:endParaRPr/>
                    </a:p>
                  </a:txBody>
                  <a:tcPr marT="91425" marB="91425" marR="91425" marL="91425"/>
                </a:tc>
              </a:tr>
              <a:tr h="422925">
                <a:tc>
                  <a:txBody>
                    <a:bodyPr/>
                    <a:lstStyle/>
                    <a:p>
                      <a:pPr indent="0" lvl="0" marL="0" rtl="0" algn="l">
                        <a:spcBef>
                          <a:spcPts val="0"/>
                        </a:spcBef>
                        <a:spcAft>
                          <a:spcPts val="0"/>
                        </a:spcAft>
                        <a:buNone/>
                      </a:pPr>
                      <a:r>
                        <a:rPr lang="fr"/>
                        <a:t>Cuivre</a:t>
                      </a:r>
                      <a:endParaRPr/>
                    </a:p>
                  </a:txBody>
                  <a:tcPr marT="91425" marB="91425" marR="91425" marL="91425"/>
                </a:tc>
                <a:tc>
                  <a:txBody>
                    <a:bodyPr/>
                    <a:lstStyle/>
                    <a:p>
                      <a:pPr indent="0" lvl="0" marL="0" rtl="0" algn="l">
                        <a:spcBef>
                          <a:spcPts val="0"/>
                        </a:spcBef>
                        <a:spcAft>
                          <a:spcPts val="0"/>
                        </a:spcAft>
                        <a:buNone/>
                      </a:pPr>
                      <a:r>
                        <a:rPr lang="fr"/>
                        <a:t>4</a:t>
                      </a:r>
                      <a:r>
                        <a:rPr lang="fr"/>
                        <a:t>04.02427</a:t>
                      </a:r>
                      <a:endParaRPr/>
                    </a:p>
                  </a:txBody>
                  <a:tcPr marT="91425" marB="91425" marR="91425" marL="91425"/>
                </a:tc>
                <a:tc>
                  <a:txBody>
                    <a:bodyPr/>
                    <a:lstStyle/>
                    <a:p>
                      <a:pPr indent="0" lvl="0" marL="0" rtl="0" algn="l">
                        <a:spcBef>
                          <a:spcPts val="0"/>
                        </a:spcBef>
                        <a:spcAft>
                          <a:spcPts val="0"/>
                        </a:spcAft>
                        <a:buNone/>
                      </a:pPr>
                      <a:r>
                        <a:rPr lang="fr"/>
                        <a:t>0.80279</a:t>
                      </a:r>
                      <a:endParaRPr/>
                    </a:p>
                  </a:txBody>
                  <a:tcPr marT="91425" marB="91425" marR="91425" marL="91425"/>
                </a:tc>
              </a:tr>
              <a:tr h="422925">
                <a:tc>
                  <a:txBody>
                    <a:bodyPr/>
                    <a:lstStyle/>
                    <a:p>
                      <a:pPr indent="0" lvl="0" marL="0" rtl="0" algn="l">
                        <a:spcBef>
                          <a:spcPts val="0"/>
                        </a:spcBef>
                        <a:spcAft>
                          <a:spcPts val="0"/>
                        </a:spcAft>
                        <a:buNone/>
                      </a:pPr>
                      <a:r>
                        <a:rPr lang="fr"/>
                        <a:t>Plomb</a:t>
                      </a:r>
                      <a:endParaRPr/>
                    </a:p>
                  </a:txBody>
                  <a:tcPr marT="91425" marB="91425" marR="91425" marL="91425"/>
                </a:tc>
                <a:tc>
                  <a:txBody>
                    <a:bodyPr/>
                    <a:lstStyle/>
                    <a:p>
                      <a:pPr indent="0" lvl="0" marL="0" rtl="0" algn="l">
                        <a:spcBef>
                          <a:spcPts val="0"/>
                        </a:spcBef>
                        <a:spcAft>
                          <a:spcPts val="0"/>
                        </a:spcAft>
                        <a:buNone/>
                      </a:pPr>
                      <a:r>
                        <a:rPr lang="fr"/>
                        <a:t>1091 </a:t>
                      </a:r>
                      <a:endParaRPr/>
                    </a:p>
                  </a:txBody>
                  <a:tcPr marT="91425" marB="91425" marR="91425" marL="91425"/>
                </a:tc>
                <a:tc>
                  <a:txBody>
                    <a:bodyPr/>
                    <a:lstStyle/>
                    <a:p>
                      <a:pPr indent="0" lvl="0" marL="0" rtl="0" algn="l">
                        <a:spcBef>
                          <a:spcPts val="0"/>
                        </a:spcBef>
                        <a:spcAft>
                          <a:spcPts val="0"/>
                        </a:spcAft>
                        <a:buNone/>
                      </a:pPr>
                      <a:r>
                        <a:rPr lang="fr"/>
                        <a:t>0.4243</a:t>
                      </a:r>
                      <a:endParaRPr/>
                    </a:p>
                  </a:txBody>
                  <a:tcPr marT="91425" marB="91425" marR="91425" marL="91425"/>
                </a:tc>
              </a:tr>
              <a:tr h="493625">
                <a:tc>
                  <a:txBody>
                    <a:bodyPr/>
                    <a:lstStyle/>
                    <a:p>
                      <a:pPr indent="0" lvl="0" marL="0" rtl="0" algn="l">
                        <a:spcBef>
                          <a:spcPts val="0"/>
                        </a:spcBef>
                        <a:spcAft>
                          <a:spcPts val="0"/>
                        </a:spcAft>
                        <a:buNone/>
                      </a:pPr>
                      <a:r>
                        <a:rPr lang="fr"/>
                        <a:t>Sulfate</a:t>
                      </a:r>
                      <a:endParaRPr/>
                    </a:p>
                  </a:txBody>
                  <a:tcPr marT="91425" marB="91425" marR="91425" marL="91425"/>
                </a:tc>
                <a:tc>
                  <a:txBody>
                    <a:bodyPr/>
                    <a:lstStyle/>
                    <a:p>
                      <a:pPr indent="0" lvl="0" marL="0" rtl="0" algn="l">
                        <a:spcBef>
                          <a:spcPts val="0"/>
                        </a:spcBef>
                        <a:spcAft>
                          <a:spcPts val="0"/>
                        </a:spcAft>
                        <a:buNone/>
                      </a:pPr>
                      <a:r>
                        <a:rPr lang="fr"/>
                        <a:t>2158</a:t>
                      </a:r>
                      <a:endParaRPr/>
                    </a:p>
                  </a:txBody>
                  <a:tcPr marT="91425" marB="91425" marR="91425" marL="91425"/>
                </a:tc>
                <a:tc>
                  <a:txBody>
                    <a:bodyPr/>
                    <a:lstStyle/>
                    <a:p>
                      <a:pPr indent="0" lvl="0" marL="0" rtl="0" algn="l">
                        <a:spcBef>
                          <a:spcPts val="0"/>
                        </a:spcBef>
                        <a:spcAft>
                          <a:spcPts val="0"/>
                        </a:spcAft>
                        <a:buNone/>
                      </a:pPr>
                      <a:r>
                        <a:rPr lang="fr"/>
                        <a:t>0.4237</a:t>
                      </a:r>
                      <a:endParaRPr/>
                    </a:p>
                  </a:txBody>
                  <a:tcPr marT="91425" marB="91425" marR="91425" marL="91425"/>
                </a:tc>
              </a:tr>
              <a:tr h="493625">
                <a:tc>
                  <a:txBody>
                    <a:bodyPr/>
                    <a:lstStyle/>
                    <a:p>
                      <a:pPr indent="0" lvl="0" marL="0" rtl="0" algn="l">
                        <a:spcBef>
                          <a:spcPts val="0"/>
                        </a:spcBef>
                        <a:spcAft>
                          <a:spcPts val="0"/>
                        </a:spcAft>
                        <a:buNone/>
                      </a:pPr>
                      <a:r>
                        <a:rPr lang="fr"/>
                        <a:t>Zinc</a:t>
                      </a:r>
                      <a:endParaRPr/>
                    </a:p>
                  </a:txBody>
                  <a:tcPr marT="91425" marB="91425" marR="91425" marL="91425"/>
                </a:tc>
                <a:tc>
                  <a:txBody>
                    <a:bodyPr/>
                    <a:lstStyle/>
                    <a:p>
                      <a:pPr indent="0" lvl="0" marL="0" rtl="0" algn="l">
                        <a:spcBef>
                          <a:spcPts val="0"/>
                        </a:spcBef>
                        <a:spcAft>
                          <a:spcPts val="0"/>
                        </a:spcAft>
                        <a:buNone/>
                      </a:pPr>
                      <a:r>
                        <a:rPr lang="fr"/>
                        <a:t>-1389</a:t>
                      </a:r>
                      <a:endParaRPr/>
                    </a:p>
                  </a:txBody>
                  <a:tcPr marT="91425" marB="91425" marR="91425" marL="91425"/>
                </a:tc>
                <a:tc>
                  <a:txBody>
                    <a:bodyPr/>
                    <a:lstStyle/>
                    <a:p>
                      <a:pPr indent="0" lvl="0" marL="0" rtl="0" algn="l">
                        <a:spcBef>
                          <a:spcPts val="0"/>
                        </a:spcBef>
                        <a:spcAft>
                          <a:spcPts val="0"/>
                        </a:spcAft>
                        <a:buNone/>
                      </a:pPr>
                      <a:r>
                        <a:rPr lang="fr"/>
                        <a:t>1.632</a:t>
                      </a:r>
                      <a:endParaRPr/>
                    </a:p>
                  </a:txBody>
                  <a:tcPr marT="91425" marB="91425" marR="91425" marL="91425"/>
                </a:tc>
              </a:tr>
              <a:tr h="493625">
                <a:tc>
                  <a:txBody>
                    <a:bodyPr/>
                    <a:lstStyle/>
                    <a:p>
                      <a:pPr indent="0" lvl="0" marL="0" rtl="0" algn="l">
                        <a:spcBef>
                          <a:spcPts val="0"/>
                        </a:spcBef>
                        <a:spcAft>
                          <a:spcPts val="0"/>
                        </a:spcAft>
                        <a:buNone/>
                      </a:pPr>
                      <a:r>
                        <a:rPr lang="fr"/>
                        <a:t>FeII</a:t>
                      </a:r>
                      <a:endParaRPr/>
                    </a:p>
                  </a:txBody>
                  <a:tcPr marT="91425" marB="91425" marR="91425" marL="91425"/>
                </a:tc>
                <a:tc>
                  <a:txBody>
                    <a:bodyPr/>
                    <a:lstStyle/>
                    <a:p>
                      <a:pPr indent="0" lvl="0" marL="0" rtl="0" algn="l">
                        <a:spcBef>
                          <a:spcPts val="0"/>
                        </a:spcBef>
                        <a:spcAft>
                          <a:spcPts val="0"/>
                        </a:spcAft>
                        <a:buNone/>
                      </a:pPr>
                      <a:r>
                        <a:rPr lang="fr"/>
                        <a:t>518.64850</a:t>
                      </a:r>
                      <a:endParaRPr/>
                    </a:p>
                  </a:txBody>
                  <a:tcPr marT="91425" marB="91425" marR="91425" marL="91425"/>
                </a:tc>
                <a:tc>
                  <a:txBody>
                    <a:bodyPr/>
                    <a:lstStyle/>
                    <a:p>
                      <a:pPr indent="0" lvl="0" marL="0" rtl="0" algn="l">
                        <a:spcBef>
                          <a:spcPts val="0"/>
                        </a:spcBef>
                        <a:spcAft>
                          <a:spcPts val="0"/>
                        </a:spcAft>
                        <a:buNone/>
                      </a:pPr>
                      <a:r>
                        <a:rPr lang="fr"/>
                        <a:t>0.88479</a:t>
                      </a:r>
                      <a:endParaRPr/>
                    </a:p>
                  </a:txBody>
                  <a:tcPr marT="91425" marB="91425" marR="91425" marL="914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9"/>
          <p:cNvSpPr txBox="1"/>
          <p:nvPr>
            <p:ph type="title"/>
          </p:nvPr>
        </p:nvSpPr>
        <p:spPr>
          <a:xfrm>
            <a:off x="430800" y="128030"/>
            <a:ext cx="8282400" cy="596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fr">
                <a:solidFill>
                  <a:srgbClr val="000000"/>
                </a:solidFill>
              </a:rPr>
              <a:t>Questions</a:t>
            </a:r>
            <a:endParaRPr>
              <a:solidFill>
                <a:srgbClr val="000000"/>
              </a:solidFill>
            </a:endParaRPr>
          </a:p>
        </p:txBody>
      </p:sp>
      <p:sp>
        <p:nvSpPr>
          <p:cNvPr id="300" name="Google Shape;300;p29"/>
          <p:cNvSpPr/>
          <p:nvPr/>
        </p:nvSpPr>
        <p:spPr>
          <a:xfrm>
            <a:off x="2331975" y="1149650"/>
            <a:ext cx="661200" cy="195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301" name="Google Shape;301;p29"/>
          <p:cNvSpPr txBox="1"/>
          <p:nvPr/>
        </p:nvSpPr>
        <p:spPr>
          <a:xfrm>
            <a:off x="308925" y="1505975"/>
            <a:ext cx="8456700" cy="24012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Font typeface="Source Code Pro"/>
              <a:buChar char="-"/>
            </a:pPr>
            <a:r>
              <a:rPr lang="fr" sz="1800">
                <a:solidFill>
                  <a:schemeClr val="dk2"/>
                </a:solidFill>
                <a:latin typeface="Source Code Pro"/>
                <a:ea typeface="Source Code Pro"/>
                <a:cs typeface="Source Code Pro"/>
                <a:sym typeface="Source Code Pro"/>
              </a:rPr>
              <a:t>En quoi consiste les isotopes et pourquoi choisit-on un isotope plutôt qu’un autre dans les mesures (eg. 121Sb vs 123Sb) ?</a:t>
            </a:r>
            <a:endParaRPr sz="1800">
              <a:solidFill>
                <a:schemeClr val="dk2"/>
              </a:solidFill>
              <a:latin typeface="Source Code Pro"/>
              <a:ea typeface="Source Code Pro"/>
              <a:cs typeface="Source Code Pro"/>
              <a:sym typeface="Source Code Pro"/>
            </a:endParaRPr>
          </a:p>
          <a:p>
            <a:pPr indent="0" lvl="0" marL="0" rtl="0" algn="l">
              <a:spcBef>
                <a:spcPts val="0"/>
              </a:spcBef>
              <a:spcAft>
                <a:spcPts val="0"/>
              </a:spcAft>
              <a:buNone/>
            </a:pPr>
            <a:r>
              <a:t/>
            </a:r>
            <a:endParaRPr sz="1800">
              <a:solidFill>
                <a:schemeClr val="dk2"/>
              </a:solidFill>
              <a:latin typeface="Source Code Pro"/>
              <a:ea typeface="Source Code Pro"/>
              <a:cs typeface="Source Code Pro"/>
              <a:sym typeface="Source Code Pro"/>
            </a:endParaRPr>
          </a:p>
          <a:p>
            <a:pPr indent="-342900" lvl="0" marL="457200" rtl="0" algn="l">
              <a:spcBef>
                <a:spcPts val="0"/>
              </a:spcBef>
              <a:spcAft>
                <a:spcPts val="0"/>
              </a:spcAft>
              <a:buClr>
                <a:schemeClr val="dk2"/>
              </a:buClr>
              <a:buSzPts val="1800"/>
              <a:buFont typeface="Source Code Pro"/>
              <a:buChar char="-"/>
            </a:pPr>
            <a:r>
              <a:rPr lang="fr" sz="1800">
                <a:solidFill>
                  <a:schemeClr val="dk2"/>
                </a:solidFill>
                <a:latin typeface="Source Code Pro"/>
                <a:ea typeface="Source Code Pro"/>
                <a:cs typeface="Source Code Pro"/>
                <a:sym typeface="Source Code Pro"/>
              </a:rPr>
              <a:t>Est-ce que les organigrammes de corrélations font sens du point de vue de la Chimie ?</a:t>
            </a:r>
            <a:endParaRPr sz="1800">
              <a:solidFill>
                <a:schemeClr val="dk2"/>
              </a:solidFill>
              <a:latin typeface="Source Code Pro"/>
              <a:ea typeface="Source Code Pro"/>
              <a:cs typeface="Source Code Pro"/>
              <a:sym typeface="Source Code Pro"/>
            </a:endParaRPr>
          </a:p>
          <a:p>
            <a:pPr indent="0" lvl="0" marL="0" rtl="0" algn="l">
              <a:spcBef>
                <a:spcPts val="0"/>
              </a:spcBef>
              <a:spcAft>
                <a:spcPts val="0"/>
              </a:spcAft>
              <a:buNone/>
            </a:pPr>
            <a:r>
              <a:t/>
            </a:r>
            <a:endParaRPr sz="1800">
              <a:solidFill>
                <a:schemeClr val="dk2"/>
              </a:solidFill>
              <a:latin typeface="Source Code Pro"/>
              <a:ea typeface="Source Code Pro"/>
              <a:cs typeface="Source Code Pro"/>
              <a:sym typeface="Source Code Pro"/>
            </a:endParaRPr>
          </a:p>
          <a:p>
            <a:pPr indent="-342900" lvl="0" marL="457200" rtl="0" algn="l">
              <a:spcBef>
                <a:spcPts val="0"/>
              </a:spcBef>
              <a:spcAft>
                <a:spcPts val="0"/>
              </a:spcAft>
              <a:buClr>
                <a:schemeClr val="dk2"/>
              </a:buClr>
              <a:buSzPts val="1800"/>
              <a:buFont typeface="Source Code Pro"/>
              <a:buChar char="-"/>
            </a:pPr>
            <a:r>
              <a:t/>
            </a:r>
            <a:endParaRPr sz="1800">
              <a:solidFill>
                <a:schemeClr val="dk2"/>
              </a:solidFill>
              <a:latin typeface="Source Code Pro"/>
              <a:ea typeface="Source Code Pro"/>
              <a:cs typeface="Source Code Pro"/>
              <a:sym typeface="Source Code Pro"/>
            </a:endParaRPr>
          </a:p>
        </p:txBody>
      </p:sp>
    </p:spTree>
  </p:cSld>
  <p:clrMapOvr>
    <a:masterClrMapping/>
  </p:clrMapOvr>
</p:sld>
</file>

<file path=ppt/theme/theme1.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