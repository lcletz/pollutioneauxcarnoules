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Source Code Pro"/>
      <p:regular r:id="rId39"/>
      <p:bold r:id="rId40"/>
      <p:italic r:id="rId41"/>
      <p:boldItalic r:id="rId42"/>
    </p:embeddedFont>
    <p:embeddedFont>
      <p:font typeface="Oswald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671203-E017-471E-85D2-4D71AE7E5494}">
  <a:tblStyle styleId="{9C671203-E017-471E-85D2-4D71AE7E54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bold.fntdata"/><Relationship Id="rId20" Type="http://schemas.openxmlformats.org/officeDocument/2006/relationships/slide" Target="slides/slide14.xml"/><Relationship Id="rId42" Type="http://schemas.openxmlformats.org/officeDocument/2006/relationships/font" Target="fonts/SourceCodePro-boldItalic.fntdata"/><Relationship Id="rId41" Type="http://schemas.openxmlformats.org/officeDocument/2006/relationships/font" Target="fonts/SourceCodePro-italic.fntdata"/><Relationship Id="rId22" Type="http://schemas.openxmlformats.org/officeDocument/2006/relationships/slide" Target="slides/slide16.xml"/><Relationship Id="rId44" Type="http://schemas.openxmlformats.org/officeDocument/2006/relationships/font" Target="fonts/Oswald-bold.fntdata"/><Relationship Id="rId21" Type="http://schemas.openxmlformats.org/officeDocument/2006/relationships/slide" Target="slides/slide15.xml"/><Relationship Id="rId43" Type="http://schemas.openxmlformats.org/officeDocument/2006/relationships/font" Target="fonts/Oswald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SourceCodePr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d70e877b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d70e877b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Un changement dans la manière d’imputer qui permet de ne pas avoir des tendances (dé)croissantes si ce n’est pas le cas.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d70e877b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d70e877b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d70e877b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d70e877b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d70e877be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d70e877b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Sorte de symétrie entre les deux périodes d’une même année, juillet-août vont par pairs, octobre-novembre par pairs également.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d70e877be_1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d70e877be_1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Sorte de symétrie entre les deux périodes d’une même année, juillet-août vont par pairs, octobre-novembre par pairs également.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d70e877be_1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6d70e877be_1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Sorte de symétrie entre les deux périodes d’une même année, juillet-août vont par pairs, octobre-novembre par pairs également.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d70e877be_1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6d70e877be_1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Sorte de symétrie entre les deux périodes d’une même année, juillet-août vont par pairs, octobre-novembre par pairs également.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d70e877be_1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d70e877be_1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Sorte de symétrie entre les deux périodes d’une même année, juillet-août vont par pairs, octobre-novembre par pairs également.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d70e877be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d70e877be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d70e877be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6d70e877be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Rose = Novembre, Bleu = Ao</a:t>
            </a:r>
            <a:r>
              <a:rPr lang="fr"/>
              <a:t>ût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d70e877be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6d70e877be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d70e877be_1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6d70e877be_1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d70e877be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6d70e877be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6d70e877be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6d70e877be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Début de l’année plut</a:t>
            </a:r>
            <a:r>
              <a:rPr lang="fr"/>
              <a:t>ôt côté négatif de dim 2, concentration des individus suivant les faisceaux Conductivité-Métalloïds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d70e877be_1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6d70e877be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Pour rappel : les dates et données de 2012 sont entièrement imputées. (Premières données été-automne à partir de 2019.)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d70e877be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d70e877be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variables les plus contributrices sont relativement les m</a:t>
            </a:r>
            <a:r>
              <a:rPr lang="fr"/>
              <a:t>êmes mais les individus ne sont pas répartis de la même façon autour de celles-ci. En avançant dans le temps, nous retrouvons une concentration des individus par saison.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d70e877be_1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6d70e877be_1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6d70e877be_1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6d70e877be_1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Je ne l’ai pas montré ici, mais les années 2006 à 2008 forment un arc rassemblé proche de l’origine, 4ème quartier.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Il semble y avoir des regroupements par années consécutives.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6d70e877be_1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6d70e877be_1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Entre S1 et COWG, les variables contributrices sont relativement les m</a:t>
            </a:r>
            <a:r>
              <a:rPr lang="fr"/>
              <a:t>êmes et, même en tenant compte de leur position qui diffère d’une station à l’autre, les individus semblent répartis de manière similaire autour de ces variables.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6d70e877be_1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6d70e877be_1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dimensions 2 à 5 peuvent </a:t>
            </a:r>
            <a:r>
              <a:rPr lang="fr"/>
              <a:t>être</a:t>
            </a:r>
            <a:r>
              <a:rPr lang="fr"/>
              <a:t> confondues.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d70e877be_1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6d70e877be_1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6d70e877be_1_1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6d70e877be_1_1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retrouve les petits groupes d’individus par saison mais l’intensité de contribution des variables par station n’est plus du tout la m</a:t>
            </a:r>
            <a:r>
              <a:rPr lang="fr"/>
              <a:t>ême, les axes 1 et 2 de S1 cumulent 52% contre 62% pour COWG.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6d70e877be_1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6d70e877be_1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a les données pour 2020.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6d70e877be_1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6d70e877be_1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6d70e877be_1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6d70e877be_1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 pour smoother, (+ Dates) pour Dates importantes après 2010.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6d70e877be_1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6d70e877be_1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6d70e877be_1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6d70e877be_1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courbe “COWG” est partiellement cachée par l’intervalle de prédiction. La prédiction a été induite par l’ensemble des données, il y a une répétition sur 51 périodes de 30 jours.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6d70e877be_1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6d70e877be_1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courbe bleu sans intervalle est la courbe de COWG après translation+homothétie, la prédiction a été induite par toutes les données de COWG puis a subi une translation+homothétie. L’intervalle de confiance est plus large mais la prédiction semble plus précise au point test.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6d70e877be_1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6d70e877be_1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L’imputation sur la période 2011-2019 est trop lisse mais permet une prédiction assez s</a:t>
            </a:r>
            <a:r>
              <a:rPr lang="fr"/>
              <a:t>ûre. Très très légère diminution au cours du temps.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d70e877be_1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d70e877be_1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Pas la m</a:t>
            </a:r>
            <a:r>
              <a:rPr lang="fr"/>
              <a:t>ême méthode mais cette méthode est plus précise dans ce cas.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6d70e877be_1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6d70e877be_1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6d70e877be_1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6d70e877be_1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-32850"/>
            <a:ext cx="9144000" cy="951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28030"/>
            <a:ext cx="8282400" cy="59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/>
        </p:nvSpPr>
        <p:spPr>
          <a:xfrm>
            <a:off x="411175" y="3256650"/>
            <a:ext cx="82824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500">
                <a:latin typeface="Calibri"/>
                <a:ea typeface="Calibri"/>
                <a:cs typeface="Calibri"/>
                <a:sym typeface="Calibri"/>
              </a:rPr>
              <a:t>Analyse multivariée</a:t>
            </a:r>
            <a:r>
              <a:rPr b="1" lang="fr" sz="2500">
                <a:latin typeface="Calibri"/>
                <a:ea typeface="Calibri"/>
                <a:cs typeface="Calibri"/>
                <a:sym typeface="Calibri"/>
              </a:rPr>
              <a:t>  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500">
                <a:latin typeface="Calibri"/>
                <a:ea typeface="Calibri"/>
                <a:cs typeface="Calibri"/>
                <a:sym typeface="Calibri"/>
              </a:rPr>
              <a:t>Ajustement des</a:t>
            </a:r>
            <a:r>
              <a:rPr lang="fr" sz="2500">
                <a:latin typeface="Calibri"/>
                <a:ea typeface="Calibri"/>
                <a:cs typeface="Calibri"/>
                <a:sym typeface="Calibri"/>
              </a:rPr>
              <a:t> prédictions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 txBox="1"/>
          <p:nvPr>
            <p:ph type="ctrTitle"/>
          </p:nvPr>
        </p:nvSpPr>
        <p:spPr>
          <a:xfrm>
            <a:off x="411175" y="363250"/>
            <a:ext cx="8282400" cy="86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Rapport n°5 - 16/07/2025</a:t>
            </a:r>
            <a:endParaRPr sz="5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82950" y="1225750"/>
            <a:ext cx="34197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Encadrants :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Corinne CASIOT-MAROUANI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Jonathan DUBOIS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7308025" y="1225750"/>
            <a:ext cx="223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Stagiaire :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Laura CLETZ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3">
            <a:alphaModFix/>
          </a:blip>
          <a:srcRect b="0" l="0" r="62271" t="0"/>
          <a:stretch/>
        </p:blipFill>
        <p:spPr>
          <a:xfrm>
            <a:off x="4176550" y="1506800"/>
            <a:ext cx="790901" cy="7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462" y="2080125"/>
            <a:ext cx="1474875" cy="98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9575" y="2250200"/>
            <a:ext cx="1687860" cy="8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/>
        </p:nvSpPr>
        <p:spPr>
          <a:xfrm>
            <a:off x="356400" y="88375"/>
            <a:ext cx="843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Analyse Factorielle Multiple - S1 (2004-2010)</a:t>
            </a:r>
            <a:endParaRPr/>
          </a:p>
        </p:txBody>
      </p:sp>
      <p:pic>
        <p:nvPicPr>
          <p:cNvPr id="74" name="Google Shape;74;p14" title="Capture d’écran 2025-07-07 à 10.45.11.png"/>
          <p:cNvPicPr preferRelativeResize="0"/>
          <p:nvPr/>
        </p:nvPicPr>
        <p:blipFill rotWithShape="1">
          <a:blip r:embed="rId3">
            <a:alphaModFix/>
          </a:blip>
          <a:srcRect b="0" l="0" r="19891" t="0"/>
          <a:stretch/>
        </p:blipFill>
        <p:spPr>
          <a:xfrm>
            <a:off x="0" y="910600"/>
            <a:ext cx="4286248" cy="423289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5184100" y="1361375"/>
            <a:ext cx="3903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Contributions 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1 : </a:t>
            </a:r>
            <a:r>
              <a:rPr lang="fr"/>
              <a:t>Conductivité, Arsenic, Zinc, Fer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2 : Pluie à t, pH, O2, Plomb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3 : Pluie à t-1, Température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4 : pH, O2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5 : Pluie à t, Pluie à t-1, Sulfate, Fer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Nous gardons les dimensions 1, 2, 3.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</a:t>
            </a:r>
            <a:r>
              <a:rPr lang="fr" sz="3600">
                <a:latin typeface="Oswald"/>
                <a:ea typeface="Oswald"/>
                <a:cs typeface="Oswald"/>
                <a:sym typeface="Oswald"/>
              </a:rPr>
              <a:t> - Axes 1 et 2</a:t>
            </a:r>
            <a:endParaRPr/>
          </a:p>
        </p:txBody>
      </p:sp>
      <p:pic>
        <p:nvPicPr>
          <p:cNvPr id="81" name="Google Shape;81;p15" title="Capture d’écran 2025-07-07 à 10.36.59.png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0" y="914725"/>
            <a:ext cx="3925898" cy="42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Capture d’écran 2025-07-07 à 10.36.59.png"/>
          <p:cNvPicPr preferRelativeResize="0"/>
          <p:nvPr/>
        </p:nvPicPr>
        <p:blipFill rotWithShape="1">
          <a:blip r:embed="rId3">
            <a:alphaModFix/>
          </a:blip>
          <a:srcRect b="0" l="51725" r="0" t="0"/>
          <a:stretch/>
        </p:blipFill>
        <p:spPr>
          <a:xfrm>
            <a:off x="3990200" y="914725"/>
            <a:ext cx="5153802" cy="422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/>
          <p:nvPr/>
        </p:nvCxnSpPr>
        <p:spPr>
          <a:xfrm rot="10800000">
            <a:off x="5847950" y="2603100"/>
            <a:ext cx="878400" cy="20838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/>
          <p:nvPr/>
        </p:nvCxnSpPr>
        <p:spPr>
          <a:xfrm flipH="1" rot="10800000">
            <a:off x="5365625" y="3099475"/>
            <a:ext cx="2162100" cy="9222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/>
          <p:nvPr/>
        </p:nvCxnSpPr>
        <p:spPr>
          <a:xfrm flipH="1" rot="10800000">
            <a:off x="5384900" y="2788650"/>
            <a:ext cx="1719000" cy="17745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>
            <a:off x="4840775" y="3149075"/>
            <a:ext cx="2731200" cy="872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/>
          <p:nvPr/>
        </p:nvCxnSpPr>
        <p:spPr>
          <a:xfrm flipH="1" rot="10800000">
            <a:off x="4928250" y="3502875"/>
            <a:ext cx="2750700" cy="2391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5"/>
          <p:cNvCxnSpPr/>
          <p:nvPr/>
        </p:nvCxnSpPr>
        <p:spPr>
          <a:xfrm>
            <a:off x="6169600" y="2476500"/>
            <a:ext cx="217800" cy="2172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556950" y="0"/>
            <a:ext cx="80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</a:t>
            </a:r>
            <a:endParaRPr/>
          </a:p>
        </p:txBody>
      </p:sp>
      <p:pic>
        <p:nvPicPr>
          <p:cNvPr id="94" name="Google Shape;94;p16" title="Capture d’écran 2025-07-09 à 16.13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953"/>
            <a:ext cx="9144003" cy="45005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6"/>
          <p:cNvCxnSpPr/>
          <p:nvPr/>
        </p:nvCxnSpPr>
        <p:spPr>
          <a:xfrm rot="10800000">
            <a:off x="3195150" y="1694450"/>
            <a:ext cx="2251200" cy="3434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6"/>
          <p:cNvCxnSpPr/>
          <p:nvPr/>
        </p:nvCxnSpPr>
        <p:spPr>
          <a:xfrm flipH="1" rot="10800000">
            <a:off x="1806075" y="2355675"/>
            <a:ext cx="6601200" cy="1812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6"/>
          <p:cNvCxnSpPr/>
          <p:nvPr/>
        </p:nvCxnSpPr>
        <p:spPr>
          <a:xfrm flipH="1" rot="10800000">
            <a:off x="2759800" y="2196775"/>
            <a:ext cx="3531000" cy="2333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6"/>
          <p:cNvCxnSpPr/>
          <p:nvPr/>
        </p:nvCxnSpPr>
        <p:spPr>
          <a:xfrm>
            <a:off x="2090130" y="2991100"/>
            <a:ext cx="6317400" cy="12960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6"/>
          <p:cNvCxnSpPr/>
          <p:nvPr/>
        </p:nvCxnSpPr>
        <p:spPr>
          <a:xfrm flipH="1" rot="10800000">
            <a:off x="1550875" y="3255125"/>
            <a:ext cx="6671400" cy="371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6"/>
          <p:cNvCxnSpPr/>
          <p:nvPr/>
        </p:nvCxnSpPr>
        <p:spPr>
          <a:xfrm>
            <a:off x="3988875" y="1098800"/>
            <a:ext cx="582000" cy="3744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6"/>
          <p:cNvSpPr txBox="1"/>
          <p:nvPr/>
        </p:nvSpPr>
        <p:spPr>
          <a:xfrm>
            <a:off x="2665975" y="14476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471775" y="46911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994425" y="190166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7526925" y="2772100"/>
            <a:ext cx="139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7711250" y="429667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06" name="Google Shape;106;p16"/>
          <p:cNvCxnSpPr/>
          <p:nvPr/>
        </p:nvCxnSpPr>
        <p:spPr>
          <a:xfrm flipH="1">
            <a:off x="6572750" y="3926975"/>
            <a:ext cx="66900" cy="334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6496550" y="3360625"/>
            <a:ext cx="68400" cy="9231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/>
          <p:nvPr/>
        </p:nvCxnSpPr>
        <p:spPr>
          <a:xfrm flipH="1">
            <a:off x="5373025" y="4278925"/>
            <a:ext cx="1191900" cy="7473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6"/>
          <p:cNvCxnSpPr/>
          <p:nvPr/>
        </p:nvCxnSpPr>
        <p:spPr>
          <a:xfrm flipH="1">
            <a:off x="4552525" y="4278925"/>
            <a:ext cx="2012400" cy="410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6"/>
          <p:cNvCxnSpPr/>
          <p:nvPr/>
        </p:nvCxnSpPr>
        <p:spPr>
          <a:xfrm rot="10800000">
            <a:off x="6237625" y="2960125"/>
            <a:ext cx="327300" cy="13188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6"/>
          <p:cNvCxnSpPr/>
          <p:nvPr/>
        </p:nvCxnSpPr>
        <p:spPr>
          <a:xfrm>
            <a:off x="5953175" y="3094725"/>
            <a:ext cx="21000" cy="2868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6"/>
          <p:cNvCxnSpPr/>
          <p:nvPr/>
        </p:nvCxnSpPr>
        <p:spPr>
          <a:xfrm>
            <a:off x="5936300" y="3040300"/>
            <a:ext cx="19500" cy="546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6"/>
          <p:cNvCxnSpPr/>
          <p:nvPr/>
        </p:nvCxnSpPr>
        <p:spPr>
          <a:xfrm rot="10800000">
            <a:off x="5629125" y="2650725"/>
            <a:ext cx="327900" cy="441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6"/>
          <p:cNvCxnSpPr/>
          <p:nvPr/>
        </p:nvCxnSpPr>
        <p:spPr>
          <a:xfrm flipH="1">
            <a:off x="5843925" y="3083925"/>
            <a:ext cx="105300" cy="679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6"/>
          <p:cNvCxnSpPr/>
          <p:nvPr/>
        </p:nvCxnSpPr>
        <p:spPr>
          <a:xfrm flipH="1" rot="10800000">
            <a:off x="4657100" y="3087700"/>
            <a:ext cx="1303800" cy="839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6"/>
          <p:cNvCxnSpPr/>
          <p:nvPr/>
        </p:nvCxnSpPr>
        <p:spPr>
          <a:xfrm flipH="1" rot="10800000">
            <a:off x="4368225" y="3091850"/>
            <a:ext cx="1592700" cy="441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6"/>
          <p:cNvCxnSpPr/>
          <p:nvPr/>
        </p:nvCxnSpPr>
        <p:spPr>
          <a:xfrm rot="10800000">
            <a:off x="7315375" y="3303275"/>
            <a:ext cx="70500" cy="952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6"/>
          <p:cNvCxnSpPr/>
          <p:nvPr/>
        </p:nvCxnSpPr>
        <p:spPr>
          <a:xfrm flipH="1" rot="10800000">
            <a:off x="7379475" y="4082500"/>
            <a:ext cx="28800" cy="179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6"/>
          <p:cNvCxnSpPr/>
          <p:nvPr/>
        </p:nvCxnSpPr>
        <p:spPr>
          <a:xfrm flipH="1">
            <a:off x="6110975" y="4259000"/>
            <a:ext cx="1271700" cy="880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6"/>
          <p:cNvCxnSpPr/>
          <p:nvPr/>
        </p:nvCxnSpPr>
        <p:spPr>
          <a:xfrm flipH="1" rot="10800000">
            <a:off x="4631350" y="4265725"/>
            <a:ext cx="2754000" cy="565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6"/>
          <p:cNvCxnSpPr/>
          <p:nvPr/>
        </p:nvCxnSpPr>
        <p:spPr>
          <a:xfrm>
            <a:off x="6964300" y="2760875"/>
            <a:ext cx="420900" cy="1504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 rot="10800000">
            <a:off x="7262825" y="2985300"/>
            <a:ext cx="20700" cy="331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6"/>
          <p:cNvCxnSpPr/>
          <p:nvPr/>
        </p:nvCxnSpPr>
        <p:spPr>
          <a:xfrm flipH="1" rot="10800000">
            <a:off x="7083350" y="2991975"/>
            <a:ext cx="176100" cy="1025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6"/>
          <p:cNvCxnSpPr/>
          <p:nvPr/>
        </p:nvCxnSpPr>
        <p:spPr>
          <a:xfrm>
            <a:off x="7181450" y="2699900"/>
            <a:ext cx="82200" cy="287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6"/>
          <p:cNvCxnSpPr/>
          <p:nvPr/>
        </p:nvCxnSpPr>
        <p:spPr>
          <a:xfrm>
            <a:off x="6482475" y="2185950"/>
            <a:ext cx="777600" cy="798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6"/>
          <p:cNvCxnSpPr/>
          <p:nvPr/>
        </p:nvCxnSpPr>
        <p:spPr>
          <a:xfrm flipH="1" rot="10800000">
            <a:off x="5032150" y="2987900"/>
            <a:ext cx="2231400" cy="1483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6"/>
          <p:cNvCxnSpPr/>
          <p:nvPr/>
        </p:nvCxnSpPr>
        <p:spPr>
          <a:xfrm flipH="1" rot="10800000">
            <a:off x="4397150" y="2983800"/>
            <a:ext cx="2870700" cy="7479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6"/>
          <p:cNvCxnSpPr/>
          <p:nvPr/>
        </p:nvCxnSpPr>
        <p:spPr>
          <a:xfrm flipH="1">
            <a:off x="3529200" y="2809225"/>
            <a:ext cx="114000" cy="478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6"/>
          <p:cNvCxnSpPr/>
          <p:nvPr/>
        </p:nvCxnSpPr>
        <p:spPr>
          <a:xfrm flipH="1" rot="10800000">
            <a:off x="3643200" y="2681900"/>
            <a:ext cx="193200" cy="1317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6"/>
          <p:cNvCxnSpPr/>
          <p:nvPr/>
        </p:nvCxnSpPr>
        <p:spPr>
          <a:xfrm>
            <a:off x="3647600" y="2818000"/>
            <a:ext cx="52800" cy="6891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6"/>
          <p:cNvCxnSpPr/>
          <p:nvPr/>
        </p:nvCxnSpPr>
        <p:spPr>
          <a:xfrm>
            <a:off x="3643200" y="2813600"/>
            <a:ext cx="250200" cy="7902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6"/>
          <p:cNvCxnSpPr/>
          <p:nvPr/>
        </p:nvCxnSpPr>
        <p:spPr>
          <a:xfrm flipH="1" rot="10800000">
            <a:off x="3643200" y="2703875"/>
            <a:ext cx="588300" cy="118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6"/>
          <p:cNvCxnSpPr/>
          <p:nvPr/>
        </p:nvCxnSpPr>
        <p:spPr>
          <a:xfrm>
            <a:off x="3643200" y="2826775"/>
            <a:ext cx="575100" cy="7506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6"/>
          <p:cNvCxnSpPr/>
          <p:nvPr/>
        </p:nvCxnSpPr>
        <p:spPr>
          <a:xfrm rot="10800000">
            <a:off x="6053100" y="2365725"/>
            <a:ext cx="162300" cy="2328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6"/>
          <p:cNvCxnSpPr/>
          <p:nvPr/>
        </p:nvCxnSpPr>
        <p:spPr>
          <a:xfrm rot="10800000">
            <a:off x="6215400" y="2612888"/>
            <a:ext cx="114000" cy="3159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6"/>
          <p:cNvCxnSpPr/>
          <p:nvPr/>
        </p:nvCxnSpPr>
        <p:spPr>
          <a:xfrm rot="10800000">
            <a:off x="6215450" y="2603175"/>
            <a:ext cx="57000" cy="763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6"/>
          <p:cNvCxnSpPr/>
          <p:nvPr/>
        </p:nvCxnSpPr>
        <p:spPr>
          <a:xfrm flipH="1" rot="10800000">
            <a:off x="4301625" y="2598425"/>
            <a:ext cx="1914000" cy="4680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6"/>
          <p:cNvCxnSpPr/>
          <p:nvPr/>
        </p:nvCxnSpPr>
        <p:spPr>
          <a:xfrm flipH="1" rot="10800000">
            <a:off x="4464025" y="2594125"/>
            <a:ext cx="1751400" cy="10359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6"/>
          <p:cNvCxnSpPr/>
          <p:nvPr/>
        </p:nvCxnSpPr>
        <p:spPr>
          <a:xfrm flipH="1" rot="10800000">
            <a:off x="6022250" y="2598400"/>
            <a:ext cx="193200" cy="12072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/>
          <p:nvPr/>
        </p:nvCxnSpPr>
        <p:spPr>
          <a:xfrm flipH="1" rot="10800000">
            <a:off x="4161150" y="2076200"/>
            <a:ext cx="632100" cy="83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/>
          <p:nvPr/>
        </p:nvCxnSpPr>
        <p:spPr>
          <a:xfrm flipH="1" rot="10800000">
            <a:off x="3862675" y="2080850"/>
            <a:ext cx="930600" cy="631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6"/>
          <p:cNvCxnSpPr/>
          <p:nvPr/>
        </p:nvCxnSpPr>
        <p:spPr>
          <a:xfrm>
            <a:off x="4788825" y="2076175"/>
            <a:ext cx="570600" cy="728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/>
          <p:nvPr/>
        </p:nvCxnSpPr>
        <p:spPr>
          <a:xfrm rot="10800000">
            <a:off x="4793200" y="2076225"/>
            <a:ext cx="298500" cy="1189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6"/>
          <p:cNvCxnSpPr/>
          <p:nvPr/>
        </p:nvCxnSpPr>
        <p:spPr>
          <a:xfrm rot="10800000">
            <a:off x="4797900" y="2080600"/>
            <a:ext cx="131400" cy="1356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/>
          <p:nvPr/>
        </p:nvCxnSpPr>
        <p:spPr>
          <a:xfrm flipH="1" rot="10800000">
            <a:off x="4385000" y="2076325"/>
            <a:ext cx="408300" cy="1386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6"/>
          <p:cNvCxnSpPr/>
          <p:nvPr/>
        </p:nvCxnSpPr>
        <p:spPr>
          <a:xfrm flipH="1">
            <a:off x="3261375" y="2343950"/>
            <a:ext cx="355500" cy="224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6"/>
          <p:cNvCxnSpPr/>
          <p:nvPr/>
        </p:nvCxnSpPr>
        <p:spPr>
          <a:xfrm flipH="1">
            <a:off x="3098825" y="2567800"/>
            <a:ext cx="158100" cy="627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6"/>
          <p:cNvCxnSpPr/>
          <p:nvPr/>
        </p:nvCxnSpPr>
        <p:spPr>
          <a:xfrm flipH="1" rot="10800000">
            <a:off x="3261325" y="2370300"/>
            <a:ext cx="921900" cy="201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6"/>
          <p:cNvCxnSpPr/>
          <p:nvPr/>
        </p:nvCxnSpPr>
        <p:spPr>
          <a:xfrm>
            <a:off x="3265725" y="2567800"/>
            <a:ext cx="70200" cy="961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6"/>
          <p:cNvCxnSpPr/>
          <p:nvPr/>
        </p:nvCxnSpPr>
        <p:spPr>
          <a:xfrm>
            <a:off x="3261325" y="2567800"/>
            <a:ext cx="298500" cy="1123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/>
        </p:nvSpPr>
        <p:spPr>
          <a:xfrm>
            <a:off x="556950" y="0"/>
            <a:ext cx="80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2 - Zoom 2005</a:t>
            </a:r>
            <a:endParaRPr/>
          </a:p>
        </p:txBody>
      </p:sp>
      <p:pic>
        <p:nvPicPr>
          <p:cNvPr id="156" name="Google Shape;156;p17" title="Capture d’écran 2025-07-09 à 16.13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953"/>
            <a:ext cx="9144003" cy="45005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/>
          <p:nvPr/>
        </p:nvCxnSpPr>
        <p:spPr>
          <a:xfrm rot="10800000">
            <a:off x="3195150" y="1694450"/>
            <a:ext cx="2251200" cy="3434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7"/>
          <p:cNvCxnSpPr/>
          <p:nvPr/>
        </p:nvCxnSpPr>
        <p:spPr>
          <a:xfrm flipH="1" rot="10800000">
            <a:off x="1806075" y="2355675"/>
            <a:ext cx="6601200" cy="1812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7"/>
          <p:cNvCxnSpPr/>
          <p:nvPr/>
        </p:nvCxnSpPr>
        <p:spPr>
          <a:xfrm flipH="1" rot="10800000">
            <a:off x="2759800" y="2196775"/>
            <a:ext cx="3531000" cy="2333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7"/>
          <p:cNvCxnSpPr/>
          <p:nvPr/>
        </p:nvCxnSpPr>
        <p:spPr>
          <a:xfrm>
            <a:off x="2090130" y="2991100"/>
            <a:ext cx="6317400" cy="12960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17"/>
          <p:cNvCxnSpPr/>
          <p:nvPr/>
        </p:nvCxnSpPr>
        <p:spPr>
          <a:xfrm flipH="1" rot="10800000">
            <a:off x="1550875" y="3255125"/>
            <a:ext cx="6671400" cy="371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3988875" y="1098800"/>
            <a:ext cx="582000" cy="3744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" name="Google Shape;163;p17"/>
          <p:cNvSpPr txBox="1"/>
          <p:nvPr/>
        </p:nvSpPr>
        <p:spPr>
          <a:xfrm>
            <a:off x="2665975" y="14476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4471775" y="46911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994425" y="190166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161250" y="299111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7711250" y="429667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68" name="Google Shape;168;p17"/>
          <p:cNvCxnSpPr/>
          <p:nvPr/>
        </p:nvCxnSpPr>
        <p:spPr>
          <a:xfrm flipH="1">
            <a:off x="6572750" y="3926975"/>
            <a:ext cx="66900" cy="334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7"/>
          <p:cNvCxnSpPr/>
          <p:nvPr/>
        </p:nvCxnSpPr>
        <p:spPr>
          <a:xfrm>
            <a:off x="6496550" y="3360625"/>
            <a:ext cx="68400" cy="9231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7"/>
          <p:cNvCxnSpPr/>
          <p:nvPr/>
        </p:nvCxnSpPr>
        <p:spPr>
          <a:xfrm flipH="1">
            <a:off x="5373025" y="4278925"/>
            <a:ext cx="1191900" cy="7473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7"/>
          <p:cNvCxnSpPr/>
          <p:nvPr/>
        </p:nvCxnSpPr>
        <p:spPr>
          <a:xfrm flipH="1">
            <a:off x="4552525" y="4278925"/>
            <a:ext cx="2012400" cy="410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7"/>
          <p:cNvCxnSpPr/>
          <p:nvPr/>
        </p:nvCxnSpPr>
        <p:spPr>
          <a:xfrm rot="10800000">
            <a:off x="6237625" y="2960125"/>
            <a:ext cx="327300" cy="13188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7"/>
          <p:cNvCxnSpPr/>
          <p:nvPr/>
        </p:nvCxnSpPr>
        <p:spPr>
          <a:xfrm>
            <a:off x="5936300" y="3040300"/>
            <a:ext cx="19500" cy="546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7"/>
          <p:cNvCxnSpPr/>
          <p:nvPr/>
        </p:nvCxnSpPr>
        <p:spPr>
          <a:xfrm rot="10800000">
            <a:off x="7315375" y="3303275"/>
            <a:ext cx="70500" cy="952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/>
          <p:nvPr/>
        </p:nvCxnSpPr>
        <p:spPr>
          <a:xfrm flipH="1" rot="10800000">
            <a:off x="7379475" y="4082500"/>
            <a:ext cx="28800" cy="179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/>
          <p:nvPr/>
        </p:nvCxnSpPr>
        <p:spPr>
          <a:xfrm flipH="1">
            <a:off x="6110975" y="4259000"/>
            <a:ext cx="1271700" cy="880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/>
          <p:nvPr/>
        </p:nvCxnSpPr>
        <p:spPr>
          <a:xfrm flipH="1" rot="10800000">
            <a:off x="4631350" y="4265725"/>
            <a:ext cx="2754000" cy="565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7"/>
          <p:cNvCxnSpPr/>
          <p:nvPr/>
        </p:nvCxnSpPr>
        <p:spPr>
          <a:xfrm>
            <a:off x="6964300" y="2760875"/>
            <a:ext cx="420900" cy="1504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7"/>
          <p:cNvCxnSpPr/>
          <p:nvPr/>
        </p:nvCxnSpPr>
        <p:spPr>
          <a:xfrm flipH="1">
            <a:off x="3529200" y="2809225"/>
            <a:ext cx="114000" cy="478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/>
          <p:nvPr/>
        </p:nvCxnSpPr>
        <p:spPr>
          <a:xfrm flipH="1" rot="10800000">
            <a:off x="3643200" y="2681900"/>
            <a:ext cx="193200" cy="1317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7"/>
          <p:cNvCxnSpPr/>
          <p:nvPr/>
        </p:nvCxnSpPr>
        <p:spPr>
          <a:xfrm>
            <a:off x="3647600" y="2818000"/>
            <a:ext cx="52800" cy="6891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7"/>
          <p:cNvCxnSpPr/>
          <p:nvPr/>
        </p:nvCxnSpPr>
        <p:spPr>
          <a:xfrm>
            <a:off x="3643200" y="2813600"/>
            <a:ext cx="250200" cy="7902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7"/>
          <p:cNvCxnSpPr/>
          <p:nvPr/>
        </p:nvCxnSpPr>
        <p:spPr>
          <a:xfrm flipH="1" rot="10800000">
            <a:off x="3643200" y="2703875"/>
            <a:ext cx="588300" cy="118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7"/>
          <p:cNvCxnSpPr/>
          <p:nvPr/>
        </p:nvCxnSpPr>
        <p:spPr>
          <a:xfrm>
            <a:off x="3643200" y="2826775"/>
            <a:ext cx="575100" cy="7506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7"/>
          <p:cNvCxnSpPr/>
          <p:nvPr/>
        </p:nvCxnSpPr>
        <p:spPr>
          <a:xfrm flipH="1">
            <a:off x="3261375" y="2343950"/>
            <a:ext cx="355500" cy="224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7"/>
          <p:cNvCxnSpPr/>
          <p:nvPr/>
        </p:nvCxnSpPr>
        <p:spPr>
          <a:xfrm flipH="1">
            <a:off x="3098825" y="2567800"/>
            <a:ext cx="158100" cy="627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7"/>
          <p:cNvCxnSpPr/>
          <p:nvPr/>
        </p:nvCxnSpPr>
        <p:spPr>
          <a:xfrm flipH="1" rot="10800000">
            <a:off x="3261325" y="2370300"/>
            <a:ext cx="921900" cy="201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7"/>
          <p:cNvCxnSpPr/>
          <p:nvPr/>
        </p:nvCxnSpPr>
        <p:spPr>
          <a:xfrm>
            <a:off x="3265725" y="2567800"/>
            <a:ext cx="70200" cy="961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7"/>
          <p:cNvCxnSpPr/>
          <p:nvPr/>
        </p:nvCxnSpPr>
        <p:spPr>
          <a:xfrm>
            <a:off x="3261325" y="2567800"/>
            <a:ext cx="298500" cy="1123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7"/>
          <p:cNvSpPr txBox="1"/>
          <p:nvPr/>
        </p:nvSpPr>
        <p:spPr>
          <a:xfrm>
            <a:off x="3749375" y="84317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/>
          <p:nvPr/>
        </p:nvSpPr>
        <p:spPr>
          <a:xfrm>
            <a:off x="556950" y="0"/>
            <a:ext cx="80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2 - Zoom 2010</a:t>
            </a:r>
            <a:endParaRPr/>
          </a:p>
        </p:txBody>
      </p:sp>
      <p:pic>
        <p:nvPicPr>
          <p:cNvPr id="196" name="Google Shape;196;p18" title="Capture d’écran 2025-07-09 à 16.13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953"/>
            <a:ext cx="9144003" cy="45005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18"/>
          <p:cNvCxnSpPr/>
          <p:nvPr/>
        </p:nvCxnSpPr>
        <p:spPr>
          <a:xfrm rot="10800000">
            <a:off x="3195150" y="1694450"/>
            <a:ext cx="2251200" cy="3434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8"/>
          <p:cNvCxnSpPr/>
          <p:nvPr/>
        </p:nvCxnSpPr>
        <p:spPr>
          <a:xfrm flipH="1" rot="10800000">
            <a:off x="1806075" y="2355675"/>
            <a:ext cx="6601200" cy="1812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18"/>
          <p:cNvCxnSpPr/>
          <p:nvPr/>
        </p:nvCxnSpPr>
        <p:spPr>
          <a:xfrm flipH="1" rot="10800000">
            <a:off x="2759800" y="2196775"/>
            <a:ext cx="3531000" cy="2333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8"/>
          <p:cNvCxnSpPr/>
          <p:nvPr/>
        </p:nvCxnSpPr>
        <p:spPr>
          <a:xfrm>
            <a:off x="2090130" y="2991100"/>
            <a:ext cx="6317400" cy="12960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18"/>
          <p:cNvCxnSpPr/>
          <p:nvPr/>
        </p:nvCxnSpPr>
        <p:spPr>
          <a:xfrm flipH="1" rot="10800000">
            <a:off x="1550875" y="3255125"/>
            <a:ext cx="6671400" cy="371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18"/>
          <p:cNvCxnSpPr/>
          <p:nvPr/>
        </p:nvCxnSpPr>
        <p:spPr>
          <a:xfrm>
            <a:off x="3988875" y="1098800"/>
            <a:ext cx="582000" cy="3744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18"/>
          <p:cNvSpPr txBox="1"/>
          <p:nvPr/>
        </p:nvSpPr>
        <p:spPr>
          <a:xfrm>
            <a:off x="2665975" y="14476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4471775" y="46911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5994425" y="190166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8161250" y="299111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7711250" y="429667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08" name="Google Shape;208;p18"/>
          <p:cNvCxnSpPr/>
          <p:nvPr/>
        </p:nvCxnSpPr>
        <p:spPr>
          <a:xfrm>
            <a:off x="5953175" y="3094725"/>
            <a:ext cx="21000" cy="2868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8"/>
          <p:cNvCxnSpPr/>
          <p:nvPr/>
        </p:nvCxnSpPr>
        <p:spPr>
          <a:xfrm>
            <a:off x="5936300" y="3040300"/>
            <a:ext cx="19500" cy="546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8"/>
          <p:cNvCxnSpPr/>
          <p:nvPr/>
        </p:nvCxnSpPr>
        <p:spPr>
          <a:xfrm rot="10800000">
            <a:off x="5629125" y="2650725"/>
            <a:ext cx="327900" cy="441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8"/>
          <p:cNvCxnSpPr/>
          <p:nvPr/>
        </p:nvCxnSpPr>
        <p:spPr>
          <a:xfrm flipH="1">
            <a:off x="5843925" y="3083925"/>
            <a:ext cx="105300" cy="679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18"/>
          <p:cNvCxnSpPr/>
          <p:nvPr/>
        </p:nvCxnSpPr>
        <p:spPr>
          <a:xfrm flipH="1" rot="10800000">
            <a:off x="4657100" y="3087700"/>
            <a:ext cx="1303800" cy="839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18"/>
          <p:cNvCxnSpPr/>
          <p:nvPr/>
        </p:nvCxnSpPr>
        <p:spPr>
          <a:xfrm flipH="1" rot="10800000">
            <a:off x="4368225" y="3091850"/>
            <a:ext cx="1592700" cy="441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18"/>
          <p:cNvCxnSpPr/>
          <p:nvPr/>
        </p:nvCxnSpPr>
        <p:spPr>
          <a:xfrm rot="10800000">
            <a:off x="7262825" y="2985300"/>
            <a:ext cx="20700" cy="331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18"/>
          <p:cNvCxnSpPr/>
          <p:nvPr/>
        </p:nvCxnSpPr>
        <p:spPr>
          <a:xfrm flipH="1" rot="10800000">
            <a:off x="7083350" y="2991975"/>
            <a:ext cx="176100" cy="1025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18"/>
          <p:cNvCxnSpPr/>
          <p:nvPr/>
        </p:nvCxnSpPr>
        <p:spPr>
          <a:xfrm>
            <a:off x="7181450" y="2699900"/>
            <a:ext cx="82200" cy="287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8"/>
          <p:cNvCxnSpPr/>
          <p:nvPr/>
        </p:nvCxnSpPr>
        <p:spPr>
          <a:xfrm>
            <a:off x="6482475" y="2185950"/>
            <a:ext cx="777600" cy="798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8"/>
          <p:cNvCxnSpPr/>
          <p:nvPr/>
        </p:nvCxnSpPr>
        <p:spPr>
          <a:xfrm flipH="1" rot="10800000">
            <a:off x="5032150" y="2987900"/>
            <a:ext cx="2231400" cy="1483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8"/>
          <p:cNvCxnSpPr/>
          <p:nvPr/>
        </p:nvCxnSpPr>
        <p:spPr>
          <a:xfrm flipH="1" rot="10800000">
            <a:off x="4397150" y="2983800"/>
            <a:ext cx="2870700" cy="7479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8"/>
          <p:cNvCxnSpPr/>
          <p:nvPr/>
        </p:nvCxnSpPr>
        <p:spPr>
          <a:xfrm rot="10800000">
            <a:off x="6053100" y="2365725"/>
            <a:ext cx="162300" cy="2328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8"/>
          <p:cNvCxnSpPr/>
          <p:nvPr/>
        </p:nvCxnSpPr>
        <p:spPr>
          <a:xfrm rot="10800000">
            <a:off x="6215400" y="2612888"/>
            <a:ext cx="114000" cy="3159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18"/>
          <p:cNvCxnSpPr/>
          <p:nvPr/>
        </p:nvCxnSpPr>
        <p:spPr>
          <a:xfrm rot="10800000">
            <a:off x="6215450" y="2603175"/>
            <a:ext cx="57000" cy="763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8"/>
          <p:cNvCxnSpPr/>
          <p:nvPr/>
        </p:nvCxnSpPr>
        <p:spPr>
          <a:xfrm flipH="1" rot="10800000">
            <a:off x="4313900" y="2598425"/>
            <a:ext cx="1901700" cy="4926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18"/>
          <p:cNvCxnSpPr/>
          <p:nvPr/>
        </p:nvCxnSpPr>
        <p:spPr>
          <a:xfrm flipH="1" rot="10800000">
            <a:off x="4464025" y="2594125"/>
            <a:ext cx="1751400" cy="10359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8"/>
          <p:cNvCxnSpPr/>
          <p:nvPr/>
        </p:nvCxnSpPr>
        <p:spPr>
          <a:xfrm flipH="1" rot="10800000">
            <a:off x="6022250" y="2598400"/>
            <a:ext cx="193200" cy="12072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18"/>
          <p:cNvCxnSpPr/>
          <p:nvPr/>
        </p:nvCxnSpPr>
        <p:spPr>
          <a:xfrm flipH="1" rot="10800000">
            <a:off x="4161150" y="2076200"/>
            <a:ext cx="632100" cy="83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18"/>
          <p:cNvCxnSpPr/>
          <p:nvPr/>
        </p:nvCxnSpPr>
        <p:spPr>
          <a:xfrm flipH="1" rot="10800000">
            <a:off x="3862675" y="2080850"/>
            <a:ext cx="930600" cy="631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18"/>
          <p:cNvCxnSpPr/>
          <p:nvPr/>
        </p:nvCxnSpPr>
        <p:spPr>
          <a:xfrm>
            <a:off x="4788825" y="2076175"/>
            <a:ext cx="570600" cy="728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18"/>
          <p:cNvCxnSpPr/>
          <p:nvPr/>
        </p:nvCxnSpPr>
        <p:spPr>
          <a:xfrm rot="10800000">
            <a:off x="4793200" y="2076225"/>
            <a:ext cx="298500" cy="1189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18"/>
          <p:cNvCxnSpPr/>
          <p:nvPr/>
        </p:nvCxnSpPr>
        <p:spPr>
          <a:xfrm rot="10800000">
            <a:off x="4797900" y="2080600"/>
            <a:ext cx="131400" cy="1356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18"/>
          <p:cNvCxnSpPr/>
          <p:nvPr/>
        </p:nvCxnSpPr>
        <p:spPr>
          <a:xfrm flipH="1" rot="10800000">
            <a:off x="4385000" y="2076325"/>
            <a:ext cx="408300" cy="1386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/>
        </p:nvSpPr>
        <p:spPr>
          <a:xfrm>
            <a:off x="556950" y="0"/>
            <a:ext cx="80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2 - Zoom Été</a:t>
            </a:r>
            <a:endParaRPr/>
          </a:p>
        </p:txBody>
      </p:sp>
      <p:pic>
        <p:nvPicPr>
          <p:cNvPr id="237" name="Google Shape;237;p19" title="Capture d’écran 2025-07-09 à 16.13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953"/>
            <a:ext cx="9144003" cy="45005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19"/>
          <p:cNvCxnSpPr/>
          <p:nvPr/>
        </p:nvCxnSpPr>
        <p:spPr>
          <a:xfrm rot="10800000">
            <a:off x="3195150" y="1694450"/>
            <a:ext cx="2251200" cy="3434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19"/>
          <p:cNvCxnSpPr/>
          <p:nvPr/>
        </p:nvCxnSpPr>
        <p:spPr>
          <a:xfrm flipH="1" rot="10800000">
            <a:off x="1806075" y="2355675"/>
            <a:ext cx="6601200" cy="1812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19"/>
          <p:cNvCxnSpPr/>
          <p:nvPr/>
        </p:nvCxnSpPr>
        <p:spPr>
          <a:xfrm flipH="1" rot="10800000">
            <a:off x="2759800" y="2196775"/>
            <a:ext cx="3531000" cy="2333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19"/>
          <p:cNvCxnSpPr/>
          <p:nvPr/>
        </p:nvCxnSpPr>
        <p:spPr>
          <a:xfrm>
            <a:off x="2090130" y="2991100"/>
            <a:ext cx="6317400" cy="12960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19"/>
          <p:cNvCxnSpPr/>
          <p:nvPr/>
        </p:nvCxnSpPr>
        <p:spPr>
          <a:xfrm flipH="1" rot="10800000">
            <a:off x="1550875" y="3255125"/>
            <a:ext cx="6671400" cy="371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19"/>
          <p:cNvCxnSpPr/>
          <p:nvPr/>
        </p:nvCxnSpPr>
        <p:spPr>
          <a:xfrm>
            <a:off x="3988875" y="1098800"/>
            <a:ext cx="582000" cy="3744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4" name="Google Shape;244;p19"/>
          <p:cNvSpPr txBox="1"/>
          <p:nvPr/>
        </p:nvSpPr>
        <p:spPr>
          <a:xfrm>
            <a:off x="2665975" y="14476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4471775" y="46911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5994425" y="190166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8161250" y="299111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7711250" y="429667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49" name="Google Shape;249;p19"/>
          <p:cNvCxnSpPr/>
          <p:nvPr/>
        </p:nvCxnSpPr>
        <p:spPr>
          <a:xfrm flipH="1">
            <a:off x="6572750" y="3926975"/>
            <a:ext cx="66900" cy="334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19"/>
          <p:cNvCxnSpPr/>
          <p:nvPr/>
        </p:nvCxnSpPr>
        <p:spPr>
          <a:xfrm>
            <a:off x="6496550" y="3360625"/>
            <a:ext cx="68400" cy="9231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9"/>
          <p:cNvCxnSpPr/>
          <p:nvPr/>
        </p:nvCxnSpPr>
        <p:spPr>
          <a:xfrm flipH="1">
            <a:off x="5373025" y="4278925"/>
            <a:ext cx="1191900" cy="7473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19"/>
          <p:cNvCxnSpPr/>
          <p:nvPr/>
        </p:nvCxnSpPr>
        <p:spPr>
          <a:xfrm flipH="1">
            <a:off x="4552525" y="4278925"/>
            <a:ext cx="2012400" cy="410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19"/>
          <p:cNvCxnSpPr/>
          <p:nvPr/>
        </p:nvCxnSpPr>
        <p:spPr>
          <a:xfrm rot="10800000">
            <a:off x="6237625" y="2960125"/>
            <a:ext cx="327300" cy="13188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9"/>
          <p:cNvCxnSpPr/>
          <p:nvPr/>
        </p:nvCxnSpPr>
        <p:spPr>
          <a:xfrm>
            <a:off x="5953175" y="3094725"/>
            <a:ext cx="21000" cy="2868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19"/>
          <p:cNvCxnSpPr/>
          <p:nvPr/>
        </p:nvCxnSpPr>
        <p:spPr>
          <a:xfrm>
            <a:off x="5936300" y="3040300"/>
            <a:ext cx="19500" cy="546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19"/>
          <p:cNvCxnSpPr/>
          <p:nvPr/>
        </p:nvCxnSpPr>
        <p:spPr>
          <a:xfrm rot="10800000">
            <a:off x="5629125" y="2650725"/>
            <a:ext cx="327900" cy="441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19"/>
          <p:cNvCxnSpPr/>
          <p:nvPr/>
        </p:nvCxnSpPr>
        <p:spPr>
          <a:xfrm flipH="1">
            <a:off x="5843925" y="3083925"/>
            <a:ext cx="105300" cy="679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19"/>
          <p:cNvCxnSpPr/>
          <p:nvPr/>
        </p:nvCxnSpPr>
        <p:spPr>
          <a:xfrm flipH="1" rot="10800000">
            <a:off x="4657100" y="3087700"/>
            <a:ext cx="1303800" cy="839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19"/>
          <p:cNvCxnSpPr/>
          <p:nvPr/>
        </p:nvCxnSpPr>
        <p:spPr>
          <a:xfrm flipH="1" rot="10800000">
            <a:off x="4368225" y="3091850"/>
            <a:ext cx="1592700" cy="441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19"/>
          <p:cNvCxnSpPr/>
          <p:nvPr/>
        </p:nvCxnSpPr>
        <p:spPr>
          <a:xfrm rot="10800000">
            <a:off x="7315375" y="3303275"/>
            <a:ext cx="70500" cy="952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19"/>
          <p:cNvCxnSpPr/>
          <p:nvPr/>
        </p:nvCxnSpPr>
        <p:spPr>
          <a:xfrm flipH="1" rot="10800000">
            <a:off x="7379475" y="4082500"/>
            <a:ext cx="28800" cy="179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19"/>
          <p:cNvCxnSpPr/>
          <p:nvPr/>
        </p:nvCxnSpPr>
        <p:spPr>
          <a:xfrm flipH="1">
            <a:off x="6110975" y="4259000"/>
            <a:ext cx="1271700" cy="880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19"/>
          <p:cNvCxnSpPr/>
          <p:nvPr/>
        </p:nvCxnSpPr>
        <p:spPr>
          <a:xfrm flipH="1" rot="10800000">
            <a:off x="4631350" y="4265725"/>
            <a:ext cx="2754000" cy="565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19"/>
          <p:cNvCxnSpPr/>
          <p:nvPr/>
        </p:nvCxnSpPr>
        <p:spPr>
          <a:xfrm>
            <a:off x="6964300" y="2760875"/>
            <a:ext cx="420900" cy="1504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19"/>
          <p:cNvCxnSpPr/>
          <p:nvPr/>
        </p:nvCxnSpPr>
        <p:spPr>
          <a:xfrm rot="10800000">
            <a:off x="7262825" y="2985300"/>
            <a:ext cx="20700" cy="331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19"/>
          <p:cNvCxnSpPr/>
          <p:nvPr/>
        </p:nvCxnSpPr>
        <p:spPr>
          <a:xfrm flipH="1" rot="10800000">
            <a:off x="7083350" y="2991975"/>
            <a:ext cx="176100" cy="1025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19"/>
          <p:cNvCxnSpPr/>
          <p:nvPr/>
        </p:nvCxnSpPr>
        <p:spPr>
          <a:xfrm>
            <a:off x="7181450" y="2699900"/>
            <a:ext cx="82200" cy="287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19"/>
          <p:cNvCxnSpPr/>
          <p:nvPr/>
        </p:nvCxnSpPr>
        <p:spPr>
          <a:xfrm>
            <a:off x="6482475" y="2185950"/>
            <a:ext cx="777600" cy="798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19"/>
          <p:cNvCxnSpPr/>
          <p:nvPr/>
        </p:nvCxnSpPr>
        <p:spPr>
          <a:xfrm flipH="1" rot="10800000">
            <a:off x="5032150" y="2987900"/>
            <a:ext cx="2231400" cy="1483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19"/>
          <p:cNvCxnSpPr/>
          <p:nvPr/>
        </p:nvCxnSpPr>
        <p:spPr>
          <a:xfrm flipH="1" rot="10800000">
            <a:off x="4397150" y="2983800"/>
            <a:ext cx="2870700" cy="7479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19"/>
          <p:cNvSpPr txBox="1"/>
          <p:nvPr/>
        </p:nvSpPr>
        <p:spPr>
          <a:xfrm>
            <a:off x="3749375" y="84317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/>
        </p:nvSpPr>
        <p:spPr>
          <a:xfrm>
            <a:off x="556950" y="0"/>
            <a:ext cx="80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2 - Zoom Automne</a:t>
            </a:r>
            <a:endParaRPr/>
          </a:p>
        </p:txBody>
      </p:sp>
      <p:pic>
        <p:nvPicPr>
          <p:cNvPr id="277" name="Google Shape;277;p20" title="Capture d’écran 2025-07-09 à 16.13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953"/>
            <a:ext cx="9144003" cy="45005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20"/>
          <p:cNvCxnSpPr/>
          <p:nvPr/>
        </p:nvCxnSpPr>
        <p:spPr>
          <a:xfrm rot="10800000">
            <a:off x="3195150" y="1694450"/>
            <a:ext cx="2251200" cy="3434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0"/>
          <p:cNvCxnSpPr/>
          <p:nvPr/>
        </p:nvCxnSpPr>
        <p:spPr>
          <a:xfrm flipH="1" rot="10800000">
            <a:off x="1806075" y="2355675"/>
            <a:ext cx="6601200" cy="1812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20"/>
          <p:cNvCxnSpPr/>
          <p:nvPr/>
        </p:nvCxnSpPr>
        <p:spPr>
          <a:xfrm flipH="1" rot="10800000">
            <a:off x="2759800" y="2196775"/>
            <a:ext cx="3531000" cy="2333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20"/>
          <p:cNvCxnSpPr/>
          <p:nvPr/>
        </p:nvCxnSpPr>
        <p:spPr>
          <a:xfrm>
            <a:off x="2090130" y="2991100"/>
            <a:ext cx="6317400" cy="12960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20"/>
          <p:cNvCxnSpPr/>
          <p:nvPr/>
        </p:nvCxnSpPr>
        <p:spPr>
          <a:xfrm flipH="1" rot="10800000">
            <a:off x="1550875" y="3255125"/>
            <a:ext cx="6671400" cy="3717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20"/>
          <p:cNvCxnSpPr/>
          <p:nvPr/>
        </p:nvCxnSpPr>
        <p:spPr>
          <a:xfrm>
            <a:off x="3988875" y="1098800"/>
            <a:ext cx="582000" cy="3744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4" name="Google Shape;284;p20"/>
          <p:cNvSpPr txBox="1"/>
          <p:nvPr/>
        </p:nvSpPr>
        <p:spPr>
          <a:xfrm>
            <a:off x="2665975" y="14476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4471775" y="469112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5994425" y="190166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8161250" y="2991110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7711250" y="429667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>
            <a:off x="5936300" y="3040300"/>
            <a:ext cx="19500" cy="546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0"/>
          <p:cNvCxnSpPr/>
          <p:nvPr/>
        </p:nvCxnSpPr>
        <p:spPr>
          <a:xfrm flipH="1">
            <a:off x="3529200" y="2809225"/>
            <a:ext cx="114000" cy="478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0"/>
          <p:cNvCxnSpPr/>
          <p:nvPr/>
        </p:nvCxnSpPr>
        <p:spPr>
          <a:xfrm flipH="1" rot="10800000">
            <a:off x="3643200" y="2681900"/>
            <a:ext cx="193200" cy="1317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0"/>
          <p:cNvCxnSpPr/>
          <p:nvPr/>
        </p:nvCxnSpPr>
        <p:spPr>
          <a:xfrm>
            <a:off x="3647600" y="2818000"/>
            <a:ext cx="52800" cy="6891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0"/>
          <p:cNvCxnSpPr/>
          <p:nvPr/>
        </p:nvCxnSpPr>
        <p:spPr>
          <a:xfrm>
            <a:off x="3643200" y="2813600"/>
            <a:ext cx="250200" cy="7902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0"/>
          <p:cNvCxnSpPr/>
          <p:nvPr/>
        </p:nvCxnSpPr>
        <p:spPr>
          <a:xfrm flipH="1" rot="10800000">
            <a:off x="3643200" y="2703875"/>
            <a:ext cx="588300" cy="118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0"/>
          <p:cNvCxnSpPr/>
          <p:nvPr/>
        </p:nvCxnSpPr>
        <p:spPr>
          <a:xfrm>
            <a:off x="3643200" y="2826775"/>
            <a:ext cx="575100" cy="7506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0"/>
          <p:cNvCxnSpPr/>
          <p:nvPr/>
        </p:nvCxnSpPr>
        <p:spPr>
          <a:xfrm rot="10800000">
            <a:off x="6053100" y="2365725"/>
            <a:ext cx="162300" cy="2328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0"/>
          <p:cNvCxnSpPr/>
          <p:nvPr/>
        </p:nvCxnSpPr>
        <p:spPr>
          <a:xfrm rot="10800000">
            <a:off x="6215400" y="2612888"/>
            <a:ext cx="114000" cy="3159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0"/>
          <p:cNvCxnSpPr/>
          <p:nvPr/>
        </p:nvCxnSpPr>
        <p:spPr>
          <a:xfrm rot="10800000">
            <a:off x="6215450" y="2603175"/>
            <a:ext cx="57000" cy="7635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0"/>
          <p:cNvCxnSpPr/>
          <p:nvPr/>
        </p:nvCxnSpPr>
        <p:spPr>
          <a:xfrm flipH="1" rot="10800000">
            <a:off x="4295475" y="2598425"/>
            <a:ext cx="1920000" cy="4803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20"/>
          <p:cNvCxnSpPr/>
          <p:nvPr/>
        </p:nvCxnSpPr>
        <p:spPr>
          <a:xfrm flipH="1" rot="10800000">
            <a:off x="4464025" y="2594125"/>
            <a:ext cx="1751400" cy="10359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0"/>
          <p:cNvCxnSpPr/>
          <p:nvPr/>
        </p:nvCxnSpPr>
        <p:spPr>
          <a:xfrm flipH="1" rot="10800000">
            <a:off x="6022250" y="2598400"/>
            <a:ext cx="193200" cy="1207200"/>
          </a:xfrm>
          <a:prstGeom prst="straightConnector1">
            <a:avLst/>
          </a:prstGeom>
          <a:noFill/>
          <a:ln cap="flat" cmpd="sng" w="9525">
            <a:solidFill>
              <a:srgbClr val="D8A3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20"/>
          <p:cNvCxnSpPr/>
          <p:nvPr/>
        </p:nvCxnSpPr>
        <p:spPr>
          <a:xfrm flipH="1" rot="10800000">
            <a:off x="4161150" y="2076200"/>
            <a:ext cx="632100" cy="83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0"/>
          <p:cNvCxnSpPr/>
          <p:nvPr/>
        </p:nvCxnSpPr>
        <p:spPr>
          <a:xfrm flipH="1" rot="10800000">
            <a:off x="3862675" y="2080850"/>
            <a:ext cx="930600" cy="631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0"/>
          <p:cNvCxnSpPr/>
          <p:nvPr/>
        </p:nvCxnSpPr>
        <p:spPr>
          <a:xfrm>
            <a:off x="4788825" y="2076175"/>
            <a:ext cx="570600" cy="728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0"/>
          <p:cNvCxnSpPr/>
          <p:nvPr/>
        </p:nvCxnSpPr>
        <p:spPr>
          <a:xfrm rot="10800000">
            <a:off x="4793200" y="2076225"/>
            <a:ext cx="298500" cy="1189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0"/>
          <p:cNvCxnSpPr/>
          <p:nvPr/>
        </p:nvCxnSpPr>
        <p:spPr>
          <a:xfrm rot="10800000">
            <a:off x="4797900" y="2080600"/>
            <a:ext cx="131400" cy="1356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0"/>
          <p:cNvCxnSpPr/>
          <p:nvPr/>
        </p:nvCxnSpPr>
        <p:spPr>
          <a:xfrm flipH="1" rot="10800000">
            <a:off x="4385000" y="2076325"/>
            <a:ext cx="408300" cy="1386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0"/>
          <p:cNvCxnSpPr/>
          <p:nvPr/>
        </p:nvCxnSpPr>
        <p:spPr>
          <a:xfrm flipH="1">
            <a:off x="3261375" y="2343950"/>
            <a:ext cx="355500" cy="224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0"/>
          <p:cNvCxnSpPr/>
          <p:nvPr/>
        </p:nvCxnSpPr>
        <p:spPr>
          <a:xfrm flipH="1">
            <a:off x="3098825" y="2567800"/>
            <a:ext cx="158100" cy="627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0"/>
          <p:cNvCxnSpPr/>
          <p:nvPr/>
        </p:nvCxnSpPr>
        <p:spPr>
          <a:xfrm flipH="1" rot="10800000">
            <a:off x="3261325" y="2370300"/>
            <a:ext cx="921900" cy="201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0"/>
          <p:cNvCxnSpPr/>
          <p:nvPr/>
        </p:nvCxnSpPr>
        <p:spPr>
          <a:xfrm>
            <a:off x="3265725" y="2567800"/>
            <a:ext cx="70200" cy="961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0"/>
          <p:cNvCxnSpPr/>
          <p:nvPr/>
        </p:nvCxnSpPr>
        <p:spPr>
          <a:xfrm>
            <a:off x="3261325" y="2567800"/>
            <a:ext cx="298500" cy="1123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20"/>
          <p:cNvSpPr txBox="1"/>
          <p:nvPr/>
        </p:nvSpPr>
        <p:spPr>
          <a:xfrm>
            <a:off x="3749375" y="843172"/>
            <a:ext cx="599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3</a:t>
            </a:r>
            <a:endParaRPr/>
          </a:p>
        </p:txBody>
      </p:sp>
      <p:pic>
        <p:nvPicPr>
          <p:cNvPr id="319" name="Google Shape;319;p21" title="Capture d’écran 2025-07-07 à 11.43.54.png"/>
          <p:cNvPicPr preferRelativeResize="0"/>
          <p:nvPr/>
        </p:nvPicPr>
        <p:blipFill rotWithShape="1">
          <a:blip r:embed="rId3">
            <a:alphaModFix/>
          </a:blip>
          <a:srcRect b="0" l="0" r="50214" t="0"/>
          <a:stretch/>
        </p:blipFill>
        <p:spPr>
          <a:xfrm>
            <a:off x="0" y="913950"/>
            <a:ext cx="3894958" cy="422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 title="Capture d’écran 2025-07-07 à 11.43.54.png"/>
          <p:cNvPicPr preferRelativeResize="0"/>
          <p:nvPr/>
        </p:nvPicPr>
        <p:blipFill rotWithShape="1">
          <a:blip r:embed="rId3">
            <a:alphaModFix/>
          </a:blip>
          <a:srcRect b="0" l="50592" r="0" t="0"/>
          <a:stretch/>
        </p:blipFill>
        <p:spPr>
          <a:xfrm>
            <a:off x="4067425" y="913950"/>
            <a:ext cx="5076577" cy="42287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21"/>
          <p:cNvCxnSpPr/>
          <p:nvPr/>
        </p:nvCxnSpPr>
        <p:spPr>
          <a:xfrm rot="10800000">
            <a:off x="5827500" y="2182500"/>
            <a:ext cx="1342500" cy="18825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1"/>
          <p:cNvCxnSpPr/>
          <p:nvPr/>
        </p:nvCxnSpPr>
        <p:spPr>
          <a:xfrm>
            <a:off x="5587500" y="2685000"/>
            <a:ext cx="1875000" cy="810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21"/>
          <p:cNvCxnSpPr/>
          <p:nvPr/>
        </p:nvCxnSpPr>
        <p:spPr>
          <a:xfrm flipH="1" rot="10800000">
            <a:off x="5970000" y="1867500"/>
            <a:ext cx="1132500" cy="21225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21"/>
          <p:cNvCxnSpPr/>
          <p:nvPr/>
        </p:nvCxnSpPr>
        <p:spPr>
          <a:xfrm>
            <a:off x="5272500" y="3007500"/>
            <a:ext cx="2557500" cy="1191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3</a:t>
            </a:r>
            <a:endParaRPr/>
          </a:p>
        </p:txBody>
      </p:sp>
      <p:pic>
        <p:nvPicPr>
          <p:cNvPr id="330" name="Google Shape;330;p22" title="Capture d’écran 2025-07-09 à 16.42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25" y="910625"/>
            <a:ext cx="8049152" cy="4232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" name="Google Shape;331;p22"/>
          <p:cNvCxnSpPr/>
          <p:nvPr/>
        </p:nvCxnSpPr>
        <p:spPr>
          <a:xfrm rot="10800000">
            <a:off x="2852000" y="1445625"/>
            <a:ext cx="3461400" cy="3078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22"/>
          <p:cNvCxnSpPr/>
          <p:nvPr/>
        </p:nvCxnSpPr>
        <p:spPr>
          <a:xfrm>
            <a:off x="1457975" y="2142675"/>
            <a:ext cx="6330600" cy="1765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22"/>
          <p:cNvCxnSpPr/>
          <p:nvPr/>
        </p:nvCxnSpPr>
        <p:spPr>
          <a:xfrm flipH="1" rot="10800000">
            <a:off x="3362975" y="1294725"/>
            <a:ext cx="2741400" cy="32292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22"/>
          <p:cNvCxnSpPr/>
          <p:nvPr/>
        </p:nvCxnSpPr>
        <p:spPr>
          <a:xfrm>
            <a:off x="1504450" y="2897700"/>
            <a:ext cx="6563100" cy="2556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22"/>
          <p:cNvSpPr txBox="1"/>
          <p:nvPr/>
        </p:nvSpPr>
        <p:spPr>
          <a:xfrm>
            <a:off x="2035550" y="1173097"/>
            <a:ext cx="59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Rainfall_lag_1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7351875" y="3082922"/>
            <a:ext cx="59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Arsenic_Total</a:t>
            </a:r>
            <a:endParaRPr sz="11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7694050" y="3820847"/>
            <a:ext cx="599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11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5746125" y="997072"/>
            <a:ext cx="59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Temperature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39" name="Google Shape;339;p22"/>
          <p:cNvCxnSpPr/>
          <p:nvPr/>
        </p:nvCxnSpPr>
        <p:spPr>
          <a:xfrm flipH="1">
            <a:off x="6718950" y="2445600"/>
            <a:ext cx="12900" cy="656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22"/>
          <p:cNvCxnSpPr/>
          <p:nvPr/>
        </p:nvCxnSpPr>
        <p:spPr>
          <a:xfrm flipH="1">
            <a:off x="6448800" y="2432725"/>
            <a:ext cx="289500" cy="11133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22"/>
          <p:cNvCxnSpPr/>
          <p:nvPr/>
        </p:nvCxnSpPr>
        <p:spPr>
          <a:xfrm flipH="1">
            <a:off x="5599225" y="2439175"/>
            <a:ext cx="1126200" cy="14481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2"/>
          <p:cNvCxnSpPr/>
          <p:nvPr/>
        </p:nvCxnSpPr>
        <p:spPr>
          <a:xfrm rot="10800000">
            <a:off x="5785800" y="1699200"/>
            <a:ext cx="952500" cy="746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2"/>
          <p:cNvCxnSpPr/>
          <p:nvPr/>
        </p:nvCxnSpPr>
        <p:spPr>
          <a:xfrm rot="10800000">
            <a:off x="5328975" y="2220325"/>
            <a:ext cx="830100" cy="6243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2"/>
          <p:cNvCxnSpPr/>
          <p:nvPr/>
        </p:nvCxnSpPr>
        <p:spPr>
          <a:xfrm flipH="1">
            <a:off x="6152775" y="2844625"/>
            <a:ext cx="6300" cy="238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2"/>
          <p:cNvCxnSpPr/>
          <p:nvPr/>
        </p:nvCxnSpPr>
        <p:spPr>
          <a:xfrm flipH="1">
            <a:off x="6004550" y="2844625"/>
            <a:ext cx="167400" cy="566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2"/>
          <p:cNvCxnSpPr/>
          <p:nvPr/>
        </p:nvCxnSpPr>
        <p:spPr>
          <a:xfrm flipH="1">
            <a:off x="5451050" y="2857500"/>
            <a:ext cx="720900" cy="9009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2"/>
          <p:cNvCxnSpPr/>
          <p:nvPr/>
        </p:nvCxnSpPr>
        <p:spPr>
          <a:xfrm flipH="1">
            <a:off x="5052225" y="3069875"/>
            <a:ext cx="19200" cy="70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2"/>
          <p:cNvCxnSpPr/>
          <p:nvPr/>
        </p:nvCxnSpPr>
        <p:spPr>
          <a:xfrm flipH="1">
            <a:off x="4904175" y="3063450"/>
            <a:ext cx="160800" cy="193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2"/>
          <p:cNvCxnSpPr/>
          <p:nvPr/>
        </p:nvCxnSpPr>
        <p:spPr>
          <a:xfrm rot="10800000">
            <a:off x="4807575" y="2844575"/>
            <a:ext cx="257400" cy="225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2"/>
          <p:cNvCxnSpPr/>
          <p:nvPr/>
        </p:nvCxnSpPr>
        <p:spPr>
          <a:xfrm flipH="1" rot="10800000">
            <a:off x="3616925" y="2761100"/>
            <a:ext cx="19200" cy="77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2"/>
          <p:cNvCxnSpPr/>
          <p:nvPr/>
        </p:nvCxnSpPr>
        <p:spPr>
          <a:xfrm>
            <a:off x="3610500" y="2838200"/>
            <a:ext cx="0" cy="135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2"/>
          <p:cNvCxnSpPr/>
          <p:nvPr/>
        </p:nvCxnSpPr>
        <p:spPr>
          <a:xfrm flipH="1" rot="10800000">
            <a:off x="3623350" y="2471425"/>
            <a:ext cx="366900" cy="373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2"/>
          <p:cNvCxnSpPr/>
          <p:nvPr/>
        </p:nvCxnSpPr>
        <p:spPr>
          <a:xfrm>
            <a:off x="3616925" y="2844625"/>
            <a:ext cx="682200" cy="585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2 et 3</a:t>
            </a:r>
            <a:endParaRPr/>
          </a:p>
        </p:txBody>
      </p:sp>
      <p:pic>
        <p:nvPicPr>
          <p:cNvPr id="359" name="Google Shape;359;p23" title="Capture d’écran 2025-07-07 à 13.26.16.png"/>
          <p:cNvPicPr preferRelativeResize="0"/>
          <p:nvPr/>
        </p:nvPicPr>
        <p:blipFill rotWithShape="1">
          <a:blip r:embed="rId3">
            <a:alphaModFix/>
          </a:blip>
          <a:srcRect b="0" l="0" r="49693" t="0"/>
          <a:stretch/>
        </p:blipFill>
        <p:spPr>
          <a:xfrm>
            <a:off x="0" y="913950"/>
            <a:ext cx="3932124" cy="422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3" title="Capture d’écran 2025-07-07 à 13.26.16.png"/>
          <p:cNvPicPr preferRelativeResize="0"/>
          <p:nvPr/>
        </p:nvPicPr>
        <p:blipFill rotWithShape="1">
          <a:blip r:embed="rId3">
            <a:alphaModFix/>
          </a:blip>
          <a:srcRect b="0" l="50507" r="0" t="0"/>
          <a:stretch/>
        </p:blipFill>
        <p:spPr>
          <a:xfrm>
            <a:off x="4029800" y="913950"/>
            <a:ext cx="5114199" cy="42287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p23"/>
          <p:cNvCxnSpPr/>
          <p:nvPr/>
        </p:nvCxnSpPr>
        <p:spPr>
          <a:xfrm flipH="1" rot="10800000">
            <a:off x="5673125" y="1884200"/>
            <a:ext cx="230100" cy="19572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23"/>
          <p:cNvCxnSpPr/>
          <p:nvPr/>
        </p:nvCxnSpPr>
        <p:spPr>
          <a:xfrm>
            <a:off x="4742800" y="2877200"/>
            <a:ext cx="2095500" cy="3942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363" name="Google Shape;363;p23"/>
          <p:cNvCxnSpPr/>
          <p:nvPr/>
        </p:nvCxnSpPr>
        <p:spPr>
          <a:xfrm flipH="1" rot="10800000">
            <a:off x="4926725" y="2450275"/>
            <a:ext cx="1681500" cy="11955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2 et 3</a:t>
            </a:r>
            <a:endParaRPr/>
          </a:p>
        </p:txBody>
      </p:sp>
      <p:pic>
        <p:nvPicPr>
          <p:cNvPr id="369" name="Google Shape;369;p24" title="Capture d’écran 2025-07-09 à 16.57.35.png"/>
          <p:cNvPicPr preferRelativeResize="0"/>
          <p:nvPr/>
        </p:nvPicPr>
        <p:blipFill rotWithShape="1">
          <a:blip r:embed="rId3">
            <a:alphaModFix/>
          </a:blip>
          <a:srcRect b="0" l="0" r="0" t="5846"/>
          <a:stretch/>
        </p:blipFill>
        <p:spPr>
          <a:xfrm>
            <a:off x="1183525" y="916875"/>
            <a:ext cx="6776949" cy="4226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24"/>
          <p:cNvCxnSpPr/>
          <p:nvPr/>
        </p:nvCxnSpPr>
        <p:spPr>
          <a:xfrm>
            <a:off x="1643325" y="2417875"/>
            <a:ext cx="5924400" cy="900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1" name="Google Shape;371;p24"/>
          <p:cNvCxnSpPr/>
          <p:nvPr/>
        </p:nvCxnSpPr>
        <p:spPr>
          <a:xfrm flipH="1" rot="10800000">
            <a:off x="2865700" y="1327985"/>
            <a:ext cx="3559500" cy="2901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24"/>
          <p:cNvSpPr txBox="1"/>
          <p:nvPr/>
        </p:nvSpPr>
        <p:spPr>
          <a:xfrm>
            <a:off x="4422050" y="827272"/>
            <a:ext cx="59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Temperature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7504825" y="3293297"/>
            <a:ext cx="599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 + 02 +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74" name="Google Shape;374;p24"/>
          <p:cNvCxnSpPr/>
          <p:nvPr/>
        </p:nvCxnSpPr>
        <p:spPr>
          <a:xfrm flipH="1" rot="10800000">
            <a:off x="4050750" y="1151450"/>
            <a:ext cx="743400" cy="34017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24"/>
          <p:cNvSpPr txBox="1"/>
          <p:nvPr/>
        </p:nvSpPr>
        <p:spPr>
          <a:xfrm>
            <a:off x="1425000" y="2116222"/>
            <a:ext cx="59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6461625" y="1075560"/>
            <a:ext cx="599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Rainfall_lag_1 +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377" name="Google Shape;377;p24"/>
          <p:cNvCxnSpPr/>
          <p:nvPr/>
        </p:nvCxnSpPr>
        <p:spPr>
          <a:xfrm rot="10800000">
            <a:off x="5725725" y="1883100"/>
            <a:ext cx="735900" cy="796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4"/>
          <p:cNvCxnSpPr/>
          <p:nvPr/>
        </p:nvCxnSpPr>
        <p:spPr>
          <a:xfrm>
            <a:off x="4559700" y="2267575"/>
            <a:ext cx="1892700" cy="417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24"/>
          <p:cNvCxnSpPr/>
          <p:nvPr/>
        </p:nvCxnSpPr>
        <p:spPr>
          <a:xfrm flipH="1" rot="10800000">
            <a:off x="6397125" y="2679225"/>
            <a:ext cx="61500" cy="454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24"/>
          <p:cNvCxnSpPr/>
          <p:nvPr/>
        </p:nvCxnSpPr>
        <p:spPr>
          <a:xfrm flipH="1" rot="10800000">
            <a:off x="7503250" y="2906500"/>
            <a:ext cx="42900" cy="399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24"/>
          <p:cNvCxnSpPr/>
          <p:nvPr/>
        </p:nvCxnSpPr>
        <p:spPr>
          <a:xfrm>
            <a:off x="6253850" y="1458675"/>
            <a:ext cx="1298700" cy="1448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24"/>
          <p:cNvCxnSpPr/>
          <p:nvPr/>
        </p:nvCxnSpPr>
        <p:spPr>
          <a:xfrm>
            <a:off x="4565850" y="2230700"/>
            <a:ext cx="2986500" cy="669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24"/>
          <p:cNvCxnSpPr/>
          <p:nvPr/>
        </p:nvCxnSpPr>
        <p:spPr>
          <a:xfrm flipH="1" rot="10800000">
            <a:off x="2664125" y="2313325"/>
            <a:ext cx="43200" cy="257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24"/>
          <p:cNvCxnSpPr/>
          <p:nvPr/>
        </p:nvCxnSpPr>
        <p:spPr>
          <a:xfrm rot="10800000">
            <a:off x="2714350" y="2306250"/>
            <a:ext cx="1776000" cy="3006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24"/>
          <p:cNvCxnSpPr/>
          <p:nvPr/>
        </p:nvCxnSpPr>
        <p:spPr>
          <a:xfrm rot="10800000">
            <a:off x="2714350" y="2320575"/>
            <a:ext cx="823500" cy="1138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24"/>
          <p:cNvCxnSpPr/>
          <p:nvPr/>
        </p:nvCxnSpPr>
        <p:spPr>
          <a:xfrm flipH="1" rot="10800000">
            <a:off x="5489275" y="2912275"/>
            <a:ext cx="22200" cy="1104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24"/>
          <p:cNvCxnSpPr/>
          <p:nvPr/>
        </p:nvCxnSpPr>
        <p:spPr>
          <a:xfrm>
            <a:off x="4459675" y="2714350"/>
            <a:ext cx="1068300" cy="187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24"/>
          <p:cNvCxnSpPr/>
          <p:nvPr/>
        </p:nvCxnSpPr>
        <p:spPr>
          <a:xfrm>
            <a:off x="5087350" y="2373000"/>
            <a:ext cx="446100" cy="523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</a:t>
            </a:r>
            <a:r>
              <a:rPr lang="fr" sz="3600">
                <a:latin typeface="Oswald"/>
                <a:ea typeface="Oswald"/>
                <a:cs typeface="Oswald"/>
                <a:sym typeface="Oswald"/>
              </a:rPr>
              <a:t> (2011-2019)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5184100" y="1361375"/>
            <a:ext cx="3903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Contributions 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1 : Pluie à t, Conductivité, Arsenic,   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Plomb, Zinc, Fer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2 : Pluie à t-1, O2, Sulfate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3 : Pluie à t, 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4 : Température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5 : Pluie à t-1, Température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Nous gardons les dimensions 1, 2.</a:t>
            </a:r>
            <a:endParaRPr/>
          </a:p>
        </p:txBody>
      </p:sp>
      <p:pic>
        <p:nvPicPr>
          <p:cNvPr id="395" name="Google Shape;395;p25" title="Capture d’écran 2025-07-09 à 17.09.39.png"/>
          <p:cNvPicPr preferRelativeResize="0"/>
          <p:nvPr/>
        </p:nvPicPr>
        <p:blipFill rotWithShape="1">
          <a:blip r:embed="rId3">
            <a:alphaModFix/>
          </a:blip>
          <a:srcRect b="0" l="0" r="28036" t="0"/>
          <a:stretch/>
        </p:blipFill>
        <p:spPr>
          <a:xfrm>
            <a:off x="264600" y="933600"/>
            <a:ext cx="4210369" cy="42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</a:t>
            </a:r>
            <a:endParaRPr/>
          </a:p>
        </p:txBody>
      </p:sp>
      <p:pic>
        <p:nvPicPr>
          <p:cNvPr id="401" name="Google Shape;401;p26" title="Capture d’écran 2025-07-09 à 17.11.32.png"/>
          <p:cNvPicPr preferRelativeResize="0"/>
          <p:nvPr/>
        </p:nvPicPr>
        <p:blipFill rotWithShape="1">
          <a:blip r:embed="rId3">
            <a:alphaModFix/>
          </a:blip>
          <a:srcRect b="0" l="0" r="47973" t="0"/>
          <a:stretch/>
        </p:blipFill>
        <p:spPr>
          <a:xfrm>
            <a:off x="0" y="921750"/>
            <a:ext cx="4074573" cy="422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6" title="Capture d’écran 2025-07-09 à 17.11.32.png"/>
          <p:cNvPicPr preferRelativeResize="0"/>
          <p:nvPr/>
        </p:nvPicPr>
        <p:blipFill rotWithShape="1">
          <a:blip r:embed="rId3">
            <a:alphaModFix/>
          </a:blip>
          <a:srcRect b="0" l="49967" r="0" t="0"/>
          <a:stretch/>
        </p:blipFill>
        <p:spPr>
          <a:xfrm>
            <a:off x="3946075" y="921750"/>
            <a:ext cx="5197926" cy="4221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" name="Google Shape;403;p26"/>
          <p:cNvCxnSpPr/>
          <p:nvPr/>
        </p:nvCxnSpPr>
        <p:spPr>
          <a:xfrm flipH="1">
            <a:off x="6696845" y="1953599"/>
            <a:ext cx="129000" cy="2721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26"/>
          <p:cNvCxnSpPr/>
          <p:nvPr/>
        </p:nvCxnSpPr>
        <p:spPr>
          <a:xfrm rot="10800000">
            <a:off x="6220194" y="2186848"/>
            <a:ext cx="1082700" cy="2148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405" name="Google Shape;405;p26"/>
          <p:cNvCxnSpPr/>
          <p:nvPr/>
        </p:nvCxnSpPr>
        <p:spPr>
          <a:xfrm flipH="1" rot="10800000">
            <a:off x="5160375" y="3134825"/>
            <a:ext cx="3255300" cy="192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406" name="Google Shape;406;p26"/>
          <p:cNvCxnSpPr/>
          <p:nvPr/>
        </p:nvCxnSpPr>
        <p:spPr>
          <a:xfrm flipH="1" rot="10800000">
            <a:off x="6284175" y="2264975"/>
            <a:ext cx="952500" cy="19632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</a:t>
            </a:r>
            <a:endParaRPr/>
          </a:p>
        </p:txBody>
      </p:sp>
      <p:pic>
        <p:nvPicPr>
          <p:cNvPr id="412" name="Google Shape;412;p27" title="Capture d’écran 2025-07-09 à 17.16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688" y="899825"/>
            <a:ext cx="7330627" cy="4243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27"/>
          <p:cNvCxnSpPr/>
          <p:nvPr/>
        </p:nvCxnSpPr>
        <p:spPr>
          <a:xfrm flipH="1">
            <a:off x="3980200" y="1309675"/>
            <a:ext cx="569700" cy="3716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27"/>
          <p:cNvCxnSpPr/>
          <p:nvPr/>
        </p:nvCxnSpPr>
        <p:spPr>
          <a:xfrm rot="10800000">
            <a:off x="3404725" y="1434675"/>
            <a:ext cx="1326300" cy="34725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415" name="Google Shape;415;p27"/>
          <p:cNvCxnSpPr/>
          <p:nvPr/>
        </p:nvCxnSpPr>
        <p:spPr>
          <a:xfrm flipH="1" rot="10800000">
            <a:off x="952500" y="3279550"/>
            <a:ext cx="6378300" cy="518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416" name="Google Shape;416;p27"/>
          <p:cNvCxnSpPr/>
          <p:nvPr/>
        </p:nvCxnSpPr>
        <p:spPr>
          <a:xfrm flipH="1">
            <a:off x="3580300" y="3122075"/>
            <a:ext cx="471600" cy="135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27"/>
          <p:cNvSpPr txBox="1"/>
          <p:nvPr/>
        </p:nvSpPr>
        <p:spPr>
          <a:xfrm>
            <a:off x="2807220" y="1145845"/>
            <a:ext cx="427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Rainfall_lag_1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102121" y="3628450"/>
            <a:ext cx="100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3681846" y="4840525"/>
            <a:ext cx="4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0" name="Google Shape;420;p27"/>
          <p:cNvSpPr txBox="1"/>
          <p:nvPr/>
        </p:nvSpPr>
        <p:spPr>
          <a:xfrm>
            <a:off x="4446520" y="4840520"/>
            <a:ext cx="427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Temperature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7330795" y="2739970"/>
            <a:ext cx="4279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Plomb +</a:t>
            </a:r>
            <a:endParaRPr sz="11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 +</a:t>
            </a:r>
            <a:endParaRPr sz="11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11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22" name="Google Shape;422;p27"/>
          <p:cNvCxnSpPr/>
          <p:nvPr/>
        </p:nvCxnSpPr>
        <p:spPr>
          <a:xfrm>
            <a:off x="3552975" y="3243025"/>
            <a:ext cx="45300" cy="347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27"/>
          <p:cNvCxnSpPr/>
          <p:nvPr/>
        </p:nvCxnSpPr>
        <p:spPr>
          <a:xfrm rot="10800000">
            <a:off x="3560600" y="3250650"/>
            <a:ext cx="695400" cy="83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27"/>
          <p:cNvCxnSpPr/>
          <p:nvPr/>
        </p:nvCxnSpPr>
        <p:spPr>
          <a:xfrm flipH="1">
            <a:off x="2653425" y="3348875"/>
            <a:ext cx="1489200" cy="317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27"/>
          <p:cNvCxnSpPr/>
          <p:nvPr/>
        </p:nvCxnSpPr>
        <p:spPr>
          <a:xfrm>
            <a:off x="2653400" y="3658800"/>
            <a:ext cx="1504500" cy="241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27"/>
          <p:cNvCxnSpPr/>
          <p:nvPr/>
        </p:nvCxnSpPr>
        <p:spPr>
          <a:xfrm flipH="1">
            <a:off x="4255875" y="3893150"/>
            <a:ext cx="98400" cy="378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27"/>
          <p:cNvCxnSpPr/>
          <p:nvPr/>
        </p:nvCxnSpPr>
        <p:spPr>
          <a:xfrm>
            <a:off x="4157750" y="3915825"/>
            <a:ext cx="98100" cy="225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27"/>
          <p:cNvCxnSpPr/>
          <p:nvPr/>
        </p:nvCxnSpPr>
        <p:spPr>
          <a:xfrm>
            <a:off x="4203100" y="3545425"/>
            <a:ext cx="60600" cy="4005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27"/>
          <p:cNvCxnSpPr/>
          <p:nvPr/>
        </p:nvCxnSpPr>
        <p:spPr>
          <a:xfrm flipH="1">
            <a:off x="4407225" y="3810000"/>
            <a:ext cx="536700" cy="1965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27"/>
          <p:cNvCxnSpPr/>
          <p:nvPr/>
        </p:nvCxnSpPr>
        <p:spPr>
          <a:xfrm>
            <a:off x="4906125" y="3484950"/>
            <a:ext cx="38100" cy="325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27"/>
          <p:cNvCxnSpPr/>
          <p:nvPr/>
        </p:nvCxnSpPr>
        <p:spPr>
          <a:xfrm>
            <a:off x="4203100" y="3636125"/>
            <a:ext cx="741000" cy="174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27"/>
          <p:cNvCxnSpPr/>
          <p:nvPr/>
        </p:nvCxnSpPr>
        <p:spPr>
          <a:xfrm flipH="1" rot="10800000">
            <a:off x="3264050" y="1846850"/>
            <a:ext cx="2102400" cy="30318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27"/>
          <p:cNvSpPr txBox="1"/>
          <p:nvPr/>
        </p:nvSpPr>
        <p:spPr>
          <a:xfrm>
            <a:off x="5188870" y="1499845"/>
            <a:ext cx="427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Sulfate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34" name="Google Shape;434;p27"/>
          <p:cNvCxnSpPr/>
          <p:nvPr/>
        </p:nvCxnSpPr>
        <p:spPr>
          <a:xfrm rot="10800000">
            <a:off x="3555475" y="3254675"/>
            <a:ext cx="595800" cy="346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27"/>
          <p:cNvCxnSpPr/>
          <p:nvPr/>
        </p:nvCxnSpPr>
        <p:spPr>
          <a:xfrm rot="10800000">
            <a:off x="2643575" y="3652050"/>
            <a:ext cx="942300" cy="759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27"/>
          <p:cNvCxnSpPr/>
          <p:nvPr/>
        </p:nvCxnSpPr>
        <p:spPr>
          <a:xfrm>
            <a:off x="4309175" y="3377050"/>
            <a:ext cx="636900" cy="433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27"/>
          <p:cNvCxnSpPr/>
          <p:nvPr/>
        </p:nvCxnSpPr>
        <p:spPr>
          <a:xfrm rot="10800000">
            <a:off x="4039225" y="3774450"/>
            <a:ext cx="219000" cy="1527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Comparaison des axes 1 et 2</a:t>
            </a:r>
            <a:endParaRPr/>
          </a:p>
        </p:txBody>
      </p:sp>
      <p:pic>
        <p:nvPicPr>
          <p:cNvPr id="443" name="Google Shape;443;p28" title="Capture d’écran 2025-07-09 à 17.16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338" y="957922"/>
            <a:ext cx="4327772" cy="3943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p28"/>
          <p:cNvCxnSpPr/>
          <p:nvPr/>
        </p:nvCxnSpPr>
        <p:spPr>
          <a:xfrm flipH="1">
            <a:off x="6687575" y="1338825"/>
            <a:ext cx="336600" cy="34539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28"/>
          <p:cNvCxnSpPr/>
          <p:nvPr/>
        </p:nvCxnSpPr>
        <p:spPr>
          <a:xfrm rot="10800000">
            <a:off x="6347805" y="1455143"/>
            <a:ext cx="783300" cy="32271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446" name="Google Shape;446;p28"/>
          <p:cNvCxnSpPr/>
          <p:nvPr/>
        </p:nvCxnSpPr>
        <p:spPr>
          <a:xfrm flipH="1" rot="10800000">
            <a:off x="4900384" y="3169560"/>
            <a:ext cx="3765000" cy="481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447" name="Google Shape;447;p28"/>
          <p:cNvCxnSpPr/>
          <p:nvPr/>
        </p:nvCxnSpPr>
        <p:spPr>
          <a:xfrm flipH="1">
            <a:off x="6452071" y="3023220"/>
            <a:ext cx="278100" cy="125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28"/>
          <p:cNvSpPr txBox="1"/>
          <p:nvPr/>
        </p:nvSpPr>
        <p:spPr>
          <a:xfrm>
            <a:off x="5995352" y="1186566"/>
            <a:ext cx="252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Rainfall_lag_1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49" name="Google Shape;449;p28"/>
          <p:cNvSpPr txBox="1"/>
          <p:nvPr/>
        </p:nvSpPr>
        <p:spPr>
          <a:xfrm>
            <a:off x="6308360" y="4631275"/>
            <a:ext cx="56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50" name="Google Shape;450;p28"/>
          <p:cNvSpPr txBox="1"/>
          <p:nvPr/>
        </p:nvSpPr>
        <p:spPr>
          <a:xfrm>
            <a:off x="6963143" y="4620296"/>
            <a:ext cx="252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Temperature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51" name="Google Shape;451;p28"/>
          <p:cNvSpPr txBox="1"/>
          <p:nvPr/>
        </p:nvSpPr>
        <p:spPr>
          <a:xfrm>
            <a:off x="7964977" y="2461600"/>
            <a:ext cx="2526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Plomb +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 +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52" name="Google Shape;452;p28"/>
          <p:cNvCxnSpPr/>
          <p:nvPr/>
        </p:nvCxnSpPr>
        <p:spPr>
          <a:xfrm>
            <a:off x="6435622" y="3135627"/>
            <a:ext cx="26400" cy="323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28"/>
          <p:cNvCxnSpPr/>
          <p:nvPr/>
        </p:nvCxnSpPr>
        <p:spPr>
          <a:xfrm rot="10800000">
            <a:off x="6440265" y="3142845"/>
            <a:ext cx="410400" cy="77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28"/>
          <p:cNvCxnSpPr/>
          <p:nvPr/>
        </p:nvCxnSpPr>
        <p:spPr>
          <a:xfrm flipH="1">
            <a:off x="5904432" y="3234002"/>
            <a:ext cx="879300" cy="294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28"/>
          <p:cNvCxnSpPr/>
          <p:nvPr/>
        </p:nvCxnSpPr>
        <p:spPr>
          <a:xfrm>
            <a:off x="5904541" y="3522037"/>
            <a:ext cx="888600" cy="225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28"/>
          <p:cNvCxnSpPr/>
          <p:nvPr/>
        </p:nvCxnSpPr>
        <p:spPr>
          <a:xfrm flipH="1">
            <a:off x="6850184" y="3739836"/>
            <a:ext cx="58500" cy="351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8"/>
          <p:cNvCxnSpPr/>
          <p:nvPr/>
        </p:nvCxnSpPr>
        <p:spPr>
          <a:xfrm>
            <a:off x="6792662" y="3760909"/>
            <a:ext cx="58500" cy="21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28"/>
          <p:cNvCxnSpPr/>
          <p:nvPr/>
        </p:nvCxnSpPr>
        <p:spPr>
          <a:xfrm>
            <a:off x="6819435" y="3416670"/>
            <a:ext cx="36000" cy="3723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28"/>
          <p:cNvCxnSpPr/>
          <p:nvPr/>
        </p:nvCxnSpPr>
        <p:spPr>
          <a:xfrm flipH="1">
            <a:off x="6940595" y="3662558"/>
            <a:ext cx="316200" cy="1827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28"/>
          <p:cNvCxnSpPr/>
          <p:nvPr/>
        </p:nvCxnSpPr>
        <p:spPr>
          <a:xfrm>
            <a:off x="7234479" y="3360466"/>
            <a:ext cx="22500" cy="3021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28"/>
          <p:cNvCxnSpPr/>
          <p:nvPr/>
        </p:nvCxnSpPr>
        <p:spPr>
          <a:xfrm>
            <a:off x="6819435" y="3500964"/>
            <a:ext cx="437700" cy="162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2" name="Google Shape;462;p28" title="Capture d’écran 2025-07-09 à 16.13.20.png"/>
          <p:cNvPicPr preferRelativeResize="0"/>
          <p:nvPr/>
        </p:nvPicPr>
        <p:blipFill rotWithShape="1">
          <a:blip r:embed="rId4">
            <a:alphaModFix/>
          </a:blip>
          <a:srcRect b="3112" l="10166" r="4618" t="6414"/>
          <a:stretch/>
        </p:blipFill>
        <p:spPr>
          <a:xfrm>
            <a:off x="-76575" y="957925"/>
            <a:ext cx="4557624" cy="4084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3" name="Google Shape;463;p28"/>
          <p:cNvCxnSpPr/>
          <p:nvPr/>
        </p:nvCxnSpPr>
        <p:spPr>
          <a:xfrm rot="10800000">
            <a:off x="1248603" y="1723248"/>
            <a:ext cx="1316700" cy="34446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28"/>
          <p:cNvCxnSpPr/>
          <p:nvPr/>
        </p:nvCxnSpPr>
        <p:spPr>
          <a:xfrm flipH="1" rot="10800000">
            <a:off x="436105" y="2386103"/>
            <a:ext cx="3861000" cy="1818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28"/>
          <p:cNvCxnSpPr/>
          <p:nvPr/>
        </p:nvCxnSpPr>
        <p:spPr>
          <a:xfrm flipH="1" rot="10800000">
            <a:off x="993939" y="2227086"/>
            <a:ext cx="2064900" cy="23406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28"/>
          <p:cNvCxnSpPr/>
          <p:nvPr/>
        </p:nvCxnSpPr>
        <p:spPr>
          <a:xfrm>
            <a:off x="602249" y="3023712"/>
            <a:ext cx="3695100" cy="12996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7" name="Google Shape;467;p28"/>
          <p:cNvCxnSpPr/>
          <p:nvPr/>
        </p:nvCxnSpPr>
        <p:spPr>
          <a:xfrm flipH="1" rot="10800000">
            <a:off x="286838" y="3288437"/>
            <a:ext cx="3902100" cy="3729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p28"/>
          <p:cNvCxnSpPr/>
          <p:nvPr/>
        </p:nvCxnSpPr>
        <p:spPr>
          <a:xfrm>
            <a:off x="1712825" y="1125760"/>
            <a:ext cx="340200" cy="3755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9" name="Google Shape;469;p28"/>
          <p:cNvSpPr txBox="1"/>
          <p:nvPr/>
        </p:nvSpPr>
        <p:spPr>
          <a:xfrm>
            <a:off x="939061" y="1475624"/>
            <a:ext cx="350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0" name="Google Shape;470;p28"/>
          <p:cNvSpPr txBox="1"/>
          <p:nvPr/>
        </p:nvSpPr>
        <p:spPr>
          <a:xfrm>
            <a:off x="1995275" y="4728805"/>
            <a:ext cx="45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1" name="Google Shape;471;p28"/>
          <p:cNvSpPr txBox="1"/>
          <p:nvPr/>
        </p:nvSpPr>
        <p:spPr>
          <a:xfrm>
            <a:off x="2885874" y="1931013"/>
            <a:ext cx="74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2" name="Google Shape;472;p28"/>
          <p:cNvSpPr txBox="1"/>
          <p:nvPr/>
        </p:nvSpPr>
        <p:spPr>
          <a:xfrm>
            <a:off x="3945550" y="3213150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</a:t>
            </a:r>
            <a:endParaRPr sz="12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3" name="Google Shape;473;p28"/>
          <p:cNvSpPr txBox="1"/>
          <p:nvPr/>
        </p:nvSpPr>
        <p:spPr>
          <a:xfrm>
            <a:off x="3625781" y="4333178"/>
            <a:ext cx="145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</a:t>
            </a:r>
            <a:endParaRPr sz="11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74" name="Google Shape;474;p28"/>
          <p:cNvCxnSpPr/>
          <p:nvPr/>
        </p:nvCxnSpPr>
        <p:spPr>
          <a:xfrm>
            <a:off x="2851875" y="3073059"/>
            <a:ext cx="11400" cy="546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28"/>
          <p:cNvCxnSpPr/>
          <p:nvPr/>
        </p:nvCxnSpPr>
        <p:spPr>
          <a:xfrm rot="10800000">
            <a:off x="3658332" y="3336665"/>
            <a:ext cx="41400" cy="955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28"/>
          <p:cNvCxnSpPr/>
          <p:nvPr/>
        </p:nvCxnSpPr>
        <p:spPr>
          <a:xfrm flipH="1" rot="10800000">
            <a:off x="3695988" y="4118310"/>
            <a:ext cx="17100" cy="180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28"/>
          <p:cNvCxnSpPr/>
          <p:nvPr/>
        </p:nvCxnSpPr>
        <p:spPr>
          <a:xfrm flipH="1">
            <a:off x="2954160" y="4295400"/>
            <a:ext cx="743700" cy="883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28"/>
          <p:cNvCxnSpPr/>
          <p:nvPr/>
        </p:nvCxnSpPr>
        <p:spPr>
          <a:xfrm flipH="1" rot="10800000">
            <a:off x="2088609" y="4302035"/>
            <a:ext cx="1610700" cy="5676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28"/>
          <p:cNvCxnSpPr/>
          <p:nvPr/>
        </p:nvCxnSpPr>
        <p:spPr>
          <a:xfrm>
            <a:off x="3453152" y="2792800"/>
            <a:ext cx="246300" cy="1509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8"/>
          <p:cNvCxnSpPr/>
          <p:nvPr/>
        </p:nvCxnSpPr>
        <p:spPr>
          <a:xfrm rot="10800000">
            <a:off x="3627867" y="3017985"/>
            <a:ext cx="12000" cy="332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8"/>
          <p:cNvCxnSpPr/>
          <p:nvPr/>
        </p:nvCxnSpPr>
        <p:spPr>
          <a:xfrm flipH="1" rot="10800000">
            <a:off x="3522785" y="3024652"/>
            <a:ext cx="102900" cy="1028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28"/>
          <p:cNvCxnSpPr/>
          <p:nvPr/>
        </p:nvCxnSpPr>
        <p:spPr>
          <a:xfrm>
            <a:off x="3580163" y="2731643"/>
            <a:ext cx="48300" cy="2886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28"/>
          <p:cNvCxnSpPr/>
          <p:nvPr/>
        </p:nvCxnSpPr>
        <p:spPr>
          <a:xfrm>
            <a:off x="3171333" y="2216157"/>
            <a:ext cx="454200" cy="8004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28"/>
          <p:cNvCxnSpPr/>
          <p:nvPr/>
        </p:nvCxnSpPr>
        <p:spPr>
          <a:xfrm flipH="1" rot="10800000">
            <a:off x="2323037" y="3020434"/>
            <a:ext cx="1305000" cy="1487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28"/>
          <p:cNvCxnSpPr/>
          <p:nvPr/>
        </p:nvCxnSpPr>
        <p:spPr>
          <a:xfrm flipH="1" rot="10800000">
            <a:off x="1951625" y="3016225"/>
            <a:ext cx="1679100" cy="750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28"/>
          <p:cNvCxnSpPr/>
          <p:nvPr/>
        </p:nvCxnSpPr>
        <p:spPr>
          <a:xfrm flipH="1" rot="10800000">
            <a:off x="1813589" y="2106029"/>
            <a:ext cx="369900" cy="83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28"/>
          <p:cNvCxnSpPr/>
          <p:nvPr/>
        </p:nvCxnSpPr>
        <p:spPr>
          <a:xfrm flipH="1" rot="10800000">
            <a:off x="1639011" y="2110831"/>
            <a:ext cx="545100" cy="633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28"/>
          <p:cNvCxnSpPr/>
          <p:nvPr/>
        </p:nvCxnSpPr>
        <p:spPr>
          <a:xfrm>
            <a:off x="2180716" y="2106054"/>
            <a:ext cx="333600" cy="730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28"/>
          <p:cNvCxnSpPr/>
          <p:nvPr/>
        </p:nvCxnSpPr>
        <p:spPr>
          <a:xfrm rot="10800000">
            <a:off x="2183568" y="2106358"/>
            <a:ext cx="174300" cy="1192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28"/>
          <p:cNvCxnSpPr/>
          <p:nvPr/>
        </p:nvCxnSpPr>
        <p:spPr>
          <a:xfrm rot="10800000">
            <a:off x="2186380" y="2110644"/>
            <a:ext cx="76500" cy="1360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28"/>
          <p:cNvCxnSpPr/>
          <p:nvPr/>
        </p:nvCxnSpPr>
        <p:spPr>
          <a:xfrm flipH="1" rot="10800000">
            <a:off x="1944519" y="2106148"/>
            <a:ext cx="239100" cy="1391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8"/>
          <p:cNvCxnSpPr/>
          <p:nvPr/>
        </p:nvCxnSpPr>
        <p:spPr>
          <a:xfrm flipH="1">
            <a:off x="1287342" y="2374629"/>
            <a:ext cx="207900" cy="225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28"/>
          <p:cNvCxnSpPr/>
          <p:nvPr/>
        </p:nvCxnSpPr>
        <p:spPr>
          <a:xfrm flipH="1">
            <a:off x="1192007" y="2599148"/>
            <a:ext cx="92700" cy="629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28"/>
          <p:cNvCxnSpPr/>
          <p:nvPr/>
        </p:nvCxnSpPr>
        <p:spPr>
          <a:xfrm flipH="1" rot="10800000">
            <a:off x="1287281" y="2401061"/>
            <a:ext cx="539100" cy="202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28"/>
          <p:cNvCxnSpPr/>
          <p:nvPr/>
        </p:nvCxnSpPr>
        <p:spPr>
          <a:xfrm>
            <a:off x="1289855" y="2599148"/>
            <a:ext cx="41100" cy="963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28"/>
          <p:cNvCxnSpPr/>
          <p:nvPr/>
        </p:nvCxnSpPr>
        <p:spPr>
          <a:xfrm>
            <a:off x="1287281" y="2599148"/>
            <a:ext cx="174300" cy="1127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28"/>
          <p:cNvSpPr txBox="1"/>
          <p:nvPr/>
        </p:nvSpPr>
        <p:spPr>
          <a:xfrm>
            <a:off x="4350675" y="3576899"/>
            <a:ext cx="116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4129650" y="957925"/>
            <a:ext cx="743700" cy="28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499" name="Google Shape;499;p28"/>
          <p:cNvCxnSpPr/>
          <p:nvPr/>
        </p:nvCxnSpPr>
        <p:spPr>
          <a:xfrm flipH="1" rot="10800000">
            <a:off x="5821650" y="1841625"/>
            <a:ext cx="2102400" cy="30318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28"/>
          <p:cNvSpPr txBox="1"/>
          <p:nvPr/>
        </p:nvSpPr>
        <p:spPr>
          <a:xfrm>
            <a:off x="7746470" y="1494620"/>
            <a:ext cx="427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Sulfate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501" name="Google Shape;501;p28"/>
          <p:cNvCxnSpPr/>
          <p:nvPr/>
        </p:nvCxnSpPr>
        <p:spPr>
          <a:xfrm rot="10800000">
            <a:off x="6441450" y="3151500"/>
            <a:ext cx="367500" cy="290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28"/>
          <p:cNvCxnSpPr/>
          <p:nvPr/>
        </p:nvCxnSpPr>
        <p:spPr>
          <a:xfrm rot="10800000">
            <a:off x="5903475" y="3526875"/>
            <a:ext cx="575400" cy="396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28"/>
          <p:cNvCxnSpPr/>
          <p:nvPr/>
        </p:nvCxnSpPr>
        <p:spPr>
          <a:xfrm rot="10800000">
            <a:off x="6657975" y="3665300"/>
            <a:ext cx="195000" cy="1164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28"/>
          <p:cNvCxnSpPr/>
          <p:nvPr/>
        </p:nvCxnSpPr>
        <p:spPr>
          <a:xfrm rot="10800000">
            <a:off x="6881225" y="3360325"/>
            <a:ext cx="380400" cy="2925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COWG</a:t>
            </a:r>
            <a:r>
              <a:rPr lang="fr" sz="3600">
                <a:latin typeface="Oswald"/>
                <a:ea typeface="Oswald"/>
                <a:cs typeface="Oswald"/>
                <a:sym typeface="Oswald"/>
              </a:rPr>
              <a:t> (2004-2010)</a:t>
            </a:r>
            <a:endParaRPr/>
          </a:p>
        </p:txBody>
      </p:sp>
      <p:sp>
        <p:nvSpPr>
          <p:cNvPr id="510" name="Google Shape;510;p29"/>
          <p:cNvSpPr txBox="1"/>
          <p:nvPr/>
        </p:nvSpPr>
        <p:spPr>
          <a:xfrm>
            <a:off x="5184100" y="1361375"/>
            <a:ext cx="3903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Contributions 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1 : Conductivité, Arsenic, Zinc, Fer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2 : Pluie à t, pH, O2, Plomb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3 : Pluie à t-1, Température, pH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4 : Pluie à t, Température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5 : Pluie à t</a:t>
            </a:r>
            <a:r>
              <a:rPr lang="fr"/>
              <a:t>, Température, pH, O2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Nous gardons les dimensions 1, 2. </a:t>
            </a:r>
            <a:endParaRPr/>
          </a:p>
        </p:txBody>
      </p:sp>
      <p:pic>
        <p:nvPicPr>
          <p:cNvPr id="511" name="Google Shape;511;p29" title="Capture d’écran 2025-07-07 à 14.49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7200"/>
            <a:ext cx="4350599" cy="423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0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</a:t>
            </a:r>
            <a:endParaRPr/>
          </a:p>
        </p:txBody>
      </p:sp>
      <p:pic>
        <p:nvPicPr>
          <p:cNvPr id="517" name="Google Shape;517;p30" title="Capture d’écran 2025-07-07 à 14.52.10.png"/>
          <p:cNvPicPr preferRelativeResize="0"/>
          <p:nvPr/>
        </p:nvPicPr>
        <p:blipFill rotWithShape="1">
          <a:blip r:embed="rId3">
            <a:alphaModFix/>
          </a:blip>
          <a:srcRect b="0" l="0" r="50497" t="0"/>
          <a:stretch/>
        </p:blipFill>
        <p:spPr>
          <a:xfrm>
            <a:off x="0" y="933600"/>
            <a:ext cx="3848627" cy="42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0" title="Capture d’écran 2025-07-09 à 17.39.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8625" y="947300"/>
            <a:ext cx="5295375" cy="4209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9" name="Google Shape;519;p30"/>
          <p:cNvCxnSpPr/>
          <p:nvPr/>
        </p:nvCxnSpPr>
        <p:spPr>
          <a:xfrm rot="10800000">
            <a:off x="5166350" y="1849625"/>
            <a:ext cx="2268600" cy="29292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30"/>
          <p:cNvCxnSpPr/>
          <p:nvPr/>
        </p:nvCxnSpPr>
        <p:spPr>
          <a:xfrm rot="10800000">
            <a:off x="6220125" y="1189801"/>
            <a:ext cx="0" cy="3693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521" name="Google Shape;521;p30"/>
          <p:cNvCxnSpPr/>
          <p:nvPr/>
        </p:nvCxnSpPr>
        <p:spPr>
          <a:xfrm flipH="1" rot="10800000">
            <a:off x="4185225" y="2596211"/>
            <a:ext cx="4556100" cy="115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2" name="Google Shape;522;p30"/>
          <p:cNvSpPr txBox="1"/>
          <p:nvPr/>
        </p:nvSpPr>
        <p:spPr>
          <a:xfrm>
            <a:off x="7935202" y="2682800"/>
            <a:ext cx="252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9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</a:t>
            </a:r>
            <a:endParaRPr sz="9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 +</a:t>
            </a:r>
            <a:endParaRPr sz="9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9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23" name="Google Shape;523;p30"/>
          <p:cNvSpPr txBox="1"/>
          <p:nvPr/>
        </p:nvSpPr>
        <p:spPr>
          <a:xfrm>
            <a:off x="5825452" y="933600"/>
            <a:ext cx="25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 </a:t>
            </a:r>
            <a:r>
              <a:rPr lang="fr" sz="10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4707877" y="1451375"/>
            <a:ext cx="252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 +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Rainfall_lag_1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25" name="Google Shape;525;p30"/>
          <p:cNvSpPr txBox="1"/>
          <p:nvPr/>
        </p:nvSpPr>
        <p:spPr>
          <a:xfrm>
            <a:off x="6220127" y="4665875"/>
            <a:ext cx="25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526" name="Google Shape;526;p30"/>
          <p:cNvCxnSpPr/>
          <p:nvPr/>
        </p:nvCxnSpPr>
        <p:spPr>
          <a:xfrm flipH="1">
            <a:off x="4960675" y="2350850"/>
            <a:ext cx="592200" cy="384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0"/>
          <p:cNvCxnSpPr/>
          <p:nvPr/>
        </p:nvCxnSpPr>
        <p:spPr>
          <a:xfrm flipH="1">
            <a:off x="4961050" y="2711575"/>
            <a:ext cx="1260600" cy="12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0"/>
          <p:cNvCxnSpPr/>
          <p:nvPr/>
        </p:nvCxnSpPr>
        <p:spPr>
          <a:xfrm rot="10800000">
            <a:off x="4960975" y="2731875"/>
            <a:ext cx="202800" cy="778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0"/>
          <p:cNvCxnSpPr/>
          <p:nvPr/>
        </p:nvCxnSpPr>
        <p:spPr>
          <a:xfrm flipH="1">
            <a:off x="5013700" y="1994175"/>
            <a:ext cx="267600" cy="190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30"/>
          <p:cNvCxnSpPr/>
          <p:nvPr/>
        </p:nvCxnSpPr>
        <p:spPr>
          <a:xfrm flipH="1" rot="10800000">
            <a:off x="5013800" y="2176575"/>
            <a:ext cx="1212000" cy="8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0"/>
          <p:cNvCxnSpPr/>
          <p:nvPr/>
        </p:nvCxnSpPr>
        <p:spPr>
          <a:xfrm>
            <a:off x="5021900" y="2184675"/>
            <a:ext cx="308100" cy="1288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0"/>
          <p:cNvCxnSpPr/>
          <p:nvPr/>
        </p:nvCxnSpPr>
        <p:spPr>
          <a:xfrm>
            <a:off x="7581900" y="2895600"/>
            <a:ext cx="424500" cy="1273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0"/>
          <p:cNvCxnSpPr/>
          <p:nvPr/>
        </p:nvCxnSpPr>
        <p:spPr>
          <a:xfrm flipH="1" rot="10800000">
            <a:off x="7347850" y="4163775"/>
            <a:ext cx="658800" cy="495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30"/>
          <p:cNvCxnSpPr/>
          <p:nvPr/>
        </p:nvCxnSpPr>
        <p:spPr>
          <a:xfrm flipH="1" rot="10800000">
            <a:off x="6220125" y="4163150"/>
            <a:ext cx="1779900" cy="38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30"/>
          <p:cNvCxnSpPr/>
          <p:nvPr/>
        </p:nvCxnSpPr>
        <p:spPr>
          <a:xfrm flipH="1" rot="10800000">
            <a:off x="6237525" y="2019375"/>
            <a:ext cx="1953900" cy="10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30"/>
          <p:cNvCxnSpPr/>
          <p:nvPr/>
        </p:nvCxnSpPr>
        <p:spPr>
          <a:xfrm flipH="1">
            <a:off x="6248400" y="2019300"/>
            <a:ext cx="1943100" cy="1213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30"/>
          <p:cNvCxnSpPr/>
          <p:nvPr/>
        </p:nvCxnSpPr>
        <p:spPr>
          <a:xfrm>
            <a:off x="8175175" y="2019300"/>
            <a:ext cx="195900" cy="6750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1"/>
          <p:cNvSpPr txBox="1"/>
          <p:nvPr/>
        </p:nvSpPr>
        <p:spPr>
          <a:xfrm>
            <a:off x="309900" y="88400"/>
            <a:ext cx="86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Comparaison des axes 1 et 2 (2004-2010)</a:t>
            </a:r>
            <a:endParaRPr/>
          </a:p>
        </p:txBody>
      </p:sp>
      <p:pic>
        <p:nvPicPr>
          <p:cNvPr id="543" name="Google Shape;543;p31" title="Capture d’écran 2025-07-09 à 17.39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625" y="947300"/>
            <a:ext cx="5295375" cy="4209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4" name="Google Shape;544;p31"/>
          <p:cNvCxnSpPr/>
          <p:nvPr/>
        </p:nvCxnSpPr>
        <p:spPr>
          <a:xfrm rot="10800000">
            <a:off x="5166350" y="1849625"/>
            <a:ext cx="2268600" cy="29292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31"/>
          <p:cNvCxnSpPr/>
          <p:nvPr/>
        </p:nvCxnSpPr>
        <p:spPr>
          <a:xfrm rot="10800000">
            <a:off x="6220125" y="1189801"/>
            <a:ext cx="0" cy="3693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546" name="Google Shape;546;p31"/>
          <p:cNvCxnSpPr/>
          <p:nvPr/>
        </p:nvCxnSpPr>
        <p:spPr>
          <a:xfrm flipH="1" rot="10800000">
            <a:off x="4185225" y="2596211"/>
            <a:ext cx="4556100" cy="1158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p31"/>
          <p:cNvSpPr txBox="1"/>
          <p:nvPr/>
        </p:nvSpPr>
        <p:spPr>
          <a:xfrm>
            <a:off x="7935202" y="2682800"/>
            <a:ext cx="252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9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</a:t>
            </a:r>
            <a:endParaRPr sz="9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 +</a:t>
            </a:r>
            <a:endParaRPr sz="9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9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48" name="Google Shape;548;p31"/>
          <p:cNvSpPr txBox="1"/>
          <p:nvPr/>
        </p:nvSpPr>
        <p:spPr>
          <a:xfrm>
            <a:off x="5825452" y="933600"/>
            <a:ext cx="25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 + </a:t>
            </a:r>
            <a:r>
              <a:rPr lang="fr" sz="10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49" name="Google Shape;549;p31"/>
          <p:cNvSpPr txBox="1"/>
          <p:nvPr/>
        </p:nvSpPr>
        <p:spPr>
          <a:xfrm>
            <a:off x="4707877" y="1451375"/>
            <a:ext cx="252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 +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Rainfall_lag_1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50" name="Google Shape;550;p31"/>
          <p:cNvSpPr txBox="1"/>
          <p:nvPr/>
        </p:nvSpPr>
        <p:spPr>
          <a:xfrm>
            <a:off x="6220127" y="4665875"/>
            <a:ext cx="25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551" name="Google Shape;551;p31"/>
          <p:cNvCxnSpPr/>
          <p:nvPr/>
        </p:nvCxnSpPr>
        <p:spPr>
          <a:xfrm flipH="1">
            <a:off x="4960675" y="2350850"/>
            <a:ext cx="592200" cy="384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1"/>
          <p:cNvCxnSpPr/>
          <p:nvPr/>
        </p:nvCxnSpPr>
        <p:spPr>
          <a:xfrm flipH="1">
            <a:off x="4961050" y="2711575"/>
            <a:ext cx="1260600" cy="12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31"/>
          <p:cNvCxnSpPr/>
          <p:nvPr/>
        </p:nvCxnSpPr>
        <p:spPr>
          <a:xfrm rot="10800000">
            <a:off x="4960975" y="2731875"/>
            <a:ext cx="202800" cy="778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31"/>
          <p:cNvCxnSpPr/>
          <p:nvPr/>
        </p:nvCxnSpPr>
        <p:spPr>
          <a:xfrm flipH="1">
            <a:off x="5013700" y="1994175"/>
            <a:ext cx="267600" cy="190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31"/>
          <p:cNvCxnSpPr/>
          <p:nvPr/>
        </p:nvCxnSpPr>
        <p:spPr>
          <a:xfrm flipH="1" rot="10800000">
            <a:off x="5013800" y="2176575"/>
            <a:ext cx="1212000" cy="8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31"/>
          <p:cNvCxnSpPr/>
          <p:nvPr/>
        </p:nvCxnSpPr>
        <p:spPr>
          <a:xfrm>
            <a:off x="5021900" y="2184675"/>
            <a:ext cx="308100" cy="1288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31"/>
          <p:cNvCxnSpPr/>
          <p:nvPr/>
        </p:nvCxnSpPr>
        <p:spPr>
          <a:xfrm>
            <a:off x="7581900" y="2895600"/>
            <a:ext cx="424500" cy="1273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31"/>
          <p:cNvCxnSpPr/>
          <p:nvPr/>
        </p:nvCxnSpPr>
        <p:spPr>
          <a:xfrm flipH="1" rot="10800000">
            <a:off x="7347850" y="4163775"/>
            <a:ext cx="658800" cy="495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1"/>
          <p:cNvCxnSpPr/>
          <p:nvPr/>
        </p:nvCxnSpPr>
        <p:spPr>
          <a:xfrm flipH="1" rot="10800000">
            <a:off x="6220125" y="4163150"/>
            <a:ext cx="1779900" cy="38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1"/>
          <p:cNvCxnSpPr/>
          <p:nvPr/>
        </p:nvCxnSpPr>
        <p:spPr>
          <a:xfrm flipH="1" rot="10800000">
            <a:off x="6237525" y="2019375"/>
            <a:ext cx="1953900" cy="10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31"/>
          <p:cNvCxnSpPr/>
          <p:nvPr/>
        </p:nvCxnSpPr>
        <p:spPr>
          <a:xfrm flipH="1">
            <a:off x="6248400" y="2019300"/>
            <a:ext cx="1943100" cy="1213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1"/>
          <p:cNvCxnSpPr/>
          <p:nvPr/>
        </p:nvCxnSpPr>
        <p:spPr>
          <a:xfrm>
            <a:off x="8175175" y="2019300"/>
            <a:ext cx="195900" cy="6750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3" name="Google Shape;563;p31" title="Capture d’écran 2025-07-09 à 16.13.20.png"/>
          <p:cNvPicPr preferRelativeResize="0"/>
          <p:nvPr/>
        </p:nvPicPr>
        <p:blipFill rotWithShape="1">
          <a:blip r:embed="rId4">
            <a:alphaModFix/>
          </a:blip>
          <a:srcRect b="3112" l="10166" r="4618" t="6414"/>
          <a:stretch/>
        </p:blipFill>
        <p:spPr>
          <a:xfrm>
            <a:off x="-76575" y="957925"/>
            <a:ext cx="4557624" cy="4084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4" name="Google Shape;564;p31"/>
          <p:cNvCxnSpPr/>
          <p:nvPr/>
        </p:nvCxnSpPr>
        <p:spPr>
          <a:xfrm rot="10800000">
            <a:off x="1248603" y="1723248"/>
            <a:ext cx="1316700" cy="34446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31"/>
          <p:cNvCxnSpPr/>
          <p:nvPr/>
        </p:nvCxnSpPr>
        <p:spPr>
          <a:xfrm flipH="1" rot="10800000">
            <a:off x="436105" y="2386103"/>
            <a:ext cx="3861000" cy="18180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31"/>
          <p:cNvCxnSpPr/>
          <p:nvPr/>
        </p:nvCxnSpPr>
        <p:spPr>
          <a:xfrm flipH="1" rot="10800000">
            <a:off x="993939" y="2227086"/>
            <a:ext cx="2064900" cy="23406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31"/>
          <p:cNvCxnSpPr/>
          <p:nvPr/>
        </p:nvCxnSpPr>
        <p:spPr>
          <a:xfrm>
            <a:off x="602249" y="3023712"/>
            <a:ext cx="3695100" cy="12996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31"/>
          <p:cNvCxnSpPr/>
          <p:nvPr/>
        </p:nvCxnSpPr>
        <p:spPr>
          <a:xfrm flipH="1" rot="10800000">
            <a:off x="286838" y="3288437"/>
            <a:ext cx="3902100" cy="3729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31"/>
          <p:cNvCxnSpPr/>
          <p:nvPr/>
        </p:nvCxnSpPr>
        <p:spPr>
          <a:xfrm>
            <a:off x="1712825" y="1125760"/>
            <a:ext cx="340200" cy="3755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0" name="Google Shape;570;p31"/>
          <p:cNvSpPr txBox="1"/>
          <p:nvPr/>
        </p:nvSpPr>
        <p:spPr>
          <a:xfrm>
            <a:off x="939061" y="1475624"/>
            <a:ext cx="350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71" name="Google Shape;571;p31"/>
          <p:cNvSpPr txBox="1"/>
          <p:nvPr/>
        </p:nvSpPr>
        <p:spPr>
          <a:xfrm>
            <a:off x="1995275" y="4728805"/>
            <a:ext cx="45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3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72" name="Google Shape;572;p31"/>
          <p:cNvSpPr txBox="1"/>
          <p:nvPr/>
        </p:nvSpPr>
        <p:spPr>
          <a:xfrm>
            <a:off x="2885874" y="1931013"/>
            <a:ext cx="74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3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73" name="Google Shape;573;p31"/>
          <p:cNvSpPr txBox="1"/>
          <p:nvPr/>
        </p:nvSpPr>
        <p:spPr>
          <a:xfrm>
            <a:off x="3945550" y="3213150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</a:t>
            </a:r>
            <a:endParaRPr sz="12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74" name="Google Shape;574;p31"/>
          <p:cNvSpPr txBox="1"/>
          <p:nvPr/>
        </p:nvSpPr>
        <p:spPr>
          <a:xfrm>
            <a:off x="3625781" y="4333178"/>
            <a:ext cx="145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</a:t>
            </a:r>
            <a:endParaRPr sz="11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575" name="Google Shape;575;p31"/>
          <p:cNvCxnSpPr/>
          <p:nvPr/>
        </p:nvCxnSpPr>
        <p:spPr>
          <a:xfrm>
            <a:off x="2851875" y="3073059"/>
            <a:ext cx="11400" cy="546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31"/>
          <p:cNvCxnSpPr/>
          <p:nvPr/>
        </p:nvCxnSpPr>
        <p:spPr>
          <a:xfrm rot="10800000">
            <a:off x="3658332" y="3336665"/>
            <a:ext cx="41400" cy="955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31"/>
          <p:cNvCxnSpPr/>
          <p:nvPr/>
        </p:nvCxnSpPr>
        <p:spPr>
          <a:xfrm flipH="1" rot="10800000">
            <a:off x="3695988" y="4118310"/>
            <a:ext cx="17100" cy="180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31"/>
          <p:cNvCxnSpPr/>
          <p:nvPr/>
        </p:nvCxnSpPr>
        <p:spPr>
          <a:xfrm flipH="1">
            <a:off x="2954160" y="4295400"/>
            <a:ext cx="743700" cy="8835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31"/>
          <p:cNvCxnSpPr/>
          <p:nvPr/>
        </p:nvCxnSpPr>
        <p:spPr>
          <a:xfrm flipH="1" rot="10800000">
            <a:off x="2088609" y="4302035"/>
            <a:ext cx="1610700" cy="5676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1"/>
          <p:cNvCxnSpPr/>
          <p:nvPr/>
        </p:nvCxnSpPr>
        <p:spPr>
          <a:xfrm>
            <a:off x="3453152" y="2792800"/>
            <a:ext cx="246300" cy="1509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31"/>
          <p:cNvCxnSpPr/>
          <p:nvPr/>
        </p:nvCxnSpPr>
        <p:spPr>
          <a:xfrm rot="10800000">
            <a:off x="3627867" y="3017985"/>
            <a:ext cx="12000" cy="332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31"/>
          <p:cNvCxnSpPr/>
          <p:nvPr/>
        </p:nvCxnSpPr>
        <p:spPr>
          <a:xfrm flipH="1" rot="10800000">
            <a:off x="3522785" y="3024652"/>
            <a:ext cx="102900" cy="1028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31"/>
          <p:cNvCxnSpPr/>
          <p:nvPr/>
        </p:nvCxnSpPr>
        <p:spPr>
          <a:xfrm>
            <a:off x="3580163" y="2731643"/>
            <a:ext cx="48300" cy="2886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31"/>
          <p:cNvCxnSpPr/>
          <p:nvPr/>
        </p:nvCxnSpPr>
        <p:spPr>
          <a:xfrm>
            <a:off x="3171333" y="2216157"/>
            <a:ext cx="454200" cy="8004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31"/>
          <p:cNvCxnSpPr/>
          <p:nvPr/>
        </p:nvCxnSpPr>
        <p:spPr>
          <a:xfrm flipH="1" rot="10800000">
            <a:off x="2323037" y="3020434"/>
            <a:ext cx="1305000" cy="1487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1"/>
          <p:cNvCxnSpPr/>
          <p:nvPr/>
        </p:nvCxnSpPr>
        <p:spPr>
          <a:xfrm flipH="1" rot="10800000">
            <a:off x="1951625" y="3016225"/>
            <a:ext cx="1679100" cy="7503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31"/>
          <p:cNvCxnSpPr/>
          <p:nvPr/>
        </p:nvCxnSpPr>
        <p:spPr>
          <a:xfrm flipH="1" rot="10800000">
            <a:off x="1813589" y="2106029"/>
            <a:ext cx="369900" cy="83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31"/>
          <p:cNvCxnSpPr/>
          <p:nvPr/>
        </p:nvCxnSpPr>
        <p:spPr>
          <a:xfrm flipH="1" rot="10800000">
            <a:off x="1639011" y="2110831"/>
            <a:ext cx="545100" cy="633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31"/>
          <p:cNvCxnSpPr/>
          <p:nvPr/>
        </p:nvCxnSpPr>
        <p:spPr>
          <a:xfrm>
            <a:off x="2180716" y="2106054"/>
            <a:ext cx="333600" cy="730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31"/>
          <p:cNvCxnSpPr/>
          <p:nvPr/>
        </p:nvCxnSpPr>
        <p:spPr>
          <a:xfrm rot="10800000">
            <a:off x="2183568" y="2106358"/>
            <a:ext cx="174300" cy="1192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31"/>
          <p:cNvCxnSpPr/>
          <p:nvPr/>
        </p:nvCxnSpPr>
        <p:spPr>
          <a:xfrm rot="10800000">
            <a:off x="2186380" y="2110644"/>
            <a:ext cx="76500" cy="13602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31"/>
          <p:cNvCxnSpPr/>
          <p:nvPr/>
        </p:nvCxnSpPr>
        <p:spPr>
          <a:xfrm flipH="1" rot="10800000">
            <a:off x="1944519" y="2106148"/>
            <a:ext cx="239100" cy="1391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31"/>
          <p:cNvCxnSpPr/>
          <p:nvPr/>
        </p:nvCxnSpPr>
        <p:spPr>
          <a:xfrm flipH="1">
            <a:off x="1287342" y="2374629"/>
            <a:ext cx="207900" cy="225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1"/>
          <p:cNvCxnSpPr/>
          <p:nvPr/>
        </p:nvCxnSpPr>
        <p:spPr>
          <a:xfrm flipH="1">
            <a:off x="1192007" y="2599148"/>
            <a:ext cx="92700" cy="629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31"/>
          <p:cNvCxnSpPr/>
          <p:nvPr/>
        </p:nvCxnSpPr>
        <p:spPr>
          <a:xfrm flipH="1" rot="10800000">
            <a:off x="1287281" y="2401061"/>
            <a:ext cx="539100" cy="202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1"/>
          <p:cNvCxnSpPr/>
          <p:nvPr/>
        </p:nvCxnSpPr>
        <p:spPr>
          <a:xfrm>
            <a:off x="1289855" y="2599148"/>
            <a:ext cx="41100" cy="963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31"/>
          <p:cNvCxnSpPr/>
          <p:nvPr/>
        </p:nvCxnSpPr>
        <p:spPr>
          <a:xfrm>
            <a:off x="1287281" y="2599148"/>
            <a:ext cx="174300" cy="1127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31"/>
          <p:cNvSpPr txBox="1"/>
          <p:nvPr/>
        </p:nvSpPr>
        <p:spPr>
          <a:xfrm>
            <a:off x="-6175" y="912525"/>
            <a:ext cx="596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S1</a:t>
            </a:r>
            <a:endParaRPr b="1"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99" name="Google Shape;599;p31"/>
          <p:cNvSpPr txBox="1"/>
          <p:nvPr/>
        </p:nvSpPr>
        <p:spPr>
          <a:xfrm>
            <a:off x="4445450" y="905163"/>
            <a:ext cx="596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COWG</a:t>
            </a:r>
            <a:endParaRPr b="1"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2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COWG (2011-2022)</a:t>
            </a:r>
            <a:endParaRPr/>
          </a:p>
        </p:txBody>
      </p:sp>
      <p:sp>
        <p:nvSpPr>
          <p:cNvPr id="605" name="Google Shape;605;p32"/>
          <p:cNvSpPr txBox="1"/>
          <p:nvPr/>
        </p:nvSpPr>
        <p:spPr>
          <a:xfrm>
            <a:off x="4926050" y="1361375"/>
            <a:ext cx="4161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Contributions 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1 : Pluie à t, Conductivité,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  Arsenic, </a:t>
            </a:r>
            <a:r>
              <a:rPr lang="fr"/>
              <a:t>Sulfate,</a:t>
            </a:r>
            <a:r>
              <a:rPr lang="fr"/>
              <a:t> Zinc, Fer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2 : Température, pH, O2, Plomb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3 : Pluie à t-1, Température, 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4 : Pluie à t-1, Température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Dimension 5 : Température,</a:t>
            </a:r>
            <a:r>
              <a:rPr lang="fr"/>
              <a:t> </a:t>
            </a:r>
            <a:r>
              <a:rPr lang="fr"/>
              <a:t>O2, Conductivité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Nous gardons les dimensions 1, 2. </a:t>
            </a:r>
            <a:endParaRPr/>
          </a:p>
        </p:txBody>
      </p:sp>
      <p:pic>
        <p:nvPicPr>
          <p:cNvPr id="606" name="Google Shape;606;p32" title="Capture d’écran 2025-07-09 à 17.52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50" y="924200"/>
            <a:ext cx="4496675" cy="42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3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</a:t>
            </a:r>
            <a:endParaRPr/>
          </a:p>
        </p:txBody>
      </p:sp>
      <p:pic>
        <p:nvPicPr>
          <p:cNvPr id="612" name="Google Shape;612;p33" title="Capture d’écran 2025-07-09 à 17.53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5300"/>
            <a:ext cx="4087526" cy="398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3" title="Capture d’écran 2025-07-09 à 17.53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4300" y="1085311"/>
            <a:ext cx="5289702" cy="40581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4" name="Google Shape;614;p33"/>
          <p:cNvCxnSpPr/>
          <p:nvPr/>
        </p:nvCxnSpPr>
        <p:spPr>
          <a:xfrm rot="10800000">
            <a:off x="4422854" y="1757401"/>
            <a:ext cx="4062600" cy="1208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33"/>
          <p:cNvCxnSpPr/>
          <p:nvPr/>
        </p:nvCxnSpPr>
        <p:spPr>
          <a:xfrm flipH="1" rot="10800000">
            <a:off x="4726700" y="2209050"/>
            <a:ext cx="3924600" cy="788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33"/>
          <p:cNvCxnSpPr/>
          <p:nvPr/>
        </p:nvCxnSpPr>
        <p:spPr>
          <a:xfrm flipH="1" rot="10800000">
            <a:off x="6803558" y="1270145"/>
            <a:ext cx="447300" cy="2774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17" name="Google Shape;617;p33"/>
          <p:cNvCxnSpPr/>
          <p:nvPr/>
        </p:nvCxnSpPr>
        <p:spPr>
          <a:xfrm rot="10800000">
            <a:off x="6095264" y="1354216"/>
            <a:ext cx="1940100" cy="2438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33"/>
          <p:cNvSpPr txBox="1"/>
          <p:nvPr/>
        </p:nvSpPr>
        <p:spPr>
          <a:xfrm>
            <a:off x="4175551" y="1458750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19" name="Google Shape;619;p33"/>
          <p:cNvSpPr txBox="1"/>
          <p:nvPr/>
        </p:nvSpPr>
        <p:spPr>
          <a:xfrm>
            <a:off x="6010651" y="1122988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20" name="Google Shape;620;p33"/>
          <p:cNvSpPr txBox="1"/>
          <p:nvPr/>
        </p:nvSpPr>
        <p:spPr>
          <a:xfrm>
            <a:off x="7002826" y="996700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21" name="Google Shape;621;p33"/>
          <p:cNvSpPr txBox="1"/>
          <p:nvPr/>
        </p:nvSpPr>
        <p:spPr>
          <a:xfrm>
            <a:off x="6630751" y="3956238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22" name="Google Shape;622;p33"/>
          <p:cNvSpPr txBox="1"/>
          <p:nvPr/>
        </p:nvSpPr>
        <p:spPr>
          <a:xfrm>
            <a:off x="8260102" y="2158400"/>
            <a:ext cx="252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6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Sulfate +</a:t>
            </a:r>
            <a:endParaRPr sz="6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 +</a:t>
            </a:r>
            <a:endParaRPr sz="6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6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23" name="Google Shape;623;p33"/>
          <p:cNvCxnSpPr/>
          <p:nvPr/>
        </p:nvCxnSpPr>
        <p:spPr>
          <a:xfrm flipH="1" rot="10800000">
            <a:off x="6266450" y="1991100"/>
            <a:ext cx="329400" cy="250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33"/>
          <p:cNvCxnSpPr/>
          <p:nvPr/>
        </p:nvCxnSpPr>
        <p:spPr>
          <a:xfrm flipH="1" rot="10800000">
            <a:off x="6234225" y="2241575"/>
            <a:ext cx="25200" cy="60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33"/>
          <p:cNvCxnSpPr/>
          <p:nvPr/>
        </p:nvCxnSpPr>
        <p:spPr>
          <a:xfrm rot="10800000">
            <a:off x="6259325" y="2248575"/>
            <a:ext cx="103800" cy="426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33"/>
          <p:cNvCxnSpPr/>
          <p:nvPr/>
        </p:nvCxnSpPr>
        <p:spPr>
          <a:xfrm rot="10800000">
            <a:off x="6259500" y="2245100"/>
            <a:ext cx="798300" cy="240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33"/>
          <p:cNvCxnSpPr/>
          <p:nvPr/>
        </p:nvCxnSpPr>
        <p:spPr>
          <a:xfrm flipH="1">
            <a:off x="5041750" y="1958700"/>
            <a:ext cx="64500" cy="222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3"/>
          <p:cNvCxnSpPr/>
          <p:nvPr/>
        </p:nvCxnSpPr>
        <p:spPr>
          <a:xfrm>
            <a:off x="5041800" y="2191475"/>
            <a:ext cx="150300" cy="719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3"/>
          <p:cNvCxnSpPr/>
          <p:nvPr/>
        </p:nvCxnSpPr>
        <p:spPr>
          <a:xfrm flipH="1" rot="10800000">
            <a:off x="5043275" y="1478375"/>
            <a:ext cx="1144500" cy="707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33"/>
          <p:cNvCxnSpPr/>
          <p:nvPr/>
        </p:nvCxnSpPr>
        <p:spPr>
          <a:xfrm>
            <a:off x="5049100" y="2187375"/>
            <a:ext cx="1964100" cy="594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3"/>
          <p:cNvCxnSpPr/>
          <p:nvPr/>
        </p:nvCxnSpPr>
        <p:spPr>
          <a:xfrm>
            <a:off x="7093750" y="2289150"/>
            <a:ext cx="780600" cy="142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3"/>
          <p:cNvCxnSpPr/>
          <p:nvPr/>
        </p:nvCxnSpPr>
        <p:spPr>
          <a:xfrm>
            <a:off x="7851550" y="2369850"/>
            <a:ext cx="26400" cy="59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3"/>
          <p:cNvCxnSpPr/>
          <p:nvPr/>
        </p:nvCxnSpPr>
        <p:spPr>
          <a:xfrm flipH="1">
            <a:off x="7790300" y="2434750"/>
            <a:ext cx="85800" cy="3246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3"/>
          <p:cNvCxnSpPr/>
          <p:nvPr/>
        </p:nvCxnSpPr>
        <p:spPr>
          <a:xfrm flipH="1">
            <a:off x="7291950" y="2429500"/>
            <a:ext cx="585900" cy="422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3"/>
          <p:cNvCxnSpPr/>
          <p:nvPr/>
        </p:nvCxnSpPr>
        <p:spPr>
          <a:xfrm>
            <a:off x="6995525" y="2376875"/>
            <a:ext cx="75300" cy="159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33"/>
          <p:cNvCxnSpPr/>
          <p:nvPr/>
        </p:nvCxnSpPr>
        <p:spPr>
          <a:xfrm flipH="1">
            <a:off x="6941125" y="2375100"/>
            <a:ext cx="57900" cy="38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33"/>
          <p:cNvCxnSpPr/>
          <p:nvPr/>
        </p:nvCxnSpPr>
        <p:spPr>
          <a:xfrm>
            <a:off x="6995525" y="2375100"/>
            <a:ext cx="51000" cy="1560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33"/>
          <p:cNvCxnSpPr/>
          <p:nvPr/>
        </p:nvCxnSpPr>
        <p:spPr>
          <a:xfrm flipH="1">
            <a:off x="6960475" y="2373350"/>
            <a:ext cx="33300" cy="136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4"/>
          <p:cNvSpPr txBox="1"/>
          <p:nvPr/>
        </p:nvSpPr>
        <p:spPr>
          <a:xfrm>
            <a:off x="309900" y="88400"/>
            <a:ext cx="86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Comparaison des axes 1 et 2 (2011-2019)</a:t>
            </a:r>
            <a:endParaRPr/>
          </a:p>
        </p:txBody>
      </p:sp>
      <p:pic>
        <p:nvPicPr>
          <p:cNvPr id="644" name="Google Shape;644;p34" title="Capture d’écran 2025-07-09 à 17.53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4300" y="1085311"/>
            <a:ext cx="5289702" cy="40581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5" name="Google Shape;645;p34"/>
          <p:cNvCxnSpPr/>
          <p:nvPr/>
        </p:nvCxnSpPr>
        <p:spPr>
          <a:xfrm rot="10800000">
            <a:off x="4422854" y="1757401"/>
            <a:ext cx="4062600" cy="1208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6" name="Google Shape;646;p34"/>
          <p:cNvCxnSpPr/>
          <p:nvPr/>
        </p:nvCxnSpPr>
        <p:spPr>
          <a:xfrm flipH="1" rot="10800000">
            <a:off x="4726700" y="2209050"/>
            <a:ext cx="3924600" cy="788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7" name="Google Shape;647;p34"/>
          <p:cNvCxnSpPr/>
          <p:nvPr/>
        </p:nvCxnSpPr>
        <p:spPr>
          <a:xfrm flipH="1" rot="10800000">
            <a:off x="6803558" y="1270145"/>
            <a:ext cx="447300" cy="2774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8" name="Google Shape;648;p34"/>
          <p:cNvCxnSpPr/>
          <p:nvPr/>
        </p:nvCxnSpPr>
        <p:spPr>
          <a:xfrm rot="10800000">
            <a:off x="6095264" y="1354216"/>
            <a:ext cx="1940100" cy="2438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9" name="Google Shape;649;p34"/>
          <p:cNvSpPr txBox="1"/>
          <p:nvPr/>
        </p:nvSpPr>
        <p:spPr>
          <a:xfrm>
            <a:off x="4175551" y="1458750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0" name="Google Shape;650;p34"/>
          <p:cNvSpPr txBox="1"/>
          <p:nvPr/>
        </p:nvSpPr>
        <p:spPr>
          <a:xfrm>
            <a:off x="6010651" y="1122988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1" name="Google Shape;651;p34"/>
          <p:cNvSpPr txBox="1"/>
          <p:nvPr/>
        </p:nvSpPr>
        <p:spPr>
          <a:xfrm>
            <a:off x="7002826" y="996700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2" name="Google Shape;652;p34"/>
          <p:cNvSpPr txBox="1"/>
          <p:nvPr/>
        </p:nvSpPr>
        <p:spPr>
          <a:xfrm>
            <a:off x="6630751" y="3956238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3" name="Google Shape;653;p34"/>
          <p:cNvSpPr txBox="1"/>
          <p:nvPr/>
        </p:nvSpPr>
        <p:spPr>
          <a:xfrm>
            <a:off x="8260102" y="2158400"/>
            <a:ext cx="252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6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Sulfate +</a:t>
            </a:r>
            <a:endParaRPr sz="6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 +</a:t>
            </a:r>
            <a:endParaRPr sz="6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6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54" name="Google Shape;654;p34"/>
          <p:cNvCxnSpPr/>
          <p:nvPr/>
        </p:nvCxnSpPr>
        <p:spPr>
          <a:xfrm flipH="1" rot="10800000">
            <a:off x="6266450" y="1991100"/>
            <a:ext cx="329400" cy="250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34"/>
          <p:cNvCxnSpPr/>
          <p:nvPr/>
        </p:nvCxnSpPr>
        <p:spPr>
          <a:xfrm flipH="1" rot="10800000">
            <a:off x="6234225" y="2241575"/>
            <a:ext cx="25200" cy="60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34"/>
          <p:cNvCxnSpPr/>
          <p:nvPr/>
        </p:nvCxnSpPr>
        <p:spPr>
          <a:xfrm rot="10800000">
            <a:off x="6259325" y="2248575"/>
            <a:ext cx="103800" cy="426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34"/>
          <p:cNvCxnSpPr/>
          <p:nvPr/>
        </p:nvCxnSpPr>
        <p:spPr>
          <a:xfrm rot="10800000">
            <a:off x="6259500" y="2245100"/>
            <a:ext cx="798300" cy="240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34"/>
          <p:cNvCxnSpPr/>
          <p:nvPr/>
        </p:nvCxnSpPr>
        <p:spPr>
          <a:xfrm flipH="1">
            <a:off x="5041750" y="1958700"/>
            <a:ext cx="64500" cy="222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34"/>
          <p:cNvCxnSpPr/>
          <p:nvPr/>
        </p:nvCxnSpPr>
        <p:spPr>
          <a:xfrm>
            <a:off x="5041800" y="2191475"/>
            <a:ext cx="150300" cy="7197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4"/>
          <p:cNvCxnSpPr/>
          <p:nvPr/>
        </p:nvCxnSpPr>
        <p:spPr>
          <a:xfrm flipH="1" rot="10800000">
            <a:off x="5043275" y="1478375"/>
            <a:ext cx="1144500" cy="707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34"/>
          <p:cNvCxnSpPr/>
          <p:nvPr/>
        </p:nvCxnSpPr>
        <p:spPr>
          <a:xfrm>
            <a:off x="5049100" y="2187375"/>
            <a:ext cx="1964100" cy="594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34"/>
          <p:cNvCxnSpPr/>
          <p:nvPr/>
        </p:nvCxnSpPr>
        <p:spPr>
          <a:xfrm>
            <a:off x="7093750" y="2289150"/>
            <a:ext cx="780600" cy="142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34"/>
          <p:cNvCxnSpPr/>
          <p:nvPr/>
        </p:nvCxnSpPr>
        <p:spPr>
          <a:xfrm>
            <a:off x="7851550" y="2369850"/>
            <a:ext cx="26400" cy="59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34"/>
          <p:cNvCxnSpPr/>
          <p:nvPr/>
        </p:nvCxnSpPr>
        <p:spPr>
          <a:xfrm flipH="1">
            <a:off x="7790300" y="2434750"/>
            <a:ext cx="85800" cy="3246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4"/>
          <p:cNvCxnSpPr/>
          <p:nvPr/>
        </p:nvCxnSpPr>
        <p:spPr>
          <a:xfrm flipH="1">
            <a:off x="7291950" y="2429500"/>
            <a:ext cx="585900" cy="422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34"/>
          <p:cNvCxnSpPr/>
          <p:nvPr/>
        </p:nvCxnSpPr>
        <p:spPr>
          <a:xfrm>
            <a:off x="6995525" y="2376875"/>
            <a:ext cx="75300" cy="159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34"/>
          <p:cNvCxnSpPr/>
          <p:nvPr/>
        </p:nvCxnSpPr>
        <p:spPr>
          <a:xfrm flipH="1">
            <a:off x="6941125" y="2375100"/>
            <a:ext cx="57900" cy="38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4"/>
          <p:cNvCxnSpPr/>
          <p:nvPr/>
        </p:nvCxnSpPr>
        <p:spPr>
          <a:xfrm>
            <a:off x="6995525" y="2375100"/>
            <a:ext cx="51000" cy="1560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34"/>
          <p:cNvCxnSpPr/>
          <p:nvPr/>
        </p:nvCxnSpPr>
        <p:spPr>
          <a:xfrm flipH="1">
            <a:off x="6960475" y="2373350"/>
            <a:ext cx="33300" cy="136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0" name="Google Shape;670;p34" title="Capture d’écran 2025-07-09 à 17.16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137" y="911075"/>
            <a:ext cx="3699741" cy="40512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1" name="Google Shape;671;p34"/>
          <p:cNvCxnSpPr/>
          <p:nvPr/>
        </p:nvCxnSpPr>
        <p:spPr>
          <a:xfrm flipH="1">
            <a:off x="1945454" y="1302341"/>
            <a:ext cx="287400" cy="35481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2" name="Google Shape;672;p34"/>
          <p:cNvCxnSpPr/>
          <p:nvPr/>
        </p:nvCxnSpPr>
        <p:spPr>
          <a:xfrm rot="10800000">
            <a:off x="1654967" y="1421419"/>
            <a:ext cx="669300" cy="33153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673" name="Google Shape;673;p34"/>
          <p:cNvCxnSpPr/>
          <p:nvPr/>
        </p:nvCxnSpPr>
        <p:spPr>
          <a:xfrm flipH="1" rot="10800000">
            <a:off x="417258" y="3182790"/>
            <a:ext cx="3219300" cy="495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674" name="Google Shape;674;p34"/>
          <p:cNvCxnSpPr/>
          <p:nvPr/>
        </p:nvCxnSpPr>
        <p:spPr>
          <a:xfrm flipH="1">
            <a:off x="1743615" y="3032561"/>
            <a:ext cx="237900" cy="129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34"/>
          <p:cNvSpPr txBox="1"/>
          <p:nvPr/>
        </p:nvSpPr>
        <p:spPr>
          <a:xfrm>
            <a:off x="873653" y="1140416"/>
            <a:ext cx="216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Rainfall_lag_1</a:t>
            </a:r>
            <a:endParaRPr sz="9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6" name="Google Shape;676;p34"/>
          <p:cNvSpPr txBox="1"/>
          <p:nvPr/>
        </p:nvSpPr>
        <p:spPr>
          <a:xfrm>
            <a:off x="11075" y="3614802"/>
            <a:ext cx="97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1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7" name="Google Shape;677;p34"/>
          <p:cNvSpPr txBox="1"/>
          <p:nvPr/>
        </p:nvSpPr>
        <p:spPr>
          <a:xfrm>
            <a:off x="1685377" y="4736725"/>
            <a:ext cx="44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8" name="Google Shape;678;p34"/>
          <p:cNvSpPr txBox="1"/>
          <p:nvPr/>
        </p:nvSpPr>
        <p:spPr>
          <a:xfrm>
            <a:off x="2180678" y="4673087"/>
            <a:ext cx="216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Temperature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9" name="Google Shape;679;p34"/>
          <p:cNvSpPr txBox="1"/>
          <p:nvPr/>
        </p:nvSpPr>
        <p:spPr>
          <a:xfrm>
            <a:off x="3530099" y="3113997"/>
            <a:ext cx="216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8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Plomb +</a:t>
            </a:r>
            <a:endParaRPr sz="8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 +</a:t>
            </a:r>
            <a:endParaRPr sz="8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8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80" name="Google Shape;680;p34"/>
          <p:cNvCxnSpPr/>
          <p:nvPr/>
        </p:nvCxnSpPr>
        <p:spPr>
          <a:xfrm>
            <a:off x="1729709" y="3148027"/>
            <a:ext cx="22800" cy="331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34"/>
          <p:cNvCxnSpPr/>
          <p:nvPr/>
        </p:nvCxnSpPr>
        <p:spPr>
          <a:xfrm rot="10800000">
            <a:off x="1733523" y="3155138"/>
            <a:ext cx="351000" cy="79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34"/>
          <p:cNvCxnSpPr/>
          <p:nvPr/>
        </p:nvCxnSpPr>
        <p:spPr>
          <a:xfrm flipH="1">
            <a:off x="1275503" y="3249077"/>
            <a:ext cx="751800" cy="303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34"/>
          <p:cNvCxnSpPr/>
          <p:nvPr/>
        </p:nvCxnSpPr>
        <p:spPr>
          <a:xfrm>
            <a:off x="1275696" y="3544949"/>
            <a:ext cx="759300" cy="231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34"/>
          <p:cNvCxnSpPr/>
          <p:nvPr/>
        </p:nvCxnSpPr>
        <p:spPr>
          <a:xfrm flipH="1">
            <a:off x="2084622" y="3768673"/>
            <a:ext cx="49500" cy="360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4"/>
          <p:cNvCxnSpPr/>
          <p:nvPr/>
        </p:nvCxnSpPr>
        <p:spPr>
          <a:xfrm>
            <a:off x="2034937" y="3790320"/>
            <a:ext cx="49500" cy="216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34"/>
          <p:cNvCxnSpPr/>
          <p:nvPr/>
        </p:nvCxnSpPr>
        <p:spPr>
          <a:xfrm>
            <a:off x="2057825" y="3436715"/>
            <a:ext cx="30600" cy="382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34"/>
          <p:cNvCxnSpPr/>
          <p:nvPr/>
        </p:nvCxnSpPr>
        <p:spPr>
          <a:xfrm flipH="1">
            <a:off x="2160817" y="3689294"/>
            <a:ext cx="270900" cy="1875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34"/>
          <p:cNvCxnSpPr/>
          <p:nvPr/>
        </p:nvCxnSpPr>
        <p:spPr>
          <a:xfrm>
            <a:off x="2412639" y="3378982"/>
            <a:ext cx="19200" cy="310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34"/>
          <p:cNvCxnSpPr/>
          <p:nvPr/>
        </p:nvCxnSpPr>
        <p:spPr>
          <a:xfrm>
            <a:off x="2057825" y="3523303"/>
            <a:ext cx="374100" cy="1662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34"/>
          <p:cNvCxnSpPr/>
          <p:nvPr/>
        </p:nvCxnSpPr>
        <p:spPr>
          <a:xfrm flipH="1" rot="10800000">
            <a:off x="1583889" y="1815388"/>
            <a:ext cx="1061100" cy="2894100"/>
          </a:xfrm>
          <a:prstGeom prst="straightConnector1">
            <a:avLst/>
          </a:prstGeom>
          <a:noFill/>
          <a:ln cap="flat" cmpd="sng" w="9525">
            <a:solidFill>
              <a:srgbClr val="03BFC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1" name="Google Shape;691;p34"/>
          <p:cNvSpPr txBox="1"/>
          <p:nvPr/>
        </p:nvSpPr>
        <p:spPr>
          <a:xfrm>
            <a:off x="2555340" y="1483889"/>
            <a:ext cx="216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Sulfate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92" name="Google Shape;692;p34"/>
          <p:cNvCxnSpPr/>
          <p:nvPr/>
        </p:nvCxnSpPr>
        <p:spPr>
          <a:xfrm rot="10800000">
            <a:off x="1731069" y="3159337"/>
            <a:ext cx="300600" cy="3306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34"/>
          <p:cNvCxnSpPr/>
          <p:nvPr/>
        </p:nvCxnSpPr>
        <p:spPr>
          <a:xfrm rot="10800000">
            <a:off x="1270813" y="3538290"/>
            <a:ext cx="475500" cy="724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34"/>
          <p:cNvCxnSpPr/>
          <p:nvPr/>
        </p:nvCxnSpPr>
        <p:spPr>
          <a:xfrm>
            <a:off x="2111360" y="3275975"/>
            <a:ext cx="321300" cy="4137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34"/>
          <p:cNvCxnSpPr/>
          <p:nvPr/>
        </p:nvCxnSpPr>
        <p:spPr>
          <a:xfrm rot="10800000">
            <a:off x="1975246" y="3655332"/>
            <a:ext cx="110400" cy="145800"/>
          </a:xfrm>
          <a:prstGeom prst="straightConnector1">
            <a:avLst/>
          </a:prstGeom>
          <a:noFill/>
          <a:ln cap="flat" cmpd="sng" w="9525">
            <a:solidFill>
              <a:srgbClr val="6FD2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34"/>
          <p:cNvSpPr txBox="1"/>
          <p:nvPr/>
        </p:nvSpPr>
        <p:spPr>
          <a:xfrm>
            <a:off x="-6175" y="912525"/>
            <a:ext cx="596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S1</a:t>
            </a:r>
            <a:endParaRPr b="1"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97" name="Google Shape;697;p34"/>
          <p:cNvSpPr txBox="1"/>
          <p:nvPr/>
        </p:nvSpPr>
        <p:spPr>
          <a:xfrm>
            <a:off x="4445450" y="905163"/>
            <a:ext cx="596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COWG</a:t>
            </a:r>
            <a:endParaRPr b="1" sz="2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5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Axes 1 et 2</a:t>
            </a:r>
            <a:endParaRPr/>
          </a:p>
        </p:txBody>
      </p:sp>
      <p:pic>
        <p:nvPicPr>
          <p:cNvPr id="703" name="Google Shape;703;p35" title="Capture d’écran 2025-07-09 à 17.53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5300"/>
            <a:ext cx="4087526" cy="398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35" title="Capture d’écran 2025-07-09 à 17.53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4300" y="1085311"/>
            <a:ext cx="5289702" cy="40581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5" name="Google Shape;705;p35"/>
          <p:cNvCxnSpPr/>
          <p:nvPr/>
        </p:nvCxnSpPr>
        <p:spPr>
          <a:xfrm rot="10800000">
            <a:off x="4422854" y="1757401"/>
            <a:ext cx="4062600" cy="1208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6" name="Google Shape;706;p35"/>
          <p:cNvCxnSpPr/>
          <p:nvPr/>
        </p:nvCxnSpPr>
        <p:spPr>
          <a:xfrm flipH="1" rot="10800000">
            <a:off x="4726700" y="2209050"/>
            <a:ext cx="3924600" cy="788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35"/>
          <p:cNvCxnSpPr/>
          <p:nvPr/>
        </p:nvCxnSpPr>
        <p:spPr>
          <a:xfrm flipH="1" rot="10800000">
            <a:off x="6803558" y="1270145"/>
            <a:ext cx="447300" cy="2774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08" name="Google Shape;708;p35"/>
          <p:cNvCxnSpPr/>
          <p:nvPr/>
        </p:nvCxnSpPr>
        <p:spPr>
          <a:xfrm rot="10800000">
            <a:off x="6095264" y="1354216"/>
            <a:ext cx="1940100" cy="2438400"/>
          </a:xfrm>
          <a:prstGeom prst="straightConnector1">
            <a:avLst/>
          </a:prstGeom>
          <a:noFill/>
          <a:ln cap="flat" cmpd="sng" w="9525">
            <a:solidFill>
              <a:srgbClr val="F87C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9" name="Google Shape;709;p35"/>
          <p:cNvSpPr txBox="1"/>
          <p:nvPr/>
        </p:nvSpPr>
        <p:spPr>
          <a:xfrm>
            <a:off x="4175551" y="1458750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Rainfall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10" name="Google Shape;710;p35"/>
          <p:cNvSpPr txBox="1"/>
          <p:nvPr/>
        </p:nvSpPr>
        <p:spPr>
          <a:xfrm>
            <a:off x="6010651" y="1122988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O2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11" name="Google Shape;711;p35"/>
          <p:cNvSpPr txBox="1"/>
          <p:nvPr/>
        </p:nvSpPr>
        <p:spPr>
          <a:xfrm>
            <a:off x="7002826" y="996700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Plomb</a:t>
            </a:r>
            <a:endParaRPr sz="10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12" name="Google Shape;712;p35"/>
          <p:cNvSpPr txBox="1"/>
          <p:nvPr/>
        </p:nvSpPr>
        <p:spPr>
          <a:xfrm>
            <a:off x="6630751" y="3956238"/>
            <a:ext cx="79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pH</a:t>
            </a:r>
            <a:endParaRPr sz="10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13" name="Google Shape;713;p35"/>
          <p:cNvSpPr txBox="1"/>
          <p:nvPr/>
        </p:nvSpPr>
        <p:spPr>
          <a:xfrm>
            <a:off x="7995877" y="2209050"/>
            <a:ext cx="252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F87C7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Conductivité +</a:t>
            </a:r>
            <a:endParaRPr sz="800">
              <a:solidFill>
                <a:srgbClr val="F87C7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Zinc + Sulfate +</a:t>
            </a:r>
            <a:endParaRPr sz="8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Arsenic_Total +</a:t>
            </a:r>
            <a:endParaRPr sz="8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03BFC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Ion_Ferreux</a:t>
            </a:r>
            <a:endParaRPr sz="800">
              <a:solidFill>
                <a:srgbClr val="03BFC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714" name="Google Shape;714;p35"/>
          <p:cNvCxnSpPr/>
          <p:nvPr/>
        </p:nvCxnSpPr>
        <p:spPr>
          <a:xfrm flipH="1" rot="10800000">
            <a:off x="6266450" y="1991100"/>
            <a:ext cx="329400" cy="2505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35"/>
          <p:cNvCxnSpPr/>
          <p:nvPr/>
        </p:nvCxnSpPr>
        <p:spPr>
          <a:xfrm flipH="1" rot="10800000">
            <a:off x="6234225" y="2241575"/>
            <a:ext cx="25200" cy="60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35"/>
          <p:cNvCxnSpPr/>
          <p:nvPr/>
        </p:nvCxnSpPr>
        <p:spPr>
          <a:xfrm rot="10800000">
            <a:off x="6259325" y="2248575"/>
            <a:ext cx="103800" cy="4263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35"/>
          <p:cNvCxnSpPr/>
          <p:nvPr/>
        </p:nvCxnSpPr>
        <p:spPr>
          <a:xfrm rot="10800000">
            <a:off x="6259500" y="2245100"/>
            <a:ext cx="798300" cy="2400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5"/>
          <p:cNvCxnSpPr/>
          <p:nvPr/>
        </p:nvCxnSpPr>
        <p:spPr>
          <a:xfrm>
            <a:off x="7093750" y="2289150"/>
            <a:ext cx="780600" cy="1422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35"/>
          <p:cNvCxnSpPr/>
          <p:nvPr/>
        </p:nvCxnSpPr>
        <p:spPr>
          <a:xfrm>
            <a:off x="7851550" y="2369850"/>
            <a:ext cx="26400" cy="59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35"/>
          <p:cNvCxnSpPr/>
          <p:nvPr/>
        </p:nvCxnSpPr>
        <p:spPr>
          <a:xfrm flipH="1">
            <a:off x="7790300" y="2434750"/>
            <a:ext cx="85800" cy="3246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5"/>
          <p:cNvCxnSpPr/>
          <p:nvPr/>
        </p:nvCxnSpPr>
        <p:spPr>
          <a:xfrm flipH="1">
            <a:off x="7291950" y="2429500"/>
            <a:ext cx="585900" cy="4227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35"/>
          <p:cNvCxnSpPr/>
          <p:nvPr/>
        </p:nvCxnSpPr>
        <p:spPr>
          <a:xfrm rot="10800000">
            <a:off x="6297175" y="2695725"/>
            <a:ext cx="251700" cy="9669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5"/>
          <p:cNvCxnSpPr/>
          <p:nvPr/>
        </p:nvCxnSpPr>
        <p:spPr>
          <a:xfrm>
            <a:off x="6552475" y="3669825"/>
            <a:ext cx="305400" cy="684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35"/>
          <p:cNvCxnSpPr/>
          <p:nvPr/>
        </p:nvCxnSpPr>
        <p:spPr>
          <a:xfrm flipH="1" rot="10800000">
            <a:off x="6548875" y="3055125"/>
            <a:ext cx="898500" cy="6111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35"/>
          <p:cNvCxnSpPr/>
          <p:nvPr/>
        </p:nvCxnSpPr>
        <p:spPr>
          <a:xfrm flipH="1" rot="10800000">
            <a:off x="6556075" y="2498025"/>
            <a:ext cx="327000" cy="1171800"/>
          </a:xfrm>
          <a:prstGeom prst="straightConnector1">
            <a:avLst/>
          </a:prstGeom>
          <a:noFill/>
          <a:ln cap="flat" cmpd="sng" w="9525">
            <a:solidFill>
              <a:srgbClr val="FA94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35"/>
          <p:cNvCxnSpPr/>
          <p:nvPr/>
        </p:nvCxnSpPr>
        <p:spPr>
          <a:xfrm>
            <a:off x="6944275" y="3224125"/>
            <a:ext cx="718800" cy="1188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35"/>
          <p:cNvCxnSpPr/>
          <p:nvPr/>
        </p:nvCxnSpPr>
        <p:spPr>
          <a:xfrm flipH="1">
            <a:off x="7666775" y="2774825"/>
            <a:ext cx="161700" cy="5679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35"/>
          <p:cNvCxnSpPr/>
          <p:nvPr/>
        </p:nvCxnSpPr>
        <p:spPr>
          <a:xfrm>
            <a:off x="7346825" y="2476500"/>
            <a:ext cx="323700" cy="866100"/>
          </a:xfrm>
          <a:prstGeom prst="straightConnector1">
            <a:avLst/>
          </a:prstGeom>
          <a:noFill/>
          <a:ln cap="flat" cmpd="sng" w="9525">
            <a:solidFill>
              <a:srgbClr val="6DCAF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Conclusion</a:t>
            </a:r>
            <a:endParaRPr/>
          </a:p>
        </p:txBody>
      </p:sp>
      <p:sp>
        <p:nvSpPr>
          <p:cNvPr id="734" name="Google Shape;734;p36"/>
          <p:cNvSpPr txBox="1"/>
          <p:nvPr/>
        </p:nvSpPr>
        <p:spPr>
          <a:xfrm>
            <a:off x="472500" y="1208525"/>
            <a:ext cx="8199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-"/>
            </a:pPr>
            <a:r>
              <a:rPr lang="fr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Qu’importe la station ou la période, les éléments Zinc, Arsenic, Sulfate et Fer interagissent ensemble. 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-"/>
            </a:pPr>
            <a:r>
              <a:rPr lang="fr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 conductivité est induite par cet ensemble.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-"/>
            </a:pPr>
            <a:r>
              <a:rPr lang="fr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 pluie qu’elle soit au temps t ou t-1 fait diminuer les concentrations des éléments traces.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Nous pouvons donc déterminer des formules qui expliquent en quelque sorte ces phénomènes corrélés !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7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MFA - Conclusion</a:t>
            </a:r>
            <a:endParaRPr/>
          </a:p>
        </p:txBody>
      </p:sp>
      <p:graphicFrame>
        <p:nvGraphicFramePr>
          <p:cNvPr id="740" name="Google Shape;740;p37"/>
          <p:cNvGraphicFramePr/>
          <p:nvPr/>
        </p:nvGraphicFramePr>
        <p:xfrm>
          <a:off x="141600" y="96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{9C671203-E017-471E-85D2-4D71AE7E5494}</a:tableStyleId>
              </a:tblPr>
              <a:tblGrid>
                <a:gridCol w="8860800"/>
              </a:tblGrid>
              <a:tr h="125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Arsenic ~ Pluie à t + O2 + Conductivité (s) + Sulfate (s) +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457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  Fer + Plomb + Zinc +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457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  Pluie à t:Zinc + Pluie à t:Plomb + 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  Pluie à t:Fer + Pluie à t:O2 (+ Dates)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92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Zinc ~ Pluie à t-1 + Fer + Plomb + Arsenic +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       Pluie à t-1:Arsenic (+ Dates)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92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Plomb ~ Pluie à t-1 + Conductivité (s) + Fer + Zinc +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        Arsenic + Pluie à t-1:Arsenic (+ Dates)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98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Fer ~ Pluie à t + Pluie à t-1 + Conductivité + Sulfate (s) +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      Arsenic-Zinc + Pluie à t:Sulfate + Pluie à t-1: Sulfate</a:t>
                      </a:r>
                      <a:endParaRPr sz="160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6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      Pluie à t-1:Arsenic-Zinc + Dates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8"/>
          <p:cNvSpPr txBox="1"/>
          <p:nvPr/>
        </p:nvSpPr>
        <p:spPr>
          <a:xfrm>
            <a:off x="987900" y="88375"/>
            <a:ext cx="71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Prédiction à la station S1 - Température</a:t>
            </a:r>
            <a:endParaRPr/>
          </a:p>
        </p:txBody>
      </p:sp>
      <p:pic>
        <p:nvPicPr>
          <p:cNvPr id="746" name="Google Shape;746;p38" title="Capture d’écran 2025-07-09 à 09.59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4776"/>
            <a:ext cx="9144003" cy="4098723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38"/>
          <p:cNvSpPr txBox="1"/>
          <p:nvPr/>
        </p:nvSpPr>
        <p:spPr>
          <a:xfrm>
            <a:off x="659425" y="827275"/>
            <a:ext cx="738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Données choisies : données imputées de 2004 à 2019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9"/>
          <p:cNvSpPr txBox="1"/>
          <p:nvPr/>
        </p:nvSpPr>
        <p:spPr>
          <a:xfrm>
            <a:off x="879225" y="88375"/>
            <a:ext cx="748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Prédiction à la station COWG - Température</a:t>
            </a:r>
            <a:endParaRPr/>
          </a:p>
        </p:txBody>
      </p:sp>
      <p:pic>
        <p:nvPicPr>
          <p:cNvPr id="753" name="Google Shape;753;p39" title="Capture d’écran 2025-07-09 à 10.03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0491"/>
            <a:ext cx="9143997" cy="4063009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39"/>
          <p:cNvSpPr txBox="1"/>
          <p:nvPr/>
        </p:nvSpPr>
        <p:spPr>
          <a:xfrm>
            <a:off x="659425" y="827275"/>
            <a:ext cx="738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Données choisies : données imputées de 2004 à 2022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0"/>
          <p:cNvSpPr txBox="1"/>
          <p:nvPr/>
        </p:nvSpPr>
        <p:spPr>
          <a:xfrm>
            <a:off x="219800" y="100575"/>
            <a:ext cx="86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Prédiction à la station S1 par COWG - Température</a:t>
            </a:r>
            <a:endParaRPr/>
          </a:p>
        </p:txBody>
      </p:sp>
      <p:pic>
        <p:nvPicPr>
          <p:cNvPr id="760" name="Google Shape;760;p40" title="Capture d’écran 2025-07-09 à 14.13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4069"/>
            <a:ext cx="9144003" cy="4009431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40"/>
          <p:cNvSpPr txBox="1"/>
          <p:nvPr/>
        </p:nvSpPr>
        <p:spPr>
          <a:xfrm>
            <a:off x="659425" y="827275"/>
            <a:ext cx="738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Données choisies : données imputées de 2004 à 2022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1"/>
          <p:cNvSpPr txBox="1"/>
          <p:nvPr/>
        </p:nvSpPr>
        <p:spPr>
          <a:xfrm>
            <a:off x="879225" y="88375"/>
            <a:ext cx="748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Prédiction à la station S1 - Arsenic</a:t>
            </a:r>
            <a:endParaRPr/>
          </a:p>
        </p:txBody>
      </p:sp>
      <p:pic>
        <p:nvPicPr>
          <p:cNvPr id="767" name="Google Shape;767;p41" title="Capture d’écran 2025-07-09 à 14.10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7621"/>
            <a:ext cx="9144003" cy="4205879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41"/>
          <p:cNvSpPr txBox="1"/>
          <p:nvPr/>
        </p:nvSpPr>
        <p:spPr>
          <a:xfrm>
            <a:off x="659425" y="827275"/>
            <a:ext cx="738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Données choisies : données imputées de 2004 à 2019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2"/>
          <p:cNvSpPr txBox="1"/>
          <p:nvPr/>
        </p:nvSpPr>
        <p:spPr>
          <a:xfrm>
            <a:off x="879225" y="88375"/>
            <a:ext cx="748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Prédiction à la station COWG - Arsenic</a:t>
            </a:r>
            <a:endParaRPr/>
          </a:p>
        </p:txBody>
      </p:sp>
      <p:pic>
        <p:nvPicPr>
          <p:cNvPr id="774" name="Google Shape;774;p42" title="Capture d’écran 2025-07-09 à 14.10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1711"/>
            <a:ext cx="9143997" cy="4281789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2"/>
          <p:cNvSpPr txBox="1"/>
          <p:nvPr/>
        </p:nvSpPr>
        <p:spPr>
          <a:xfrm>
            <a:off x="659425" y="827275"/>
            <a:ext cx="738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Données choisies : données imputées de 2004 à 2022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3"/>
          <p:cNvSpPr txBox="1"/>
          <p:nvPr/>
        </p:nvSpPr>
        <p:spPr>
          <a:xfrm>
            <a:off x="219800" y="100575"/>
            <a:ext cx="86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Prédiction à la station S1 par COWG - Arsenic</a:t>
            </a:r>
            <a:endParaRPr/>
          </a:p>
        </p:txBody>
      </p:sp>
      <p:pic>
        <p:nvPicPr>
          <p:cNvPr id="781" name="Google Shape;781;p43" title="Capture d’écran 2025-07-09 à 14.17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9603"/>
            <a:ext cx="9144003" cy="4013896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43"/>
          <p:cNvSpPr txBox="1"/>
          <p:nvPr/>
        </p:nvSpPr>
        <p:spPr>
          <a:xfrm>
            <a:off x="659425" y="827275"/>
            <a:ext cx="738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Données choisies : données imputées de 2004 à 2022</a:t>
            </a:r>
            <a:endParaRPr sz="15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4"/>
          <p:cNvSpPr txBox="1"/>
          <p:nvPr/>
        </p:nvSpPr>
        <p:spPr>
          <a:xfrm>
            <a:off x="219800" y="100575"/>
            <a:ext cx="86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latin typeface="Oswald"/>
                <a:ea typeface="Oswald"/>
                <a:cs typeface="Oswald"/>
                <a:sym typeface="Oswald"/>
              </a:rPr>
              <a:t>Questions</a:t>
            </a:r>
            <a:endParaRPr/>
          </a:p>
        </p:txBody>
      </p:sp>
      <p:sp>
        <p:nvSpPr>
          <p:cNvPr id="788" name="Google Shape;788;p44"/>
          <p:cNvSpPr txBox="1"/>
          <p:nvPr/>
        </p:nvSpPr>
        <p:spPr>
          <a:xfrm>
            <a:off x="913875" y="1531725"/>
            <a:ext cx="690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-"/>
            </a:pPr>
            <a:r>
              <a:rPr lang="fr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Les conclusions sont-elles cohérentes et satisfaisantes ?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-"/>
            </a:pPr>
            <a:r>
              <a:rPr lang="fr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Y a-t-il d’autres questions auxquelles nous pourrions répondre grâce à ces résultats ?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