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embeddedFontLst>
    <p:embeddedFont>
      <p:font typeface="Roboto"/>
      <p:regular r:id="rId24"/>
      <p:bold r:id="rId25"/>
      <p:italic r:id="rId26"/>
      <p:boldItalic r:id="rId27"/>
    </p:embeddedFont>
    <p:embeddedFont>
      <p:font typeface="Source Code Pro"/>
      <p:regular r:id="rId28"/>
      <p:bold r:id="rId29"/>
      <p:italic r:id="rId30"/>
      <p:boldItalic r:id="rId31"/>
    </p:embeddedFont>
    <p:embeddedFont>
      <p:font typeface="Oswald"/>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CB561EC-AD6F-4F2B-8ACF-5A8F487B738B}">
  <a:tblStyle styleId="{BCB561EC-AD6F-4F2B-8ACF-5A8F487B738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Roboto-regular.fntdata"/><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SourceCodePro-regular.fntdata"/><Relationship Id="rId27" Type="http://schemas.openxmlformats.org/officeDocument/2006/relationships/font" Target="fonts/Roboto-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SourceCodePro-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ourceCodePro-boldItalic.fntdata"/><Relationship Id="rId30" Type="http://schemas.openxmlformats.org/officeDocument/2006/relationships/font" Target="fonts/SourceCodePro-italic.fntdata"/><Relationship Id="rId11" Type="http://schemas.openxmlformats.org/officeDocument/2006/relationships/slide" Target="slides/slide5.xml"/><Relationship Id="rId33" Type="http://schemas.openxmlformats.org/officeDocument/2006/relationships/font" Target="fonts/Oswald-bold.fntdata"/><Relationship Id="rId10" Type="http://schemas.openxmlformats.org/officeDocument/2006/relationships/slide" Target="slides/slide4.xml"/><Relationship Id="rId32" Type="http://schemas.openxmlformats.org/officeDocument/2006/relationships/font" Target="fonts/Oswald-regular.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6b862ff28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6b862ff28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6b862ff285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6b862ff285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Forte corrélation avec l’élément précédent = violet foncé</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6b862ff285_0_10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6b862ff285_0_10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Il y peut y avoir un lien entre les différents facteurs météorologiques, mais il ne semble pas y avoir de lien avec la température de l’eau.</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6b862ff285_0_1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6b862ff285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Par contre, il y a une corrélation très forte entre la concentration de la plupart des éléments traces et la météo, surtout avec l’humidité et l’évapotranspiration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6b862ff285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6b862ff285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Au cours du temps, la variance (l’amplitude des valeurs autour de la moyenne) grandit.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6b862ff285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6b862ff285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Au cours du temps mais aussi selon la méthode, la variance (l’amplitude des valeurs autour de la moyenne) change. La méthode HACH ici est plus constante, les points bleus représentent le nombre d’imputations.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6b862ff285_0_1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6b862ff285_0_1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On cherche à capter la variance de certaines variables pouvant servir à prédire “Arsenic_Total” afin de comprendre la différence de variance entre deux périodes clefs.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6b862ff285_0_1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6b862ff285_0_1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Les variables qui captent massivement la variance sont les m</a:t>
            </a:r>
            <a:r>
              <a:rPr lang="fr"/>
              <a:t>êmes mais ne sont pas considérés dans le même ordre, de 2004 à 2011 c’est le Zinc en premier puis le FeII mais l’inverse après. Et la répartition des captations est très distincte.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6b862ff285_0_1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6b862ff285_0_1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Conclusion : M</a:t>
            </a:r>
            <a:r>
              <a:rPr lang="fr"/>
              <a:t>ême si utiliser des données plus récentes semblait donner des intervalles de prédiction plus précis et clairs, le biais induit par le changement de variance implique que les événements extrêmes ne sont pas dans ces intervalles, il faudra être prudent. </a:t>
            </a:r>
            <a:br>
              <a:rPr lang="fr"/>
            </a:br>
            <a:r>
              <a:rPr lang="fr"/>
              <a:t>De plus !!! La pluie devient de plus en plus un facteur important à la prédiction de l’arsenic (et de bien d’autres éléments traces).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6b862ff285_0_3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6b862ff285_0_3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Ces données ne sont que celles de 2011 à 2022. Les méthodes vont probablement tirer la variance vers elles.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6b862ff285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6b862ff285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En effet, et c’est d</a:t>
            </a:r>
            <a:r>
              <a:rPr lang="fr"/>
              <a:t>û au nombre important de méthodes indéterminées (valeurs manquantes). Idem pour les périodes. Cela en fait une très mauvaise FAMD.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6b862ff285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6b862ff285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En mettant les méthodes en variables supplémentaires, ça semble mieux réparti, la variance aussi.</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6b862ff285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6b862ff285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Les individus sont également mieux répartis. 1/sqrt(eig)=0.48 donc pivot d’environ 180°.</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6b862ff285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6b862ff285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Certains éléments traces comme le Cuivre tirent moins la variance vers eux.</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6b862ff285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6b862ff285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Les individus sont plus centrés à l’origine par rapport au graphe précédent donc les variables centrées Antimoine, Sulfate, Plomb et pH tirent l’inertie vers eux . 1/sqrt(eig) = 0.47</a:t>
            </a:r>
            <a:r>
              <a:rPr lang="fr">
                <a:solidFill>
                  <a:schemeClr val="dk1"/>
                </a:solidFill>
              </a:rPr>
              <a:t> donc pivot d’environ 180°.</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6b862ff285_0_10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6b862ff285_0_1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6b862ff285_0_10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6b862ff285_0_1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32850"/>
            <a:ext cx="9144000" cy="951600"/>
          </a:xfrm>
          <a:prstGeom prst="rect">
            <a:avLst/>
          </a:prstGeom>
          <a:solidFill>
            <a:srgbClr val="B4A7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28030"/>
            <a:ext cx="8282400" cy="59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363250"/>
            <a:ext cx="8282400" cy="862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fr" sz="5000">
                <a:solidFill>
                  <a:srgbClr val="000000"/>
                </a:solidFill>
                <a:latin typeface="Calibri"/>
                <a:ea typeface="Calibri"/>
                <a:cs typeface="Calibri"/>
                <a:sym typeface="Calibri"/>
              </a:rPr>
              <a:t>Rapport n°4 - 04/07/2025</a:t>
            </a:r>
            <a:endParaRPr sz="5000">
              <a:solidFill>
                <a:srgbClr val="000000"/>
              </a:solidFill>
              <a:latin typeface="Calibri"/>
              <a:ea typeface="Calibri"/>
              <a:cs typeface="Calibri"/>
              <a:sym typeface="Calibri"/>
            </a:endParaRPr>
          </a:p>
        </p:txBody>
      </p:sp>
      <p:sp>
        <p:nvSpPr>
          <p:cNvPr id="63" name="Google Shape;63;p13"/>
          <p:cNvSpPr txBox="1"/>
          <p:nvPr>
            <p:ph idx="1" type="subTitle"/>
          </p:nvPr>
        </p:nvSpPr>
        <p:spPr>
          <a:xfrm>
            <a:off x="411175" y="3256650"/>
            <a:ext cx="8282400" cy="1745400"/>
          </a:xfrm>
          <a:prstGeom prst="rect">
            <a:avLst/>
          </a:prstGeom>
        </p:spPr>
        <p:txBody>
          <a:bodyPr anchorCtr="0" anchor="ctr" bIns="91425" lIns="91425" spcFirstLastPara="1" rIns="91425" wrap="square" tIns="91425">
            <a:normAutofit/>
          </a:bodyPr>
          <a:lstStyle/>
          <a:p>
            <a:pPr indent="0" lvl="0" marL="3200400" rtl="0" algn="l">
              <a:lnSpc>
                <a:spcPct val="90000"/>
              </a:lnSpc>
              <a:spcBef>
                <a:spcPts val="1000"/>
              </a:spcBef>
              <a:spcAft>
                <a:spcPts val="0"/>
              </a:spcAft>
              <a:buNone/>
            </a:pPr>
            <a:r>
              <a:rPr b="1" lang="fr" sz="2500">
                <a:solidFill>
                  <a:srgbClr val="000000"/>
                </a:solidFill>
                <a:latin typeface="Calibri"/>
                <a:ea typeface="Calibri"/>
                <a:cs typeface="Calibri"/>
                <a:sym typeface="Calibri"/>
              </a:rPr>
              <a:t>     COWG  </a:t>
            </a:r>
            <a:endParaRPr b="1" sz="2500">
              <a:solidFill>
                <a:srgbClr val="000000"/>
              </a:solidFill>
              <a:latin typeface="Calibri"/>
              <a:ea typeface="Calibri"/>
              <a:cs typeface="Calibri"/>
              <a:sym typeface="Calibri"/>
            </a:endParaRPr>
          </a:p>
          <a:p>
            <a:pPr indent="0" lvl="0" marL="2286000" rtl="0" algn="l">
              <a:lnSpc>
                <a:spcPct val="90000"/>
              </a:lnSpc>
              <a:spcBef>
                <a:spcPts val="1000"/>
              </a:spcBef>
              <a:spcAft>
                <a:spcPts val="0"/>
              </a:spcAft>
              <a:buNone/>
            </a:pPr>
            <a:r>
              <a:rPr lang="fr" sz="2500">
                <a:solidFill>
                  <a:srgbClr val="000000"/>
                </a:solidFill>
                <a:latin typeface="Calibri"/>
                <a:ea typeface="Calibri"/>
                <a:cs typeface="Calibri"/>
                <a:sym typeface="Calibri"/>
              </a:rPr>
              <a:t>Corrélations et prédictions</a:t>
            </a:r>
            <a:endParaRPr sz="2500">
              <a:solidFill>
                <a:srgbClr val="000000"/>
              </a:solidFill>
              <a:latin typeface="Calibri"/>
              <a:ea typeface="Calibri"/>
              <a:cs typeface="Calibri"/>
              <a:sym typeface="Calibri"/>
            </a:endParaRPr>
          </a:p>
        </p:txBody>
      </p:sp>
      <p:sp>
        <p:nvSpPr>
          <p:cNvPr id="64" name="Google Shape;64;p13"/>
          <p:cNvSpPr txBox="1"/>
          <p:nvPr/>
        </p:nvSpPr>
        <p:spPr>
          <a:xfrm>
            <a:off x="182950" y="1225750"/>
            <a:ext cx="3419700" cy="95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800">
                <a:solidFill>
                  <a:schemeClr val="dk2"/>
                </a:solidFill>
                <a:latin typeface="Calibri"/>
                <a:ea typeface="Calibri"/>
                <a:cs typeface="Calibri"/>
                <a:sym typeface="Calibri"/>
              </a:rPr>
              <a:t>Encadrants :</a:t>
            </a:r>
            <a:endParaRPr b="1" sz="1800">
              <a:solidFill>
                <a:schemeClr val="dk2"/>
              </a:solidFill>
              <a:latin typeface="Calibri"/>
              <a:ea typeface="Calibri"/>
              <a:cs typeface="Calibri"/>
              <a:sym typeface="Calibri"/>
            </a:endParaRPr>
          </a:p>
          <a:p>
            <a:pPr indent="0" lvl="0" marL="0" rtl="0" algn="l">
              <a:spcBef>
                <a:spcPts val="0"/>
              </a:spcBef>
              <a:spcAft>
                <a:spcPts val="0"/>
              </a:spcAft>
              <a:buNone/>
            </a:pPr>
            <a:r>
              <a:rPr lang="fr" sz="1800">
                <a:solidFill>
                  <a:schemeClr val="dk2"/>
                </a:solidFill>
                <a:latin typeface="Calibri"/>
                <a:ea typeface="Calibri"/>
                <a:cs typeface="Calibri"/>
                <a:sym typeface="Calibri"/>
              </a:rPr>
              <a:t>Corinne CASIOT-MAROUANI</a:t>
            </a:r>
            <a:endParaRPr sz="1800">
              <a:solidFill>
                <a:schemeClr val="dk2"/>
              </a:solidFill>
              <a:latin typeface="Calibri"/>
              <a:ea typeface="Calibri"/>
              <a:cs typeface="Calibri"/>
              <a:sym typeface="Calibri"/>
            </a:endParaRPr>
          </a:p>
          <a:p>
            <a:pPr indent="0" lvl="0" marL="0" rtl="0" algn="l">
              <a:spcBef>
                <a:spcPts val="0"/>
              </a:spcBef>
              <a:spcAft>
                <a:spcPts val="0"/>
              </a:spcAft>
              <a:buNone/>
            </a:pPr>
            <a:r>
              <a:rPr lang="fr" sz="1800">
                <a:solidFill>
                  <a:schemeClr val="dk2"/>
                </a:solidFill>
                <a:latin typeface="Calibri"/>
                <a:ea typeface="Calibri"/>
                <a:cs typeface="Calibri"/>
                <a:sym typeface="Calibri"/>
              </a:rPr>
              <a:t>Jonathan DUBOIS</a:t>
            </a:r>
            <a:endParaRPr sz="1800">
              <a:solidFill>
                <a:schemeClr val="dk2"/>
              </a:solidFill>
              <a:latin typeface="Calibri"/>
              <a:ea typeface="Calibri"/>
              <a:cs typeface="Calibri"/>
              <a:sym typeface="Calibri"/>
            </a:endParaRPr>
          </a:p>
        </p:txBody>
      </p:sp>
      <p:sp>
        <p:nvSpPr>
          <p:cNvPr id="65" name="Google Shape;65;p13"/>
          <p:cNvSpPr txBox="1"/>
          <p:nvPr/>
        </p:nvSpPr>
        <p:spPr>
          <a:xfrm>
            <a:off x="7308025" y="1225750"/>
            <a:ext cx="2232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fr" sz="1800">
                <a:solidFill>
                  <a:schemeClr val="dk2"/>
                </a:solidFill>
                <a:latin typeface="Calibri"/>
                <a:ea typeface="Calibri"/>
                <a:cs typeface="Calibri"/>
                <a:sym typeface="Calibri"/>
              </a:rPr>
              <a:t>Stagiaire :</a:t>
            </a:r>
            <a:endParaRPr b="1" sz="1800">
              <a:solidFill>
                <a:schemeClr val="dk2"/>
              </a:solidFill>
              <a:latin typeface="Calibri"/>
              <a:ea typeface="Calibri"/>
              <a:cs typeface="Calibri"/>
              <a:sym typeface="Calibri"/>
            </a:endParaRPr>
          </a:p>
          <a:p>
            <a:pPr indent="0" lvl="0" marL="0" rtl="0" algn="l">
              <a:spcBef>
                <a:spcPts val="0"/>
              </a:spcBef>
              <a:spcAft>
                <a:spcPts val="0"/>
              </a:spcAft>
              <a:buNone/>
            </a:pPr>
            <a:r>
              <a:rPr lang="fr" sz="1800">
                <a:solidFill>
                  <a:schemeClr val="dk2"/>
                </a:solidFill>
                <a:latin typeface="Calibri"/>
                <a:ea typeface="Calibri"/>
                <a:cs typeface="Calibri"/>
                <a:sym typeface="Calibri"/>
              </a:rPr>
              <a:t>Laura CLETZ</a:t>
            </a:r>
            <a:endParaRPr sz="1800">
              <a:solidFill>
                <a:schemeClr val="dk2"/>
              </a:solidFill>
              <a:latin typeface="Calibri"/>
              <a:ea typeface="Calibri"/>
              <a:cs typeface="Calibri"/>
              <a:sym typeface="Calibri"/>
            </a:endParaRPr>
          </a:p>
        </p:txBody>
      </p:sp>
      <p:pic>
        <p:nvPicPr>
          <p:cNvPr id="66" name="Google Shape;66;p13"/>
          <p:cNvPicPr preferRelativeResize="0"/>
          <p:nvPr/>
        </p:nvPicPr>
        <p:blipFill rotWithShape="1">
          <a:blip r:embed="rId3">
            <a:alphaModFix/>
          </a:blip>
          <a:srcRect b="0" l="0" r="62271" t="0"/>
          <a:stretch/>
        </p:blipFill>
        <p:spPr>
          <a:xfrm>
            <a:off x="4176550" y="1506800"/>
            <a:ext cx="790901" cy="765350"/>
          </a:xfrm>
          <a:prstGeom prst="rect">
            <a:avLst/>
          </a:prstGeom>
          <a:noFill/>
          <a:ln>
            <a:noFill/>
          </a:ln>
        </p:spPr>
      </p:pic>
      <p:pic>
        <p:nvPicPr>
          <p:cNvPr id="67" name="Google Shape;67;p13"/>
          <p:cNvPicPr preferRelativeResize="0"/>
          <p:nvPr/>
        </p:nvPicPr>
        <p:blipFill>
          <a:blip r:embed="rId4">
            <a:alphaModFix/>
          </a:blip>
          <a:stretch>
            <a:fillRect/>
          </a:stretch>
        </p:blipFill>
        <p:spPr>
          <a:xfrm>
            <a:off x="4967462" y="2080125"/>
            <a:ext cx="1474875" cy="983250"/>
          </a:xfrm>
          <a:prstGeom prst="rect">
            <a:avLst/>
          </a:prstGeom>
          <a:noFill/>
          <a:ln>
            <a:noFill/>
          </a:ln>
        </p:spPr>
      </p:pic>
      <p:pic>
        <p:nvPicPr>
          <p:cNvPr id="68" name="Google Shape;68;p13"/>
          <p:cNvPicPr preferRelativeResize="0"/>
          <p:nvPr/>
        </p:nvPicPr>
        <p:blipFill>
          <a:blip r:embed="rId5">
            <a:alphaModFix/>
          </a:blip>
          <a:stretch>
            <a:fillRect/>
          </a:stretch>
        </p:blipFill>
        <p:spPr>
          <a:xfrm>
            <a:off x="2419575" y="2250200"/>
            <a:ext cx="1687860" cy="862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nvSpPr>
        <p:spPr>
          <a:xfrm>
            <a:off x="987900" y="88375"/>
            <a:ext cx="71682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3600">
                <a:latin typeface="Oswald"/>
                <a:ea typeface="Oswald"/>
                <a:cs typeface="Oswald"/>
                <a:sym typeface="Oswald"/>
              </a:rPr>
              <a:t>Organigramme des corrélations</a:t>
            </a:r>
            <a:r>
              <a:rPr lang="fr" sz="3600">
                <a:latin typeface="Oswald"/>
                <a:ea typeface="Oswald"/>
                <a:cs typeface="Oswald"/>
                <a:sym typeface="Oswald"/>
              </a:rPr>
              <a:t> </a:t>
            </a:r>
            <a:endParaRPr/>
          </a:p>
        </p:txBody>
      </p:sp>
      <p:cxnSp>
        <p:nvCxnSpPr>
          <p:cNvPr id="74" name="Google Shape;74;p14"/>
          <p:cNvCxnSpPr>
            <a:stCxn id="75" idx="2"/>
            <a:endCxn id="76" idx="1"/>
          </p:cNvCxnSpPr>
          <p:nvPr/>
        </p:nvCxnSpPr>
        <p:spPr>
          <a:xfrm>
            <a:off x="1334100" y="2978450"/>
            <a:ext cx="304800" cy="883800"/>
          </a:xfrm>
          <a:prstGeom prst="bentConnector3">
            <a:avLst>
              <a:gd fmla="val 49996" name="adj1"/>
            </a:avLst>
          </a:prstGeom>
          <a:noFill/>
          <a:ln cap="flat" cmpd="sng" w="9525">
            <a:solidFill>
              <a:srgbClr val="C2C2C2"/>
            </a:solidFill>
            <a:prstDash val="solid"/>
            <a:round/>
            <a:headEnd len="sm" w="sm" type="none"/>
            <a:tailEnd len="sm" w="sm" type="none"/>
          </a:ln>
        </p:spPr>
      </p:cxnSp>
      <p:cxnSp>
        <p:nvCxnSpPr>
          <p:cNvPr id="77" name="Google Shape;77;p14"/>
          <p:cNvCxnSpPr>
            <a:stCxn id="75" idx="2"/>
            <a:endCxn id="78" idx="1"/>
          </p:cNvCxnSpPr>
          <p:nvPr/>
        </p:nvCxnSpPr>
        <p:spPr>
          <a:xfrm flipH="1" rot="10800000">
            <a:off x="1334100" y="2101250"/>
            <a:ext cx="304800" cy="877200"/>
          </a:xfrm>
          <a:prstGeom prst="bentConnector3">
            <a:avLst>
              <a:gd fmla="val 49996" name="adj1"/>
            </a:avLst>
          </a:prstGeom>
          <a:noFill/>
          <a:ln cap="flat" cmpd="sng" w="9525">
            <a:solidFill>
              <a:srgbClr val="C2C2C2"/>
            </a:solidFill>
            <a:prstDash val="solid"/>
            <a:round/>
            <a:headEnd len="sm" w="sm" type="none"/>
            <a:tailEnd len="sm" w="sm" type="none"/>
          </a:ln>
        </p:spPr>
      </p:cxnSp>
      <p:sp>
        <p:nvSpPr>
          <p:cNvPr id="75" name="Google Shape;75;p14"/>
          <p:cNvSpPr/>
          <p:nvPr/>
        </p:nvSpPr>
        <p:spPr>
          <a:xfrm rot="-5400000">
            <a:off x="68100" y="2715800"/>
            <a:ext cx="2006700" cy="5253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Dates</a:t>
            </a:r>
            <a:endParaRPr sz="1100">
              <a:solidFill>
                <a:srgbClr val="FFFFFF"/>
              </a:solidFill>
              <a:latin typeface="Roboto"/>
              <a:ea typeface="Roboto"/>
              <a:cs typeface="Roboto"/>
              <a:sym typeface="Roboto"/>
            </a:endParaRPr>
          </a:p>
        </p:txBody>
      </p:sp>
      <p:sp>
        <p:nvSpPr>
          <p:cNvPr id="78" name="Google Shape;78;p14"/>
          <p:cNvSpPr/>
          <p:nvPr/>
        </p:nvSpPr>
        <p:spPr>
          <a:xfrm>
            <a:off x="1638875" y="1838650"/>
            <a:ext cx="1443900" cy="5253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Pluie au temps T</a:t>
            </a:r>
            <a:endParaRPr sz="1100">
              <a:solidFill>
                <a:srgbClr val="FFFFFF"/>
              </a:solidFill>
              <a:latin typeface="Roboto"/>
              <a:ea typeface="Roboto"/>
              <a:cs typeface="Roboto"/>
              <a:sym typeface="Roboto"/>
            </a:endParaRPr>
          </a:p>
        </p:txBody>
      </p:sp>
      <p:sp>
        <p:nvSpPr>
          <p:cNvPr id="76" name="Google Shape;76;p14"/>
          <p:cNvSpPr/>
          <p:nvPr/>
        </p:nvSpPr>
        <p:spPr>
          <a:xfrm>
            <a:off x="1638875" y="3599575"/>
            <a:ext cx="1443900" cy="5253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Pluie au temps T-1</a:t>
            </a:r>
            <a:endParaRPr sz="1100">
              <a:solidFill>
                <a:srgbClr val="FFFFFF"/>
              </a:solidFill>
              <a:latin typeface="Roboto"/>
              <a:ea typeface="Roboto"/>
              <a:cs typeface="Roboto"/>
              <a:sym typeface="Roboto"/>
            </a:endParaRPr>
          </a:p>
        </p:txBody>
      </p:sp>
      <p:sp>
        <p:nvSpPr>
          <p:cNvPr id="79" name="Google Shape;79;p14"/>
          <p:cNvSpPr/>
          <p:nvPr/>
        </p:nvSpPr>
        <p:spPr>
          <a:xfrm>
            <a:off x="4540625" y="1015975"/>
            <a:ext cx="892800" cy="4500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Cuivre</a:t>
            </a:r>
            <a:endParaRPr sz="1100">
              <a:solidFill>
                <a:srgbClr val="FFFFFF"/>
              </a:solidFill>
              <a:latin typeface="Roboto"/>
              <a:ea typeface="Roboto"/>
              <a:cs typeface="Roboto"/>
              <a:sym typeface="Roboto"/>
            </a:endParaRPr>
          </a:p>
        </p:txBody>
      </p:sp>
      <p:sp>
        <p:nvSpPr>
          <p:cNvPr id="80" name="Google Shape;80;p14"/>
          <p:cNvSpPr/>
          <p:nvPr/>
        </p:nvSpPr>
        <p:spPr>
          <a:xfrm>
            <a:off x="4540625" y="1534125"/>
            <a:ext cx="892800" cy="4500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Arsenic</a:t>
            </a:r>
            <a:endParaRPr sz="1100">
              <a:solidFill>
                <a:srgbClr val="FFFFFF"/>
              </a:solidFill>
              <a:latin typeface="Roboto"/>
              <a:ea typeface="Roboto"/>
              <a:cs typeface="Roboto"/>
              <a:sym typeface="Roboto"/>
            </a:endParaRPr>
          </a:p>
        </p:txBody>
      </p:sp>
      <p:sp>
        <p:nvSpPr>
          <p:cNvPr id="81" name="Google Shape;81;p14"/>
          <p:cNvSpPr/>
          <p:nvPr/>
        </p:nvSpPr>
        <p:spPr>
          <a:xfrm>
            <a:off x="4540625" y="2052275"/>
            <a:ext cx="892800" cy="4500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Plomb</a:t>
            </a:r>
            <a:endParaRPr sz="1100">
              <a:solidFill>
                <a:srgbClr val="FFFFFF"/>
              </a:solidFill>
              <a:latin typeface="Roboto"/>
              <a:ea typeface="Roboto"/>
              <a:cs typeface="Roboto"/>
              <a:sym typeface="Roboto"/>
            </a:endParaRPr>
          </a:p>
        </p:txBody>
      </p:sp>
      <p:sp>
        <p:nvSpPr>
          <p:cNvPr id="82" name="Google Shape;82;p14"/>
          <p:cNvSpPr/>
          <p:nvPr/>
        </p:nvSpPr>
        <p:spPr>
          <a:xfrm>
            <a:off x="4540625" y="2570425"/>
            <a:ext cx="892800" cy="4500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Zinc</a:t>
            </a:r>
            <a:endParaRPr sz="1100">
              <a:solidFill>
                <a:srgbClr val="FFFFFF"/>
              </a:solidFill>
              <a:latin typeface="Roboto"/>
              <a:ea typeface="Roboto"/>
              <a:cs typeface="Roboto"/>
              <a:sym typeface="Roboto"/>
            </a:endParaRPr>
          </a:p>
        </p:txBody>
      </p:sp>
      <p:cxnSp>
        <p:nvCxnSpPr>
          <p:cNvPr id="83" name="Google Shape;83;p14"/>
          <p:cNvCxnSpPr/>
          <p:nvPr/>
        </p:nvCxnSpPr>
        <p:spPr>
          <a:xfrm flipH="1" rot="5400000">
            <a:off x="2747850" y="2450575"/>
            <a:ext cx="866100" cy="196200"/>
          </a:xfrm>
          <a:prstGeom prst="bentConnector2">
            <a:avLst/>
          </a:prstGeom>
          <a:noFill/>
          <a:ln cap="flat" cmpd="sng" w="9525">
            <a:solidFill>
              <a:srgbClr val="C2C2C2"/>
            </a:solidFill>
            <a:prstDash val="solid"/>
            <a:round/>
            <a:headEnd len="sm" w="sm" type="none"/>
            <a:tailEnd len="sm" w="sm" type="none"/>
          </a:ln>
        </p:spPr>
      </p:cxnSp>
      <p:cxnSp>
        <p:nvCxnSpPr>
          <p:cNvPr id="84" name="Google Shape;84;p14"/>
          <p:cNvCxnSpPr/>
          <p:nvPr/>
        </p:nvCxnSpPr>
        <p:spPr>
          <a:xfrm flipH="1">
            <a:off x="3082775" y="2981725"/>
            <a:ext cx="304800" cy="894900"/>
          </a:xfrm>
          <a:prstGeom prst="bentConnector3">
            <a:avLst>
              <a:gd fmla="val 35671" name="adj1"/>
            </a:avLst>
          </a:prstGeom>
          <a:noFill/>
          <a:ln cap="flat" cmpd="sng" w="9525">
            <a:solidFill>
              <a:srgbClr val="C2C2C2"/>
            </a:solidFill>
            <a:prstDash val="solid"/>
            <a:round/>
            <a:headEnd len="sm" w="sm" type="none"/>
            <a:tailEnd len="sm" w="sm" type="none"/>
          </a:ln>
        </p:spPr>
      </p:cxnSp>
      <p:sp>
        <p:nvSpPr>
          <p:cNvPr id="85" name="Google Shape;85;p14"/>
          <p:cNvSpPr/>
          <p:nvPr/>
        </p:nvSpPr>
        <p:spPr>
          <a:xfrm rot="-5400000">
            <a:off x="2637413" y="2715800"/>
            <a:ext cx="2006700" cy="5253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O2</a:t>
            </a:r>
            <a:endParaRPr sz="1100">
              <a:solidFill>
                <a:srgbClr val="FFFFFF"/>
              </a:solidFill>
              <a:latin typeface="Roboto"/>
              <a:ea typeface="Roboto"/>
              <a:cs typeface="Roboto"/>
              <a:sym typeface="Roboto"/>
            </a:endParaRPr>
          </a:p>
        </p:txBody>
      </p:sp>
      <p:cxnSp>
        <p:nvCxnSpPr>
          <p:cNvPr id="86" name="Google Shape;86;p14"/>
          <p:cNvCxnSpPr>
            <a:endCxn id="80" idx="1"/>
          </p:cNvCxnSpPr>
          <p:nvPr/>
        </p:nvCxnSpPr>
        <p:spPr>
          <a:xfrm rot="-5400000">
            <a:off x="3817475" y="2038875"/>
            <a:ext cx="1002900" cy="443400"/>
          </a:xfrm>
          <a:prstGeom prst="bentConnector2">
            <a:avLst/>
          </a:prstGeom>
          <a:noFill/>
          <a:ln cap="flat" cmpd="sng" w="9525">
            <a:solidFill>
              <a:srgbClr val="C2C2C2"/>
            </a:solidFill>
            <a:prstDash val="solid"/>
            <a:round/>
            <a:headEnd len="sm" w="sm" type="none"/>
            <a:tailEnd len="sm" w="sm" type="none"/>
          </a:ln>
        </p:spPr>
      </p:cxnSp>
      <p:sp>
        <p:nvSpPr>
          <p:cNvPr id="87" name="Google Shape;87;p14"/>
          <p:cNvSpPr/>
          <p:nvPr/>
        </p:nvSpPr>
        <p:spPr>
          <a:xfrm>
            <a:off x="4540625" y="3088575"/>
            <a:ext cx="892800" cy="4500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Sulfate</a:t>
            </a:r>
            <a:endParaRPr sz="1100">
              <a:solidFill>
                <a:srgbClr val="FFFFFF"/>
              </a:solidFill>
              <a:latin typeface="Roboto"/>
              <a:ea typeface="Roboto"/>
              <a:cs typeface="Roboto"/>
              <a:sym typeface="Roboto"/>
            </a:endParaRPr>
          </a:p>
        </p:txBody>
      </p:sp>
      <p:sp>
        <p:nvSpPr>
          <p:cNvPr id="88" name="Google Shape;88;p14"/>
          <p:cNvSpPr/>
          <p:nvPr/>
        </p:nvSpPr>
        <p:spPr>
          <a:xfrm>
            <a:off x="4540625" y="4124875"/>
            <a:ext cx="892800" cy="450000"/>
          </a:xfrm>
          <a:prstGeom prst="roundRect">
            <a:avLst>
              <a:gd fmla="val 16667" name="adj"/>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Cadmium</a:t>
            </a:r>
            <a:endParaRPr sz="1100">
              <a:solidFill>
                <a:srgbClr val="FFFFFF"/>
              </a:solidFill>
              <a:latin typeface="Roboto"/>
              <a:ea typeface="Roboto"/>
              <a:cs typeface="Roboto"/>
              <a:sym typeface="Roboto"/>
            </a:endParaRPr>
          </a:p>
        </p:txBody>
      </p:sp>
      <p:sp>
        <p:nvSpPr>
          <p:cNvPr id="89" name="Google Shape;89;p14"/>
          <p:cNvSpPr/>
          <p:nvPr/>
        </p:nvSpPr>
        <p:spPr>
          <a:xfrm>
            <a:off x="4540625" y="3606725"/>
            <a:ext cx="892800" cy="4500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FeII</a:t>
            </a:r>
            <a:endParaRPr sz="1100">
              <a:solidFill>
                <a:srgbClr val="FFFFFF"/>
              </a:solidFill>
              <a:latin typeface="Roboto"/>
              <a:ea typeface="Roboto"/>
              <a:cs typeface="Roboto"/>
              <a:sym typeface="Roboto"/>
            </a:endParaRPr>
          </a:p>
        </p:txBody>
      </p:sp>
      <p:sp>
        <p:nvSpPr>
          <p:cNvPr id="90" name="Google Shape;90;p14"/>
          <p:cNvSpPr/>
          <p:nvPr/>
        </p:nvSpPr>
        <p:spPr>
          <a:xfrm>
            <a:off x="4540625" y="4643025"/>
            <a:ext cx="892800" cy="450000"/>
          </a:xfrm>
          <a:prstGeom prst="roundRect">
            <a:avLst>
              <a:gd fmla="val 16667" name="adj"/>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Antimoine</a:t>
            </a:r>
            <a:endParaRPr sz="1100">
              <a:solidFill>
                <a:srgbClr val="FFFFFF"/>
              </a:solidFill>
              <a:latin typeface="Roboto"/>
              <a:ea typeface="Roboto"/>
              <a:cs typeface="Roboto"/>
              <a:sym typeface="Roboto"/>
            </a:endParaRPr>
          </a:p>
        </p:txBody>
      </p:sp>
      <p:cxnSp>
        <p:nvCxnSpPr>
          <p:cNvPr id="91" name="Google Shape;91;p14"/>
          <p:cNvCxnSpPr>
            <a:endCxn id="79" idx="1"/>
          </p:cNvCxnSpPr>
          <p:nvPr/>
        </p:nvCxnSpPr>
        <p:spPr>
          <a:xfrm rot="-5400000">
            <a:off x="3879575" y="1458925"/>
            <a:ext cx="879000" cy="443100"/>
          </a:xfrm>
          <a:prstGeom prst="bentConnector2">
            <a:avLst/>
          </a:prstGeom>
          <a:noFill/>
          <a:ln cap="flat" cmpd="sng" w="9525">
            <a:solidFill>
              <a:srgbClr val="C2C2C2"/>
            </a:solidFill>
            <a:prstDash val="solid"/>
            <a:round/>
            <a:headEnd len="sm" w="sm" type="none"/>
            <a:tailEnd len="sm" w="sm" type="none"/>
          </a:ln>
        </p:spPr>
      </p:cxnSp>
      <p:cxnSp>
        <p:nvCxnSpPr>
          <p:cNvPr id="92" name="Google Shape;92;p14"/>
          <p:cNvCxnSpPr/>
          <p:nvPr/>
        </p:nvCxnSpPr>
        <p:spPr>
          <a:xfrm rot="-5400000">
            <a:off x="3817625" y="2524650"/>
            <a:ext cx="1002900" cy="443400"/>
          </a:xfrm>
          <a:prstGeom prst="bentConnector2">
            <a:avLst/>
          </a:prstGeom>
          <a:noFill/>
          <a:ln cap="flat" cmpd="sng" w="9525">
            <a:solidFill>
              <a:srgbClr val="C2C2C2"/>
            </a:solidFill>
            <a:prstDash val="solid"/>
            <a:round/>
            <a:headEnd len="sm" w="sm" type="none"/>
            <a:tailEnd len="sm" w="sm" type="none"/>
          </a:ln>
        </p:spPr>
      </p:cxnSp>
      <p:cxnSp>
        <p:nvCxnSpPr>
          <p:cNvPr id="93" name="Google Shape;93;p14"/>
          <p:cNvCxnSpPr/>
          <p:nvPr/>
        </p:nvCxnSpPr>
        <p:spPr>
          <a:xfrm rot="-5400000">
            <a:off x="3817475" y="3091875"/>
            <a:ext cx="1002900" cy="443400"/>
          </a:xfrm>
          <a:prstGeom prst="bentConnector2">
            <a:avLst/>
          </a:prstGeom>
          <a:noFill/>
          <a:ln cap="flat" cmpd="sng" w="9525">
            <a:solidFill>
              <a:srgbClr val="C2C2C2"/>
            </a:solidFill>
            <a:prstDash val="solid"/>
            <a:round/>
            <a:headEnd len="sm" w="sm" type="none"/>
            <a:tailEnd len="sm" w="sm" type="none"/>
          </a:ln>
        </p:spPr>
      </p:cxnSp>
      <p:cxnSp>
        <p:nvCxnSpPr>
          <p:cNvPr id="94" name="Google Shape;94;p14"/>
          <p:cNvCxnSpPr/>
          <p:nvPr/>
        </p:nvCxnSpPr>
        <p:spPr>
          <a:xfrm rot="-5400000">
            <a:off x="3817475" y="36100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95" name="Google Shape;95;p14"/>
          <p:cNvCxnSpPr/>
          <p:nvPr/>
        </p:nvCxnSpPr>
        <p:spPr>
          <a:xfrm rot="-5400000">
            <a:off x="3817625" y="4128175"/>
            <a:ext cx="1002900" cy="443400"/>
          </a:xfrm>
          <a:prstGeom prst="bentConnector2">
            <a:avLst/>
          </a:prstGeom>
          <a:noFill/>
          <a:ln cap="flat" cmpd="sng" w="9525">
            <a:solidFill>
              <a:srgbClr val="C2C2C2"/>
            </a:solidFill>
            <a:prstDash val="solid"/>
            <a:round/>
            <a:headEnd len="sm" w="sm" type="none"/>
            <a:tailEnd len="sm" w="sm" type="none"/>
          </a:ln>
        </p:spPr>
      </p:cxnSp>
      <p:cxnSp>
        <p:nvCxnSpPr>
          <p:cNvPr id="96" name="Google Shape;96;p14"/>
          <p:cNvCxnSpPr>
            <a:endCxn id="88" idx="1"/>
          </p:cNvCxnSpPr>
          <p:nvPr/>
        </p:nvCxnSpPr>
        <p:spPr>
          <a:xfrm>
            <a:off x="4101425" y="4348075"/>
            <a:ext cx="439200" cy="1800"/>
          </a:xfrm>
          <a:prstGeom prst="straightConnector1">
            <a:avLst/>
          </a:prstGeom>
          <a:noFill/>
          <a:ln cap="flat" cmpd="sng" w="9525">
            <a:solidFill>
              <a:srgbClr val="B7B7B7"/>
            </a:solidFill>
            <a:prstDash val="solid"/>
            <a:round/>
            <a:headEnd len="med" w="med" type="none"/>
            <a:tailEnd len="med" w="med" type="none"/>
          </a:ln>
        </p:spPr>
      </p:cxnSp>
      <p:cxnSp>
        <p:nvCxnSpPr>
          <p:cNvPr id="97" name="Google Shape;97;p14"/>
          <p:cNvCxnSpPr/>
          <p:nvPr/>
        </p:nvCxnSpPr>
        <p:spPr>
          <a:xfrm>
            <a:off x="4092375" y="4897375"/>
            <a:ext cx="448200" cy="600"/>
          </a:xfrm>
          <a:prstGeom prst="straightConnector1">
            <a:avLst/>
          </a:prstGeom>
          <a:noFill/>
          <a:ln cap="flat" cmpd="sng" w="9525">
            <a:solidFill>
              <a:srgbClr val="B7B7B7"/>
            </a:solidFill>
            <a:prstDash val="solid"/>
            <a:round/>
            <a:headEnd len="med" w="med" type="none"/>
            <a:tailEnd len="med" w="med" type="none"/>
          </a:ln>
        </p:spPr>
      </p:cxnSp>
      <p:cxnSp>
        <p:nvCxnSpPr>
          <p:cNvPr id="98" name="Google Shape;98;p14"/>
          <p:cNvCxnSpPr/>
          <p:nvPr/>
        </p:nvCxnSpPr>
        <p:spPr>
          <a:xfrm>
            <a:off x="3903425" y="2962525"/>
            <a:ext cx="193800" cy="4500"/>
          </a:xfrm>
          <a:prstGeom prst="straightConnector1">
            <a:avLst/>
          </a:prstGeom>
          <a:noFill/>
          <a:ln cap="flat" cmpd="sng" w="9525">
            <a:solidFill>
              <a:srgbClr val="B7B7B7"/>
            </a:solidFill>
            <a:prstDash val="solid"/>
            <a:round/>
            <a:headEnd len="med" w="med" type="none"/>
            <a:tailEnd len="med" w="med" type="none"/>
          </a:ln>
        </p:spPr>
      </p:cxnSp>
      <p:cxnSp>
        <p:nvCxnSpPr>
          <p:cNvPr id="99" name="Google Shape;99;p14"/>
          <p:cNvCxnSpPr/>
          <p:nvPr/>
        </p:nvCxnSpPr>
        <p:spPr>
          <a:xfrm rot="5400000">
            <a:off x="5153825" y="36566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00" name="Google Shape;100;p14"/>
          <p:cNvCxnSpPr/>
          <p:nvPr/>
        </p:nvCxnSpPr>
        <p:spPr>
          <a:xfrm rot="5400000">
            <a:off x="5215625" y="4236875"/>
            <a:ext cx="879000" cy="443100"/>
          </a:xfrm>
          <a:prstGeom prst="bentConnector2">
            <a:avLst/>
          </a:prstGeom>
          <a:noFill/>
          <a:ln cap="flat" cmpd="sng" w="9525">
            <a:solidFill>
              <a:srgbClr val="C2C2C2"/>
            </a:solidFill>
            <a:prstDash val="solid"/>
            <a:round/>
            <a:headEnd len="sm" w="sm" type="none"/>
            <a:tailEnd len="sm" w="sm" type="none"/>
          </a:ln>
        </p:spPr>
      </p:cxnSp>
      <p:cxnSp>
        <p:nvCxnSpPr>
          <p:cNvPr id="101" name="Google Shape;101;p14"/>
          <p:cNvCxnSpPr/>
          <p:nvPr/>
        </p:nvCxnSpPr>
        <p:spPr>
          <a:xfrm rot="5400000">
            <a:off x="5153675" y="3170850"/>
            <a:ext cx="1002900" cy="443400"/>
          </a:xfrm>
          <a:prstGeom prst="bentConnector2">
            <a:avLst/>
          </a:prstGeom>
          <a:noFill/>
          <a:ln cap="flat" cmpd="sng" w="9525">
            <a:solidFill>
              <a:srgbClr val="C2C2C2"/>
            </a:solidFill>
            <a:prstDash val="solid"/>
            <a:round/>
            <a:headEnd len="sm" w="sm" type="none"/>
            <a:tailEnd len="sm" w="sm" type="none"/>
          </a:ln>
        </p:spPr>
      </p:cxnSp>
      <p:cxnSp>
        <p:nvCxnSpPr>
          <p:cNvPr id="102" name="Google Shape;102;p14"/>
          <p:cNvCxnSpPr/>
          <p:nvPr/>
        </p:nvCxnSpPr>
        <p:spPr>
          <a:xfrm rot="5400000">
            <a:off x="5153825" y="26036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03" name="Google Shape;103;p14"/>
          <p:cNvCxnSpPr/>
          <p:nvPr/>
        </p:nvCxnSpPr>
        <p:spPr>
          <a:xfrm rot="5400000">
            <a:off x="5153825" y="208547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04" name="Google Shape;104;p14"/>
          <p:cNvCxnSpPr/>
          <p:nvPr/>
        </p:nvCxnSpPr>
        <p:spPr>
          <a:xfrm rot="5400000">
            <a:off x="5153675" y="15673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05" name="Google Shape;105;p14"/>
          <p:cNvCxnSpPr/>
          <p:nvPr/>
        </p:nvCxnSpPr>
        <p:spPr>
          <a:xfrm rot="10800000">
            <a:off x="5433400" y="1789050"/>
            <a:ext cx="449700" cy="3900"/>
          </a:xfrm>
          <a:prstGeom prst="straightConnector1">
            <a:avLst/>
          </a:prstGeom>
          <a:noFill/>
          <a:ln cap="flat" cmpd="sng" w="9525">
            <a:solidFill>
              <a:srgbClr val="B7B7B7"/>
            </a:solidFill>
            <a:prstDash val="solid"/>
            <a:round/>
            <a:headEnd len="med" w="med" type="none"/>
            <a:tailEnd len="med" w="med" type="none"/>
          </a:ln>
        </p:spPr>
      </p:cxnSp>
      <p:cxnSp>
        <p:nvCxnSpPr>
          <p:cNvPr id="106" name="Google Shape;106;p14"/>
          <p:cNvCxnSpPr>
            <a:endCxn id="79" idx="3"/>
          </p:cNvCxnSpPr>
          <p:nvPr/>
        </p:nvCxnSpPr>
        <p:spPr>
          <a:xfrm rot="10800000">
            <a:off x="5433425" y="1240975"/>
            <a:ext cx="446100" cy="2400"/>
          </a:xfrm>
          <a:prstGeom prst="straightConnector1">
            <a:avLst/>
          </a:prstGeom>
          <a:noFill/>
          <a:ln cap="flat" cmpd="sng" w="9525">
            <a:solidFill>
              <a:srgbClr val="B7B7B7"/>
            </a:solidFill>
            <a:prstDash val="solid"/>
            <a:round/>
            <a:headEnd len="med" w="med" type="none"/>
            <a:tailEnd len="med" w="med" type="none"/>
          </a:ln>
        </p:spPr>
      </p:cxnSp>
      <p:cxnSp>
        <p:nvCxnSpPr>
          <p:cNvPr id="107" name="Google Shape;107;p14"/>
          <p:cNvCxnSpPr/>
          <p:nvPr/>
        </p:nvCxnSpPr>
        <p:spPr>
          <a:xfrm rot="10800000">
            <a:off x="5876975" y="3171875"/>
            <a:ext cx="193800" cy="4500"/>
          </a:xfrm>
          <a:prstGeom prst="straightConnector1">
            <a:avLst/>
          </a:prstGeom>
          <a:noFill/>
          <a:ln cap="flat" cmpd="sng" w="9525">
            <a:solidFill>
              <a:srgbClr val="B7B7B7"/>
            </a:solidFill>
            <a:prstDash val="solid"/>
            <a:round/>
            <a:headEnd len="med" w="med" type="none"/>
            <a:tailEnd len="med" w="med" type="none"/>
          </a:ln>
        </p:spPr>
      </p:cxnSp>
      <p:sp>
        <p:nvSpPr>
          <p:cNvPr id="108" name="Google Shape;108;p14"/>
          <p:cNvSpPr/>
          <p:nvPr/>
        </p:nvSpPr>
        <p:spPr>
          <a:xfrm rot="-5400000">
            <a:off x="5329913" y="2715800"/>
            <a:ext cx="2006700" cy="5253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Température de l’eau</a:t>
            </a:r>
            <a:endParaRPr sz="1100">
              <a:solidFill>
                <a:srgbClr val="FFFFFF"/>
              </a:solidFill>
              <a:latin typeface="Roboto"/>
              <a:ea typeface="Roboto"/>
              <a:cs typeface="Roboto"/>
              <a:sym typeface="Roboto"/>
            </a:endParaRPr>
          </a:p>
        </p:txBody>
      </p:sp>
      <p:cxnSp>
        <p:nvCxnSpPr>
          <p:cNvPr id="109" name="Google Shape;109;p14"/>
          <p:cNvCxnSpPr/>
          <p:nvPr/>
        </p:nvCxnSpPr>
        <p:spPr>
          <a:xfrm>
            <a:off x="6595925" y="2975150"/>
            <a:ext cx="304800" cy="883800"/>
          </a:xfrm>
          <a:prstGeom prst="bentConnector3">
            <a:avLst>
              <a:gd fmla="val 49996" name="adj1"/>
            </a:avLst>
          </a:prstGeom>
          <a:noFill/>
          <a:ln cap="flat" cmpd="sng" w="9525">
            <a:solidFill>
              <a:srgbClr val="C2C2C2"/>
            </a:solidFill>
            <a:prstDash val="solid"/>
            <a:round/>
            <a:headEnd len="sm" w="sm" type="none"/>
            <a:tailEnd len="sm" w="sm" type="none"/>
          </a:ln>
        </p:spPr>
      </p:cxnSp>
      <p:cxnSp>
        <p:nvCxnSpPr>
          <p:cNvPr id="110" name="Google Shape;110;p14"/>
          <p:cNvCxnSpPr/>
          <p:nvPr/>
        </p:nvCxnSpPr>
        <p:spPr>
          <a:xfrm flipH="1" rot="10800000">
            <a:off x="6595925" y="2097950"/>
            <a:ext cx="304800" cy="877200"/>
          </a:xfrm>
          <a:prstGeom prst="bentConnector3">
            <a:avLst>
              <a:gd fmla="val 49996" name="adj1"/>
            </a:avLst>
          </a:prstGeom>
          <a:noFill/>
          <a:ln cap="flat" cmpd="sng" w="9525">
            <a:solidFill>
              <a:srgbClr val="C2C2C2"/>
            </a:solidFill>
            <a:prstDash val="solid"/>
            <a:round/>
            <a:headEnd len="sm" w="sm" type="none"/>
            <a:tailEnd len="sm" w="sm" type="none"/>
          </a:ln>
        </p:spPr>
      </p:cxnSp>
      <p:sp>
        <p:nvSpPr>
          <p:cNvPr id="111" name="Google Shape;111;p14"/>
          <p:cNvSpPr/>
          <p:nvPr/>
        </p:nvSpPr>
        <p:spPr>
          <a:xfrm>
            <a:off x="6891275" y="1821663"/>
            <a:ext cx="1443900" cy="5253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pH</a:t>
            </a:r>
            <a:endParaRPr sz="1100">
              <a:solidFill>
                <a:srgbClr val="FFFFFF"/>
              </a:solidFill>
              <a:latin typeface="Roboto"/>
              <a:ea typeface="Roboto"/>
              <a:cs typeface="Roboto"/>
              <a:sym typeface="Roboto"/>
            </a:endParaRPr>
          </a:p>
        </p:txBody>
      </p:sp>
      <p:sp>
        <p:nvSpPr>
          <p:cNvPr id="112" name="Google Shape;112;p14"/>
          <p:cNvSpPr/>
          <p:nvPr/>
        </p:nvSpPr>
        <p:spPr>
          <a:xfrm>
            <a:off x="6891275" y="3582588"/>
            <a:ext cx="1443900" cy="5253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Conductivité</a:t>
            </a:r>
            <a:endParaRPr sz="1100">
              <a:solidFill>
                <a:srgbClr val="FFFFFF"/>
              </a:solidFill>
              <a:latin typeface="Roboto"/>
              <a:ea typeface="Roboto"/>
              <a:cs typeface="Roboto"/>
              <a:sym typeface="Roboto"/>
            </a:endParaRPr>
          </a:p>
        </p:txBody>
      </p:sp>
      <p:cxnSp>
        <p:nvCxnSpPr>
          <p:cNvPr id="113" name="Google Shape;113;p14"/>
          <p:cNvCxnSpPr/>
          <p:nvPr/>
        </p:nvCxnSpPr>
        <p:spPr>
          <a:xfrm rot="10800000">
            <a:off x="5876675" y="1240975"/>
            <a:ext cx="0" cy="71700"/>
          </a:xfrm>
          <a:prstGeom prst="straightConnector1">
            <a:avLst/>
          </a:prstGeom>
          <a:noFill/>
          <a:ln cap="flat" cmpd="sng" w="9525">
            <a:solidFill>
              <a:srgbClr val="B7B7B7"/>
            </a:solidFill>
            <a:prstDash val="solid"/>
            <a:round/>
            <a:headEnd len="med" w="med" type="none"/>
            <a:tailEnd len="med" w="med" type="none"/>
          </a:ln>
        </p:spPr>
      </p:cxnSp>
      <p:cxnSp>
        <p:nvCxnSpPr>
          <p:cNvPr id="114" name="Google Shape;114;p14"/>
          <p:cNvCxnSpPr/>
          <p:nvPr/>
        </p:nvCxnSpPr>
        <p:spPr>
          <a:xfrm rot="10800000">
            <a:off x="4097225" y="4800475"/>
            <a:ext cx="2400" cy="96900"/>
          </a:xfrm>
          <a:prstGeom prst="straightConnector1">
            <a:avLst/>
          </a:prstGeom>
          <a:noFill/>
          <a:ln cap="flat" cmpd="sng" w="9525">
            <a:solidFill>
              <a:srgbClr val="B7B7B7"/>
            </a:solidFill>
            <a:prstDash val="solid"/>
            <a:round/>
            <a:headEnd len="med" w="med" type="none"/>
            <a:tailEnd len="med" w="med" type="non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5"/>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Liens entre la météo et la température de l’eau</a:t>
            </a:r>
            <a:endParaRPr>
              <a:solidFill>
                <a:schemeClr val="dk2"/>
              </a:solidFill>
            </a:endParaRPr>
          </a:p>
        </p:txBody>
      </p:sp>
      <p:pic>
        <p:nvPicPr>
          <p:cNvPr id="120" name="Google Shape;120;p15" title="Capture d’écran 2025-07-02 à 10.15.04.png"/>
          <p:cNvPicPr preferRelativeResize="0"/>
          <p:nvPr/>
        </p:nvPicPr>
        <p:blipFill>
          <a:blip r:embed="rId3">
            <a:alphaModFix/>
          </a:blip>
          <a:stretch>
            <a:fillRect/>
          </a:stretch>
        </p:blipFill>
        <p:spPr>
          <a:xfrm>
            <a:off x="639450" y="926750"/>
            <a:ext cx="7865098" cy="4216751"/>
          </a:xfrm>
          <a:prstGeom prst="rect">
            <a:avLst/>
          </a:prstGeom>
          <a:noFill/>
          <a:ln>
            <a:noFill/>
          </a:ln>
        </p:spPr>
      </p:pic>
      <p:sp>
        <p:nvSpPr>
          <p:cNvPr id="121" name="Google Shape;121;p15"/>
          <p:cNvSpPr txBox="1"/>
          <p:nvPr/>
        </p:nvSpPr>
        <p:spPr>
          <a:xfrm rot="-5400000">
            <a:off x="2739950" y="1005700"/>
            <a:ext cx="6537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369417</a:t>
            </a:r>
            <a:endParaRPr/>
          </a:p>
        </p:txBody>
      </p:sp>
      <p:cxnSp>
        <p:nvCxnSpPr>
          <p:cNvPr id="122" name="Google Shape;122;p15"/>
          <p:cNvCxnSpPr/>
          <p:nvPr/>
        </p:nvCxnSpPr>
        <p:spPr>
          <a:xfrm rot="10800000">
            <a:off x="2973350" y="939575"/>
            <a:ext cx="0" cy="3694200"/>
          </a:xfrm>
          <a:prstGeom prst="straightConnector1">
            <a:avLst/>
          </a:prstGeom>
          <a:noFill/>
          <a:ln cap="flat" cmpd="sng" w="9525">
            <a:solidFill>
              <a:srgbClr val="FF0000"/>
            </a:solidFill>
            <a:prstDash val="solid"/>
            <a:round/>
            <a:headEnd len="med" w="med" type="none"/>
            <a:tailEnd len="med" w="med" type="none"/>
          </a:ln>
        </p:spPr>
      </p:cxnSp>
      <p:sp>
        <p:nvSpPr>
          <p:cNvPr id="123" name="Google Shape;123;p15"/>
          <p:cNvSpPr txBox="1"/>
          <p:nvPr/>
        </p:nvSpPr>
        <p:spPr>
          <a:xfrm rot="-5400000">
            <a:off x="2815400" y="2590800"/>
            <a:ext cx="5028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54.7</a:t>
            </a:r>
            <a:endParaRPr/>
          </a:p>
        </p:txBody>
      </p:sp>
      <p:sp>
        <p:nvSpPr>
          <p:cNvPr id="124" name="Google Shape;124;p15"/>
          <p:cNvSpPr/>
          <p:nvPr/>
        </p:nvSpPr>
        <p:spPr>
          <a:xfrm>
            <a:off x="592100" y="1222800"/>
            <a:ext cx="386100" cy="30000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125" name="Google Shape;125;p15"/>
          <p:cNvSpPr txBox="1"/>
          <p:nvPr/>
        </p:nvSpPr>
        <p:spPr>
          <a:xfrm rot="-5400000">
            <a:off x="2646350" y="3557875"/>
            <a:ext cx="8409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12.54</a:t>
            </a:r>
            <a:endParaRPr/>
          </a:p>
        </p:txBody>
      </p:sp>
      <p:sp>
        <p:nvSpPr>
          <p:cNvPr id="126" name="Google Shape;126;p15"/>
          <p:cNvSpPr txBox="1"/>
          <p:nvPr/>
        </p:nvSpPr>
        <p:spPr>
          <a:xfrm rot="-5400000">
            <a:off x="1566800" y="1763375"/>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23.6</a:t>
            </a:r>
            <a:endParaRPr/>
          </a:p>
        </p:txBody>
      </p:sp>
      <p:cxnSp>
        <p:nvCxnSpPr>
          <p:cNvPr id="127" name="Google Shape;127;p15"/>
          <p:cNvCxnSpPr/>
          <p:nvPr/>
        </p:nvCxnSpPr>
        <p:spPr>
          <a:xfrm rot="10800000">
            <a:off x="5043625" y="939575"/>
            <a:ext cx="0" cy="3694200"/>
          </a:xfrm>
          <a:prstGeom prst="straightConnector1">
            <a:avLst/>
          </a:prstGeom>
          <a:noFill/>
          <a:ln cap="flat" cmpd="sng" w="9525">
            <a:solidFill>
              <a:srgbClr val="FF0000"/>
            </a:solidFill>
            <a:prstDash val="solid"/>
            <a:round/>
            <a:headEnd len="med" w="med" type="none"/>
            <a:tailEnd len="med" w="med" type="none"/>
          </a:ln>
        </p:spPr>
      </p:cxnSp>
      <p:sp>
        <p:nvSpPr>
          <p:cNvPr id="128" name="Google Shape;128;p15"/>
          <p:cNvSpPr txBox="1"/>
          <p:nvPr/>
        </p:nvSpPr>
        <p:spPr>
          <a:xfrm rot="-5400000">
            <a:off x="3626300" y="1005700"/>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56.0</a:t>
            </a:r>
            <a:endParaRPr/>
          </a:p>
        </p:txBody>
      </p:sp>
      <p:sp>
        <p:nvSpPr>
          <p:cNvPr id="129" name="Google Shape;129;p15"/>
          <p:cNvSpPr txBox="1"/>
          <p:nvPr/>
        </p:nvSpPr>
        <p:spPr>
          <a:xfrm rot="-5400000">
            <a:off x="3626300" y="180200"/>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367910</a:t>
            </a:r>
            <a:endParaRPr/>
          </a:p>
        </p:txBody>
      </p:sp>
      <p:sp>
        <p:nvSpPr>
          <p:cNvPr id="130" name="Google Shape;130;p15"/>
          <p:cNvSpPr txBox="1"/>
          <p:nvPr/>
        </p:nvSpPr>
        <p:spPr>
          <a:xfrm rot="-5400000">
            <a:off x="3626300" y="1763375"/>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25.2</a:t>
            </a:r>
            <a:endParaRPr/>
          </a:p>
        </p:txBody>
      </p:sp>
      <p:sp>
        <p:nvSpPr>
          <p:cNvPr id="131" name="Google Shape;131;p15"/>
          <p:cNvSpPr txBox="1"/>
          <p:nvPr/>
        </p:nvSpPr>
        <p:spPr>
          <a:xfrm rot="-5400000">
            <a:off x="3626300" y="2478325"/>
            <a:ext cx="3000000" cy="3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850">
                <a:highlight>
                  <a:srgbClr val="FFFFFF"/>
                </a:highlight>
                <a:latin typeface="Verdana"/>
                <a:ea typeface="Verdana"/>
                <a:cs typeface="Verdana"/>
                <a:sym typeface="Verdana"/>
              </a:rPr>
              <a:t>12.35</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6"/>
          <p:cNvSpPr txBox="1"/>
          <p:nvPr/>
        </p:nvSpPr>
        <p:spPr>
          <a:xfrm>
            <a:off x="987900" y="88375"/>
            <a:ext cx="71682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3600">
                <a:latin typeface="Oswald"/>
                <a:ea typeface="Oswald"/>
                <a:cs typeface="Oswald"/>
                <a:sym typeface="Oswald"/>
              </a:rPr>
              <a:t>Liens entre la météo et la qualité de l’eau</a:t>
            </a:r>
            <a:r>
              <a:rPr lang="fr" sz="3600">
                <a:latin typeface="Oswald"/>
                <a:ea typeface="Oswald"/>
                <a:cs typeface="Oswald"/>
                <a:sym typeface="Oswald"/>
              </a:rPr>
              <a:t> </a:t>
            </a:r>
            <a:endParaRPr/>
          </a:p>
        </p:txBody>
      </p:sp>
      <p:sp>
        <p:nvSpPr>
          <p:cNvPr id="137" name="Google Shape;137;p16"/>
          <p:cNvSpPr/>
          <p:nvPr/>
        </p:nvSpPr>
        <p:spPr>
          <a:xfrm>
            <a:off x="4540625" y="1015975"/>
            <a:ext cx="892800" cy="4500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Cuivre</a:t>
            </a:r>
            <a:endParaRPr sz="1100">
              <a:solidFill>
                <a:srgbClr val="FFFFFF"/>
              </a:solidFill>
              <a:latin typeface="Roboto"/>
              <a:ea typeface="Roboto"/>
              <a:cs typeface="Roboto"/>
              <a:sym typeface="Roboto"/>
            </a:endParaRPr>
          </a:p>
        </p:txBody>
      </p:sp>
      <p:sp>
        <p:nvSpPr>
          <p:cNvPr id="138" name="Google Shape;138;p16"/>
          <p:cNvSpPr/>
          <p:nvPr/>
        </p:nvSpPr>
        <p:spPr>
          <a:xfrm>
            <a:off x="4540625" y="1534125"/>
            <a:ext cx="892800" cy="4500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Arsenic</a:t>
            </a:r>
            <a:endParaRPr sz="1100">
              <a:solidFill>
                <a:srgbClr val="FFFFFF"/>
              </a:solidFill>
              <a:latin typeface="Roboto"/>
              <a:ea typeface="Roboto"/>
              <a:cs typeface="Roboto"/>
              <a:sym typeface="Roboto"/>
            </a:endParaRPr>
          </a:p>
        </p:txBody>
      </p:sp>
      <p:sp>
        <p:nvSpPr>
          <p:cNvPr id="139" name="Google Shape;139;p16"/>
          <p:cNvSpPr/>
          <p:nvPr/>
        </p:nvSpPr>
        <p:spPr>
          <a:xfrm>
            <a:off x="4540625" y="2052275"/>
            <a:ext cx="892800" cy="4500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Plomb</a:t>
            </a:r>
            <a:endParaRPr sz="1100">
              <a:solidFill>
                <a:srgbClr val="FFFFFF"/>
              </a:solidFill>
              <a:latin typeface="Roboto"/>
              <a:ea typeface="Roboto"/>
              <a:cs typeface="Roboto"/>
              <a:sym typeface="Roboto"/>
            </a:endParaRPr>
          </a:p>
        </p:txBody>
      </p:sp>
      <p:sp>
        <p:nvSpPr>
          <p:cNvPr id="140" name="Google Shape;140;p16"/>
          <p:cNvSpPr/>
          <p:nvPr/>
        </p:nvSpPr>
        <p:spPr>
          <a:xfrm>
            <a:off x="4540625" y="2570425"/>
            <a:ext cx="892800" cy="4500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Zinc</a:t>
            </a:r>
            <a:endParaRPr sz="1100">
              <a:solidFill>
                <a:srgbClr val="FFFFFF"/>
              </a:solidFill>
              <a:latin typeface="Roboto"/>
              <a:ea typeface="Roboto"/>
              <a:cs typeface="Roboto"/>
              <a:sym typeface="Roboto"/>
            </a:endParaRPr>
          </a:p>
        </p:txBody>
      </p:sp>
      <p:sp>
        <p:nvSpPr>
          <p:cNvPr id="141" name="Google Shape;141;p16"/>
          <p:cNvSpPr/>
          <p:nvPr/>
        </p:nvSpPr>
        <p:spPr>
          <a:xfrm rot="-5400000">
            <a:off x="2637413" y="2715800"/>
            <a:ext cx="2006700" cy="5253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O2</a:t>
            </a:r>
            <a:endParaRPr sz="1100">
              <a:solidFill>
                <a:srgbClr val="FFFFFF"/>
              </a:solidFill>
              <a:latin typeface="Roboto"/>
              <a:ea typeface="Roboto"/>
              <a:cs typeface="Roboto"/>
              <a:sym typeface="Roboto"/>
            </a:endParaRPr>
          </a:p>
        </p:txBody>
      </p:sp>
      <p:cxnSp>
        <p:nvCxnSpPr>
          <p:cNvPr id="142" name="Google Shape;142;p16"/>
          <p:cNvCxnSpPr>
            <a:endCxn id="138" idx="1"/>
          </p:cNvCxnSpPr>
          <p:nvPr/>
        </p:nvCxnSpPr>
        <p:spPr>
          <a:xfrm rot="-5400000">
            <a:off x="3817475" y="2038875"/>
            <a:ext cx="1002900" cy="443400"/>
          </a:xfrm>
          <a:prstGeom prst="bentConnector2">
            <a:avLst/>
          </a:prstGeom>
          <a:noFill/>
          <a:ln cap="flat" cmpd="sng" w="9525">
            <a:solidFill>
              <a:srgbClr val="C2C2C2"/>
            </a:solidFill>
            <a:prstDash val="solid"/>
            <a:round/>
            <a:headEnd len="sm" w="sm" type="none"/>
            <a:tailEnd len="sm" w="sm" type="none"/>
          </a:ln>
        </p:spPr>
      </p:cxnSp>
      <p:sp>
        <p:nvSpPr>
          <p:cNvPr id="143" name="Google Shape;143;p16"/>
          <p:cNvSpPr/>
          <p:nvPr/>
        </p:nvSpPr>
        <p:spPr>
          <a:xfrm>
            <a:off x="4540625" y="3088575"/>
            <a:ext cx="892800" cy="450000"/>
          </a:xfrm>
          <a:prstGeom prst="roundRect">
            <a:avLst>
              <a:gd fmla="val 16667" name="adj"/>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Sulfate</a:t>
            </a:r>
            <a:endParaRPr sz="1100">
              <a:solidFill>
                <a:srgbClr val="FFFFFF"/>
              </a:solidFill>
              <a:latin typeface="Roboto"/>
              <a:ea typeface="Roboto"/>
              <a:cs typeface="Roboto"/>
              <a:sym typeface="Roboto"/>
            </a:endParaRPr>
          </a:p>
        </p:txBody>
      </p:sp>
      <p:sp>
        <p:nvSpPr>
          <p:cNvPr id="144" name="Google Shape;144;p16"/>
          <p:cNvSpPr/>
          <p:nvPr/>
        </p:nvSpPr>
        <p:spPr>
          <a:xfrm>
            <a:off x="4540625" y="4124875"/>
            <a:ext cx="892800" cy="4500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Cadmium</a:t>
            </a:r>
            <a:endParaRPr sz="1100">
              <a:solidFill>
                <a:srgbClr val="FFFFFF"/>
              </a:solidFill>
              <a:latin typeface="Roboto"/>
              <a:ea typeface="Roboto"/>
              <a:cs typeface="Roboto"/>
              <a:sym typeface="Roboto"/>
            </a:endParaRPr>
          </a:p>
        </p:txBody>
      </p:sp>
      <p:sp>
        <p:nvSpPr>
          <p:cNvPr id="145" name="Google Shape;145;p16"/>
          <p:cNvSpPr/>
          <p:nvPr/>
        </p:nvSpPr>
        <p:spPr>
          <a:xfrm>
            <a:off x="4540625" y="3606725"/>
            <a:ext cx="892800" cy="4500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FeII</a:t>
            </a:r>
            <a:endParaRPr sz="1100">
              <a:solidFill>
                <a:srgbClr val="FFFFFF"/>
              </a:solidFill>
              <a:latin typeface="Roboto"/>
              <a:ea typeface="Roboto"/>
              <a:cs typeface="Roboto"/>
              <a:sym typeface="Roboto"/>
            </a:endParaRPr>
          </a:p>
        </p:txBody>
      </p:sp>
      <p:sp>
        <p:nvSpPr>
          <p:cNvPr id="146" name="Google Shape;146;p16"/>
          <p:cNvSpPr/>
          <p:nvPr/>
        </p:nvSpPr>
        <p:spPr>
          <a:xfrm>
            <a:off x="4540625" y="4643025"/>
            <a:ext cx="892800" cy="450000"/>
          </a:xfrm>
          <a:prstGeom prst="roundRect">
            <a:avLst>
              <a:gd fmla="val 16667" name="adj"/>
            </a:avLst>
          </a:prstGeom>
          <a:solidFill>
            <a:srgbClr val="D9D2E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Antimoine</a:t>
            </a:r>
            <a:endParaRPr sz="1100">
              <a:solidFill>
                <a:srgbClr val="FFFFFF"/>
              </a:solidFill>
              <a:latin typeface="Roboto"/>
              <a:ea typeface="Roboto"/>
              <a:cs typeface="Roboto"/>
              <a:sym typeface="Roboto"/>
            </a:endParaRPr>
          </a:p>
        </p:txBody>
      </p:sp>
      <p:cxnSp>
        <p:nvCxnSpPr>
          <p:cNvPr id="147" name="Google Shape;147;p16"/>
          <p:cNvCxnSpPr>
            <a:endCxn id="137" idx="1"/>
          </p:cNvCxnSpPr>
          <p:nvPr/>
        </p:nvCxnSpPr>
        <p:spPr>
          <a:xfrm rot="-5400000">
            <a:off x="3879575" y="1458925"/>
            <a:ext cx="879000" cy="443100"/>
          </a:xfrm>
          <a:prstGeom prst="bentConnector2">
            <a:avLst/>
          </a:prstGeom>
          <a:noFill/>
          <a:ln cap="flat" cmpd="sng" w="9525">
            <a:solidFill>
              <a:srgbClr val="C2C2C2"/>
            </a:solidFill>
            <a:prstDash val="solid"/>
            <a:round/>
            <a:headEnd len="sm" w="sm" type="none"/>
            <a:tailEnd len="sm" w="sm" type="none"/>
          </a:ln>
        </p:spPr>
      </p:cxnSp>
      <p:cxnSp>
        <p:nvCxnSpPr>
          <p:cNvPr id="148" name="Google Shape;148;p16"/>
          <p:cNvCxnSpPr/>
          <p:nvPr/>
        </p:nvCxnSpPr>
        <p:spPr>
          <a:xfrm rot="-5400000">
            <a:off x="3817625" y="2524650"/>
            <a:ext cx="1002900" cy="443400"/>
          </a:xfrm>
          <a:prstGeom prst="bentConnector2">
            <a:avLst/>
          </a:prstGeom>
          <a:noFill/>
          <a:ln cap="flat" cmpd="sng" w="9525">
            <a:solidFill>
              <a:srgbClr val="C2C2C2"/>
            </a:solidFill>
            <a:prstDash val="solid"/>
            <a:round/>
            <a:headEnd len="sm" w="sm" type="none"/>
            <a:tailEnd len="sm" w="sm" type="none"/>
          </a:ln>
        </p:spPr>
      </p:cxnSp>
      <p:cxnSp>
        <p:nvCxnSpPr>
          <p:cNvPr id="149" name="Google Shape;149;p16"/>
          <p:cNvCxnSpPr/>
          <p:nvPr/>
        </p:nvCxnSpPr>
        <p:spPr>
          <a:xfrm rot="-5400000">
            <a:off x="3817475" y="309187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50" name="Google Shape;150;p16"/>
          <p:cNvCxnSpPr/>
          <p:nvPr/>
        </p:nvCxnSpPr>
        <p:spPr>
          <a:xfrm rot="-5400000">
            <a:off x="3817475" y="36100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51" name="Google Shape;151;p16"/>
          <p:cNvCxnSpPr/>
          <p:nvPr/>
        </p:nvCxnSpPr>
        <p:spPr>
          <a:xfrm rot="-5400000">
            <a:off x="3817625" y="412817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52" name="Google Shape;152;p16"/>
          <p:cNvCxnSpPr>
            <a:endCxn id="144" idx="1"/>
          </p:cNvCxnSpPr>
          <p:nvPr/>
        </p:nvCxnSpPr>
        <p:spPr>
          <a:xfrm>
            <a:off x="4101425" y="4348075"/>
            <a:ext cx="439200" cy="1800"/>
          </a:xfrm>
          <a:prstGeom prst="straightConnector1">
            <a:avLst/>
          </a:prstGeom>
          <a:noFill/>
          <a:ln cap="flat" cmpd="sng" w="9525">
            <a:solidFill>
              <a:srgbClr val="B7B7B7"/>
            </a:solidFill>
            <a:prstDash val="solid"/>
            <a:round/>
            <a:headEnd len="med" w="med" type="none"/>
            <a:tailEnd len="med" w="med" type="none"/>
          </a:ln>
        </p:spPr>
      </p:cxnSp>
      <p:cxnSp>
        <p:nvCxnSpPr>
          <p:cNvPr id="153" name="Google Shape;153;p16"/>
          <p:cNvCxnSpPr/>
          <p:nvPr/>
        </p:nvCxnSpPr>
        <p:spPr>
          <a:xfrm>
            <a:off x="4092375" y="4897375"/>
            <a:ext cx="448200" cy="600"/>
          </a:xfrm>
          <a:prstGeom prst="straightConnector1">
            <a:avLst/>
          </a:prstGeom>
          <a:noFill/>
          <a:ln cap="flat" cmpd="sng" w="9525">
            <a:solidFill>
              <a:srgbClr val="B7B7B7"/>
            </a:solidFill>
            <a:prstDash val="solid"/>
            <a:round/>
            <a:headEnd len="med" w="med" type="none"/>
            <a:tailEnd len="med" w="med" type="none"/>
          </a:ln>
        </p:spPr>
      </p:cxnSp>
      <p:cxnSp>
        <p:nvCxnSpPr>
          <p:cNvPr id="154" name="Google Shape;154;p16"/>
          <p:cNvCxnSpPr/>
          <p:nvPr/>
        </p:nvCxnSpPr>
        <p:spPr>
          <a:xfrm>
            <a:off x="3903425" y="2962525"/>
            <a:ext cx="193800" cy="4500"/>
          </a:xfrm>
          <a:prstGeom prst="straightConnector1">
            <a:avLst/>
          </a:prstGeom>
          <a:noFill/>
          <a:ln cap="flat" cmpd="sng" w="9525">
            <a:solidFill>
              <a:srgbClr val="B7B7B7"/>
            </a:solidFill>
            <a:prstDash val="solid"/>
            <a:round/>
            <a:headEnd len="med" w="med" type="none"/>
            <a:tailEnd len="med" w="med" type="none"/>
          </a:ln>
        </p:spPr>
      </p:cxnSp>
      <p:cxnSp>
        <p:nvCxnSpPr>
          <p:cNvPr id="155" name="Google Shape;155;p16"/>
          <p:cNvCxnSpPr/>
          <p:nvPr/>
        </p:nvCxnSpPr>
        <p:spPr>
          <a:xfrm rot="5400000">
            <a:off x="5153825" y="36566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56" name="Google Shape;156;p16"/>
          <p:cNvCxnSpPr/>
          <p:nvPr/>
        </p:nvCxnSpPr>
        <p:spPr>
          <a:xfrm rot="5400000">
            <a:off x="5215625" y="4236875"/>
            <a:ext cx="879000" cy="443100"/>
          </a:xfrm>
          <a:prstGeom prst="bentConnector2">
            <a:avLst/>
          </a:prstGeom>
          <a:noFill/>
          <a:ln cap="flat" cmpd="sng" w="9525">
            <a:solidFill>
              <a:srgbClr val="C2C2C2"/>
            </a:solidFill>
            <a:prstDash val="solid"/>
            <a:round/>
            <a:headEnd len="sm" w="sm" type="none"/>
            <a:tailEnd len="sm" w="sm" type="none"/>
          </a:ln>
        </p:spPr>
      </p:cxnSp>
      <p:cxnSp>
        <p:nvCxnSpPr>
          <p:cNvPr id="157" name="Google Shape;157;p16"/>
          <p:cNvCxnSpPr/>
          <p:nvPr/>
        </p:nvCxnSpPr>
        <p:spPr>
          <a:xfrm rot="5400000">
            <a:off x="5153675" y="3170850"/>
            <a:ext cx="1002900" cy="443400"/>
          </a:xfrm>
          <a:prstGeom prst="bentConnector2">
            <a:avLst/>
          </a:prstGeom>
          <a:noFill/>
          <a:ln cap="flat" cmpd="sng" w="9525">
            <a:solidFill>
              <a:srgbClr val="C2C2C2"/>
            </a:solidFill>
            <a:prstDash val="solid"/>
            <a:round/>
            <a:headEnd len="sm" w="sm" type="none"/>
            <a:tailEnd len="sm" w="sm" type="none"/>
          </a:ln>
        </p:spPr>
      </p:cxnSp>
      <p:cxnSp>
        <p:nvCxnSpPr>
          <p:cNvPr id="158" name="Google Shape;158;p16"/>
          <p:cNvCxnSpPr/>
          <p:nvPr/>
        </p:nvCxnSpPr>
        <p:spPr>
          <a:xfrm rot="5400000">
            <a:off x="5153825" y="26036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59" name="Google Shape;159;p16"/>
          <p:cNvCxnSpPr/>
          <p:nvPr/>
        </p:nvCxnSpPr>
        <p:spPr>
          <a:xfrm rot="5400000">
            <a:off x="5153825" y="208547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60" name="Google Shape;160;p16"/>
          <p:cNvCxnSpPr/>
          <p:nvPr/>
        </p:nvCxnSpPr>
        <p:spPr>
          <a:xfrm rot="5400000">
            <a:off x="5153675" y="1567325"/>
            <a:ext cx="1002900" cy="443400"/>
          </a:xfrm>
          <a:prstGeom prst="bentConnector2">
            <a:avLst/>
          </a:prstGeom>
          <a:noFill/>
          <a:ln cap="flat" cmpd="sng" w="9525">
            <a:solidFill>
              <a:srgbClr val="C2C2C2"/>
            </a:solidFill>
            <a:prstDash val="solid"/>
            <a:round/>
            <a:headEnd len="sm" w="sm" type="none"/>
            <a:tailEnd len="sm" w="sm" type="none"/>
          </a:ln>
        </p:spPr>
      </p:cxnSp>
      <p:cxnSp>
        <p:nvCxnSpPr>
          <p:cNvPr id="161" name="Google Shape;161;p16"/>
          <p:cNvCxnSpPr/>
          <p:nvPr/>
        </p:nvCxnSpPr>
        <p:spPr>
          <a:xfrm rot="10800000">
            <a:off x="5433400" y="1789050"/>
            <a:ext cx="449700" cy="3900"/>
          </a:xfrm>
          <a:prstGeom prst="straightConnector1">
            <a:avLst/>
          </a:prstGeom>
          <a:noFill/>
          <a:ln cap="flat" cmpd="sng" w="9525">
            <a:solidFill>
              <a:srgbClr val="B7B7B7"/>
            </a:solidFill>
            <a:prstDash val="solid"/>
            <a:round/>
            <a:headEnd len="med" w="med" type="none"/>
            <a:tailEnd len="med" w="med" type="none"/>
          </a:ln>
        </p:spPr>
      </p:cxnSp>
      <p:cxnSp>
        <p:nvCxnSpPr>
          <p:cNvPr id="162" name="Google Shape;162;p16"/>
          <p:cNvCxnSpPr>
            <a:endCxn id="137" idx="3"/>
          </p:cNvCxnSpPr>
          <p:nvPr/>
        </p:nvCxnSpPr>
        <p:spPr>
          <a:xfrm rot="10800000">
            <a:off x="5433425" y="1240975"/>
            <a:ext cx="446100" cy="2400"/>
          </a:xfrm>
          <a:prstGeom prst="straightConnector1">
            <a:avLst/>
          </a:prstGeom>
          <a:noFill/>
          <a:ln cap="flat" cmpd="sng" w="9525">
            <a:solidFill>
              <a:srgbClr val="B7B7B7"/>
            </a:solidFill>
            <a:prstDash val="solid"/>
            <a:round/>
            <a:headEnd len="med" w="med" type="none"/>
            <a:tailEnd len="med" w="med" type="none"/>
          </a:ln>
        </p:spPr>
      </p:cxnSp>
      <p:cxnSp>
        <p:nvCxnSpPr>
          <p:cNvPr id="163" name="Google Shape;163;p16"/>
          <p:cNvCxnSpPr/>
          <p:nvPr/>
        </p:nvCxnSpPr>
        <p:spPr>
          <a:xfrm rot="10800000">
            <a:off x="5876675" y="1240975"/>
            <a:ext cx="0" cy="71700"/>
          </a:xfrm>
          <a:prstGeom prst="straightConnector1">
            <a:avLst/>
          </a:prstGeom>
          <a:noFill/>
          <a:ln cap="flat" cmpd="sng" w="9525">
            <a:solidFill>
              <a:srgbClr val="B7B7B7"/>
            </a:solidFill>
            <a:prstDash val="solid"/>
            <a:round/>
            <a:headEnd len="med" w="med" type="none"/>
            <a:tailEnd len="med" w="med" type="none"/>
          </a:ln>
        </p:spPr>
      </p:cxnSp>
      <p:cxnSp>
        <p:nvCxnSpPr>
          <p:cNvPr id="164" name="Google Shape;164;p16"/>
          <p:cNvCxnSpPr/>
          <p:nvPr/>
        </p:nvCxnSpPr>
        <p:spPr>
          <a:xfrm rot="10800000">
            <a:off x="4097225" y="4800475"/>
            <a:ext cx="2400" cy="96900"/>
          </a:xfrm>
          <a:prstGeom prst="straightConnector1">
            <a:avLst/>
          </a:prstGeom>
          <a:noFill/>
          <a:ln cap="flat" cmpd="sng" w="9525">
            <a:solidFill>
              <a:srgbClr val="B7B7B7"/>
            </a:solidFill>
            <a:prstDash val="solid"/>
            <a:round/>
            <a:headEnd len="med" w="med" type="none"/>
            <a:tailEnd len="med" w="med" type="none"/>
          </a:ln>
        </p:spPr>
      </p:cxnSp>
      <p:cxnSp>
        <p:nvCxnSpPr>
          <p:cNvPr id="165" name="Google Shape;165;p16"/>
          <p:cNvCxnSpPr/>
          <p:nvPr/>
        </p:nvCxnSpPr>
        <p:spPr>
          <a:xfrm>
            <a:off x="3184325" y="2962525"/>
            <a:ext cx="193800" cy="4500"/>
          </a:xfrm>
          <a:prstGeom prst="straightConnector1">
            <a:avLst/>
          </a:prstGeom>
          <a:noFill/>
          <a:ln cap="flat" cmpd="sng" w="9525">
            <a:solidFill>
              <a:srgbClr val="B7B7B7"/>
            </a:solidFill>
            <a:prstDash val="solid"/>
            <a:round/>
            <a:headEnd len="med" w="med" type="none"/>
            <a:tailEnd len="med" w="med" type="none"/>
          </a:ln>
        </p:spPr>
      </p:cxnSp>
      <p:sp>
        <p:nvSpPr>
          <p:cNvPr id="166" name="Google Shape;166;p16"/>
          <p:cNvSpPr/>
          <p:nvPr/>
        </p:nvSpPr>
        <p:spPr>
          <a:xfrm rot="-5400000">
            <a:off x="1918313" y="2715800"/>
            <a:ext cx="2006700" cy="525300"/>
          </a:xfrm>
          <a:prstGeom prst="roundRect">
            <a:avLst>
              <a:gd fmla="val 16667" name="adj"/>
            </a:avLst>
          </a:prstGeom>
          <a:solidFill>
            <a:srgbClr val="351C7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Évapotranspiration</a:t>
            </a:r>
            <a:endParaRPr sz="1100">
              <a:solidFill>
                <a:srgbClr val="FFFFFF"/>
              </a:solidFill>
              <a:latin typeface="Roboto"/>
              <a:ea typeface="Roboto"/>
              <a:cs typeface="Roboto"/>
              <a:sym typeface="Roboto"/>
            </a:endParaRPr>
          </a:p>
        </p:txBody>
      </p:sp>
      <p:cxnSp>
        <p:nvCxnSpPr>
          <p:cNvPr id="167" name="Google Shape;167;p16"/>
          <p:cNvCxnSpPr/>
          <p:nvPr/>
        </p:nvCxnSpPr>
        <p:spPr>
          <a:xfrm>
            <a:off x="2465225" y="2962525"/>
            <a:ext cx="193800" cy="4500"/>
          </a:xfrm>
          <a:prstGeom prst="straightConnector1">
            <a:avLst/>
          </a:prstGeom>
          <a:noFill/>
          <a:ln cap="flat" cmpd="sng" w="9525">
            <a:solidFill>
              <a:srgbClr val="B7B7B7"/>
            </a:solidFill>
            <a:prstDash val="solid"/>
            <a:round/>
            <a:headEnd len="med" w="med" type="none"/>
            <a:tailEnd len="med" w="med" type="none"/>
          </a:ln>
        </p:spPr>
      </p:cxnSp>
      <p:sp>
        <p:nvSpPr>
          <p:cNvPr id="168" name="Google Shape;168;p16"/>
          <p:cNvSpPr/>
          <p:nvPr/>
        </p:nvSpPr>
        <p:spPr>
          <a:xfrm rot="-5400000">
            <a:off x="1199213" y="2715800"/>
            <a:ext cx="2006700" cy="5253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Humidité</a:t>
            </a:r>
            <a:endParaRPr sz="1100">
              <a:solidFill>
                <a:srgbClr val="FFFFFF"/>
              </a:solidFill>
              <a:latin typeface="Roboto"/>
              <a:ea typeface="Roboto"/>
              <a:cs typeface="Roboto"/>
              <a:sym typeface="Roboto"/>
            </a:endParaRPr>
          </a:p>
        </p:txBody>
      </p:sp>
      <p:cxnSp>
        <p:nvCxnSpPr>
          <p:cNvPr id="169" name="Google Shape;169;p16"/>
          <p:cNvCxnSpPr>
            <a:stCxn id="168" idx="3"/>
          </p:cNvCxnSpPr>
          <p:nvPr/>
        </p:nvCxnSpPr>
        <p:spPr>
          <a:xfrm rot="-5400000">
            <a:off x="2932613" y="814550"/>
            <a:ext cx="430500" cy="1890600"/>
          </a:xfrm>
          <a:prstGeom prst="bentConnector2">
            <a:avLst/>
          </a:prstGeom>
          <a:noFill/>
          <a:ln cap="flat" cmpd="sng" w="9525">
            <a:solidFill>
              <a:srgbClr val="C2C2C2"/>
            </a:solidFill>
            <a:prstDash val="solid"/>
            <a:round/>
            <a:headEnd len="sm" w="sm" type="none"/>
            <a:tailEnd len="sm" w="sm" type="none"/>
          </a:ln>
        </p:spPr>
      </p:cxnSp>
      <p:cxnSp>
        <p:nvCxnSpPr>
          <p:cNvPr id="170" name="Google Shape;170;p16"/>
          <p:cNvCxnSpPr>
            <a:stCxn id="168" idx="1"/>
          </p:cNvCxnSpPr>
          <p:nvPr/>
        </p:nvCxnSpPr>
        <p:spPr>
          <a:xfrm flipH="1" rot="-5400000">
            <a:off x="2914013" y="3270350"/>
            <a:ext cx="467700" cy="1890600"/>
          </a:xfrm>
          <a:prstGeom prst="bentConnector2">
            <a:avLst/>
          </a:prstGeom>
          <a:noFill/>
          <a:ln cap="flat" cmpd="sng" w="9525">
            <a:solidFill>
              <a:srgbClr val="C2C2C2"/>
            </a:solidFill>
            <a:prstDash val="solid"/>
            <a:round/>
            <a:headEnd len="sm" w="sm" type="none"/>
            <a:tailEnd len="sm" w="sm" type="none"/>
          </a:ln>
        </p:spPr>
      </p:cxnSp>
      <p:cxnSp>
        <p:nvCxnSpPr>
          <p:cNvPr id="171" name="Google Shape;171;p16"/>
          <p:cNvCxnSpPr/>
          <p:nvPr/>
        </p:nvCxnSpPr>
        <p:spPr>
          <a:xfrm>
            <a:off x="1746125" y="2976200"/>
            <a:ext cx="193800" cy="4500"/>
          </a:xfrm>
          <a:prstGeom prst="straightConnector1">
            <a:avLst/>
          </a:prstGeom>
          <a:noFill/>
          <a:ln cap="flat" cmpd="sng" w="9525">
            <a:solidFill>
              <a:srgbClr val="B7B7B7"/>
            </a:solidFill>
            <a:prstDash val="solid"/>
            <a:round/>
            <a:headEnd len="med" w="med" type="none"/>
            <a:tailEnd len="med" w="med" type="none"/>
          </a:ln>
        </p:spPr>
      </p:cxnSp>
      <p:sp>
        <p:nvSpPr>
          <p:cNvPr id="172" name="Google Shape;172;p16"/>
          <p:cNvSpPr/>
          <p:nvPr/>
        </p:nvSpPr>
        <p:spPr>
          <a:xfrm rot="-5400000">
            <a:off x="480113" y="2715800"/>
            <a:ext cx="2006700" cy="525300"/>
          </a:xfrm>
          <a:prstGeom prst="roundRect">
            <a:avLst>
              <a:gd fmla="val 16667" name="adj"/>
            </a:avLst>
          </a:prstGeom>
          <a:solidFill>
            <a:srgbClr val="674EA7"/>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Température de l’air</a:t>
            </a:r>
            <a:endParaRPr sz="1100">
              <a:solidFill>
                <a:srgbClr val="FFFFFF"/>
              </a:solidFill>
              <a:latin typeface="Roboto"/>
              <a:ea typeface="Roboto"/>
              <a:cs typeface="Roboto"/>
              <a:sym typeface="Roboto"/>
            </a:endParaRPr>
          </a:p>
        </p:txBody>
      </p:sp>
      <p:cxnSp>
        <p:nvCxnSpPr>
          <p:cNvPr id="173" name="Google Shape;173;p16"/>
          <p:cNvCxnSpPr/>
          <p:nvPr/>
        </p:nvCxnSpPr>
        <p:spPr>
          <a:xfrm>
            <a:off x="1027025" y="2976200"/>
            <a:ext cx="193800" cy="4500"/>
          </a:xfrm>
          <a:prstGeom prst="straightConnector1">
            <a:avLst/>
          </a:prstGeom>
          <a:noFill/>
          <a:ln cap="flat" cmpd="sng" w="9525">
            <a:solidFill>
              <a:srgbClr val="B7B7B7"/>
            </a:solidFill>
            <a:prstDash val="solid"/>
            <a:round/>
            <a:headEnd len="med" w="med" type="none"/>
            <a:tailEnd len="med" w="med" type="none"/>
          </a:ln>
        </p:spPr>
      </p:cxnSp>
      <p:sp>
        <p:nvSpPr>
          <p:cNvPr id="174" name="Google Shape;174;p16"/>
          <p:cNvSpPr/>
          <p:nvPr/>
        </p:nvSpPr>
        <p:spPr>
          <a:xfrm rot="-5400000">
            <a:off x="-238987" y="2715800"/>
            <a:ext cx="2006700" cy="5253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Rayonnement solaire</a:t>
            </a:r>
            <a:endParaRPr sz="1100">
              <a:solidFill>
                <a:srgbClr val="FFFFFF"/>
              </a:solidFill>
              <a:latin typeface="Roboto"/>
              <a:ea typeface="Roboto"/>
              <a:cs typeface="Roboto"/>
              <a:sym typeface="Roboto"/>
            </a:endParaRPr>
          </a:p>
        </p:txBody>
      </p:sp>
      <p:cxnSp>
        <p:nvCxnSpPr>
          <p:cNvPr id="175" name="Google Shape;175;p16"/>
          <p:cNvCxnSpPr/>
          <p:nvPr/>
        </p:nvCxnSpPr>
        <p:spPr>
          <a:xfrm rot="10800000">
            <a:off x="5876975" y="3171875"/>
            <a:ext cx="193800" cy="4500"/>
          </a:xfrm>
          <a:prstGeom prst="straightConnector1">
            <a:avLst/>
          </a:prstGeom>
          <a:noFill/>
          <a:ln cap="flat" cmpd="sng" w="9525">
            <a:solidFill>
              <a:srgbClr val="B7B7B7"/>
            </a:solidFill>
            <a:prstDash val="solid"/>
            <a:round/>
            <a:headEnd len="med" w="med" type="none"/>
            <a:tailEnd len="med" w="med" type="none"/>
          </a:ln>
        </p:spPr>
      </p:cxnSp>
      <p:sp>
        <p:nvSpPr>
          <p:cNvPr id="176" name="Google Shape;176;p16"/>
          <p:cNvSpPr/>
          <p:nvPr/>
        </p:nvSpPr>
        <p:spPr>
          <a:xfrm rot="-5400000">
            <a:off x="5329913" y="2715800"/>
            <a:ext cx="2006700" cy="5253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Température de l’eau</a:t>
            </a:r>
            <a:endParaRPr sz="1100">
              <a:solidFill>
                <a:srgbClr val="FFFFFF"/>
              </a:solidFill>
              <a:latin typeface="Roboto"/>
              <a:ea typeface="Roboto"/>
              <a:cs typeface="Roboto"/>
              <a:sym typeface="Roboto"/>
            </a:endParaRPr>
          </a:p>
        </p:txBody>
      </p:sp>
      <p:cxnSp>
        <p:nvCxnSpPr>
          <p:cNvPr id="177" name="Google Shape;177;p16"/>
          <p:cNvCxnSpPr/>
          <p:nvPr/>
        </p:nvCxnSpPr>
        <p:spPr>
          <a:xfrm>
            <a:off x="6595925" y="2975150"/>
            <a:ext cx="304800" cy="883800"/>
          </a:xfrm>
          <a:prstGeom prst="bentConnector3">
            <a:avLst>
              <a:gd fmla="val 49996" name="adj1"/>
            </a:avLst>
          </a:prstGeom>
          <a:noFill/>
          <a:ln cap="flat" cmpd="sng" w="9525">
            <a:solidFill>
              <a:srgbClr val="C2C2C2"/>
            </a:solidFill>
            <a:prstDash val="solid"/>
            <a:round/>
            <a:headEnd len="sm" w="sm" type="none"/>
            <a:tailEnd len="sm" w="sm" type="none"/>
          </a:ln>
        </p:spPr>
      </p:cxnSp>
      <p:cxnSp>
        <p:nvCxnSpPr>
          <p:cNvPr id="178" name="Google Shape;178;p16"/>
          <p:cNvCxnSpPr/>
          <p:nvPr/>
        </p:nvCxnSpPr>
        <p:spPr>
          <a:xfrm flipH="1" rot="10800000">
            <a:off x="6595925" y="2097950"/>
            <a:ext cx="304800" cy="877200"/>
          </a:xfrm>
          <a:prstGeom prst="bentConnector3">
            <a:avLst>
              <a:gd fmla="val 49996" name="adj1"/>
            </a:avLst>
          </a:prstGeom>
          <a:noFill/>
          <a:ln cap="flat" cmpd="sng" w="9525">
            <a:solidFill>
              <a:srgbClr val="C2C2C2"/>
            </a:solidFill>
            <a:prstDash val="solid"/>
            <a:round/>
            <a:headEnd len="sm" w="sm" type="none"/>
            <a:tailEnd len="sm" w="sm" type="none"/>
          </a:ln>
        </p:spPr>
      </p:cxnSp>
      <p:sp>
        <p:nvSpPr>
          <p:cNvPr id="179" name="Google Shape;179;p16"/>
          <p:cNvSpPr/>
          <p:nvPr/>
        </p:nvSpPr>
        <p:spPr>
          <a:xfrm>
            <a:off x="6891275" y="1821663"/>
            <a:ext cx="1443900" cy="525300"/>
          </a:xfrm>
          <a:prstGeom prst="roundRect">
            <a:avLst>
              <a:gd fmla="val 16667" name="adj"/>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pH</a:t>
            </a:r>
            <a:endParaRPr sz="1100">
              <a:solidFill>
                <a:srgbClr val="FFFFFF"/>
              </a:solidFill>
              <a:latin typeface="Roboto"/>
              <a:ea typeface="Roboto"/>
              <a:cs typeface="Roboto"/>
              <a:sym typeface="Roboto"/>
            </a:endParaRPr>
          </a:p>
        </p:txBody>
      </p:sp>
      <p:sp>
        <p:nvSpPr>
          <p:cNvPr id="180" name="Google Shape;180;p16"/>
          <p:cNvSpPr/>
          <p:nvPr/>
        </p:nvSpPr>
        <p:spPr>
          <a:xfrm>
            <a:off x="6891275" y="3582588"/>
            <a:ext cx="1443900" cy="525300"/>
          </a:xfrm>
          <a:prstGeom prst="roundRect">
            <a:avLst>
              <a:gd fmla="val 16667" name="adj"/>
            </a:avLst>
          </a:prstGeom>
          <a:solidFill>
            <a:srgbClr val="8E7CC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fr" sz="1100">
                <a:solidFill>
                  <a:srgbClr val="FFFFFF"/>
                </a:solidFill>
                <a:latin typeface="Roboto"/>
                <a:ea typeface="Roboto"/>
                <a:cs typeface="Roboto"/>
                <a:sym typeface="Roboto"/>
              </a:rPr>
              <a:t>Conductivité</a:t>
            </a:r>
            <a:endParaRPr sz="1100">
              <a:solidFill>
                <a:srgbClr val="FFFFFF"/>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7"/>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de la variance par période</a:t>
            </a:r>
            <a:endParaRPr>
              <a:solidFill>
                <a:srgbClr val="000000"/>
              </a:solidFill>
            </a:endParaRPr>
          </a:p>
        </p:txBody>
      </p:sp>
      <p:sp>
        <p:nvSpPr>
          <p:cNvPr id="186" name="Google Shape;186;p17"/>
          <p:cNvSpPr/>
          <p:nvPr/>
        </p:nvSpPr>
        <p:spPr>
          <a:xfrm>
            <a:off x="516200" y="927575"/>
            <a:ext cx="518100" cy="13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sp>
        <p:nvSpPr>
          <p:cNvPr id="187" name="Google Shape;187;p17"/>
          <p:cNvSpPr txBox="1"/>
          <p:nvPr/>
        </p:nvSpPr>
        <p:spPr>
          <a:xfrm>
            <a:off x="-632950" y="851675"/>
            <a:ext cx="300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1000">
                <a:latin typeface="Source Code Pro"/>
                <a:ea typeface="Source Code Pro"/>
                <a:cs typeface="Source Code Pro"/>
                <a:sym typeface="Source Code Pro"/>
              </a:rPr>
              <a:t>FAMD</a:t>
            </a:r>
            <a:endParaRPr/>
          </a:p>
        </p:txBody>
      </p:sp>
      <p:pic>
        <p:nvPicPr>
          <p:cNvPr id="188" name="Google Shape;188;p17" title="Capture d’écran 2025-07-01 à 09.48.57.png"/>
          <p:cNvPicPr preferRelativeResize="0"/>
          <p:nvPr/>
        </p:nvPicPr>
        <p:blipFill>
          <a:blip r:embed="rId3">
            <a:alphaModFix/>
          </a:blip>
          <a:stretch>
            <a:fillRect/>
          </a:stretch>
        </p:blipFill>
        <p:spPr>
          <a:xfrm>
            <a:off x="0" y="851668"/>
            <a:ext cx="9143997" cy="425945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8"/>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de la variance par période et par méthode</a:t>
            </a:r>
            <a:endParaRPr>
              <a:solidFill>
                <a:srgbClr val="000000"/>
              </a:solidFill>
            </a:endParaRPr>
          </a:p>
        </p:txBody>
      </p:sp>
      <p:sp>
        <p:nvSpPr>
          <p:cNvPr id="194" name="Google Shape;194;p18"/>
          <p:cNvSpPr/>
          <p:nvPr/>
        </p:nvSpPr>
        <p:spPr>
          <a:xfrm>
            <a:off x="516200" y="927575"/>
            <a:ext cx="518100" cy="13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pic>
        <p:nvPicPr>
          <p:cNvPr id="195" name="Google Shape;195;p18" title="Capture d’écran 2025-07-01 à 09.49.25.png"/>
          <p:cNvPicPr preferRelativeResize="0"/>
          <p:nvPr/>
        </p:nvPicPr>
        <p:blipFill>
          <a:blip r:embed="rId3">
            <a:alphaModFix/>
          </a:blip>
          <a:stretch>
            <a:fillRect/>
          </a:stretch>
        </p:blipFill>
        <p:spPr>
          <a:xfrm>
            <a:off x="0" y="857251"/>
            <a:ext cx="9143997" cy="42862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pic>
        <p:nvPicPr>
          <p:cNvPr id="200" name="Google Shape;200;p19" title="Capture d’écran 2025-07-02 à 14.59.23.png"/>
          <p:cNvPicPr preferRelativeResize="0"/>
          <p:nvPr/>
        </p:nvPicPr>
        <p:blipFill rotWithShape="1">
          <a:blip r:embed="rId3">
            <a:alphaModFix/>
          </a:blip>
          <a:srcRect b="0" l="0" r="0" t="0"/>
          <a:stretch/>
        </p:blipFill>
        <p:spPr>
          <a:xfrm>
            <a:off x="0" y="866775"/>
            <a:ext cx="5021276" cy="4279051"/>
          </a:xfrm>
          <a:prstGeom prst="rect">
            <a:avLst/>
          </a:prstGeom>
          <a:noFill/>
          <a:ln>
            <a:noFill/>
          </a:ln>
        </p:spPr>
      </p:pic>
      <p:sp>
        <p:nvSpPr>
          <p:cNvPr id="201" name="Google Shape;201;p19"/>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de sensibilité - Arsenic</a:t>
            </a:r>
            <a:endParaRPr>
              <a:solidFill>
                <a:srgbClr val="000000"/>
              </a:solidFill>
            </a:endParaRPr>
          </a:p>
        </p:txBody>
      </p:sp>
      <p:pic>
        <p:nvPicPr>
          <p:cNvPr id="202" name="Google Shape;202;p19" title="Capture d’écran 2025-07-02 à 14.57.33.png"/>
          <p:cNvPicPr preferRelativeResize="0"/>
          <p:nvPr/>
        </p:nvPicPr>
        <p:blipFill rotWithShape="1">
          <a:blip r:embed="rId4">
            <a:alphaModFix/>
          </a:blip>
          <a:srcRect b="0" l="5580" r="0" t="0"/>
          <a:stretch/>
        </p:blipFill>
        <p:spPr>
          <a:xfrm>
            <a:off x="4257375" y="866775"/>
            <a:ext cx="4909727" cy="4279049"/>
          </a:xfrm>
          <a:prstGeom prst="rect">
            <a:avLst/>
          </a:prstGeom>
          <a:noFill/>
          <a:ln>
            <a:noFill/>
          </a:ln>
        </p:spPr>
      </p:pic>
      <p:cxnSp>
        <p:nvCxnSpPr>
          <p:cNvPr id="203" name="Google Shape;203;p19"/>
          <p:cNvCxnSpPr/>
          <p:nvPr/>
        </p:nvCxnSpPr>
        <p:spPr>
          <a:xfrm rot="10800000">
            <a:off x="4257375" y="863250"/>
            <a:ext cx="23100" cy="4286100"/>
          </a:xfrm>
          <a:prstGeom prst="straightConnector1">
            <a:avLst/>
          </a:prstGeom>
          <a:noFill/>
          <a:ln cap="flat" cmpd="sng" w="9525">
            <a:solidFill>
              <a:schemeClr val="dk2"/>
            </a:solidFill>
            <a:prstDash val="solid"/>
            <a:round/>
            <a:headEnd len="med" w="med" type="none"/>
            <a:tailEnd len="med" w="med" type="none"/>
          </a:ln>
        </p:spPr>
      </p:cxnSp>
      <p:sp>
        <p:nvSpPr>
          <p:cNvPr id="204" name="Google Shape;204;p19"/>
          <p:cNvSpPr txBox="1"/>
          <p:nvPr/>
        </p:nvSpPr>
        <p:spPr>
          <a:xfrm>
            <a:off x="5761450" y="782200"/>
            <a:ext cx="6569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u="sng">
                <a:solidFill>
                  <a:schemeClr val="dk2"/>
                </a:solidFill>
                <a:latin typeface="Source Code Pro"/>
                <a:ea typeface="Source Code Pro"/>
                <a:cs typeface="Source Code Pro"/>
                <a:sym typeface="Source Code Pro"/>
              </a:rPr>
              <a:t>2011-2022</a:t>
            </a:r>
            <a:endParaRPr sz="1800" u="sng">
              <a:solidFill>
                <a:schemeClr val="dk2"/>
              </a:solidFill>
              <a:latin typeface="Source Code Pro"/>
              <a:ea typeface="Source Code Pro"/>
              <a:cs typeface="Source Code Pro"/>
              <a:sym typeface="Source Code Pro"/>
            </a:endParaRPr>
          </a:p>
        </p:txBody>
      </p:sp>
      <p:sp>
        <p:nvSpPr>
          <p:cNvPr id="205" name="Google Shape;205;p19"/>
          <p:cNvSpPr txBox="1"/>
          <p:nvPr/>
        </p:nvSpPr>
        <p:spPr>
          <a:xfrm>
            <a:off x="1193450" y="782200"/>
            <a:ext cx="222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u="sng">
                <a:solidFill>
                  <a:schemeClr val="dk2"/>
                </a:solidFill>
                <a:latin typeface="Source Code Pro"/>
                <a:ea typeface="Source Code Pro"/>
                <a:cs typeface="Source Code Pro"/>
                <a:sym typeface="Source Code Pro"/>
              </a:rPr>
              <a:t>2004-</a:t>
            </a:r>
            <a:r>
              <a:rPr lang="fr" sz="1800" u="sng">
                <a:solidFill>
                  <a:schemeClr val="dk2"/>
                </a:solidFill>
                <a:latin typeface="Source Code Pro"/>
                <a:ea typeface="Source Code Pro"/>
                <a:cs typeface="Source Code Pro"/>
                <a:sym typeface="Source Code Pro"/>
              </a:rPr>
              <a:t>2011</a:t>
            </a:r>
            <a:endParaRPr sz="1800" u="sng">
              <a:solidFill>
                <a:schemeClr val="dk2"/>
              </a:solidFill>
              <a:latin typeface="Source Code Pro"/>
              <a:ea typeface="Source Code Pro"/>
              <a:cs typeface="Source Code Pro"/>
              <a:sym typeface="Source Code Pro"/>
            </a:endParaRPr>
          </a:p>
        </p:txBody>
      </p:sp>
      <p:sp>
        <p:nvSpPr>
          <p:cNvPr id="206" name="Google Shape;206;p19"/>
          <p:cNvSpPr/>
          <p:nvPr/>
        </p:nvSpPr>
        <p:spPr>
          <a:xfrm>
            <a:off x="3723050" y="975732"/>
            <a:ext cx="534330" cy="4019112"/>
          </a:xfrm>
          <a:prstGeom prst="flowChartTerminator">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07" name="Google Shape;207;p19"/>
          <p:cNvSpPr/>
          <p:nvPr/>
        </p:nvSpPr>
        <p:spPr>
          <a:xfrm>
            <a:off x="5402775" y="2079250"/>
            <a:ext cx="649080" cy="2915568"/>
          </a:xfrm>
          <a:prstGeom prst="flowChartTerminator">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20" title="Capture d’écran 2025-07-02 à 15.00.15.png"/>
          <p:cNvPicPr preferRelativeResize="0"/>
          <p:nvPr/>
        </p:nvPicPr>
        <p:blipFill>
          <a:blip r:embed="rId3">
            <a:alphaModFix/>
          </a:blip>
          <a:stretch>
            <a:fillRect/>
          </a:stretch>
        </p:blipFill>
        <p:spPr>
          <a:xfrm>
            <a:off x="0" y="866775"/>
            <a:ext cx="5145825" cy="4279049"/>
          </a:xfrm>
          <a:prstGeom prst="rect">
            <a:avLst/>
          </a:prstGeom>
          <a:noFill/>
          <a:ln>
            <a:noFill/>
          </a:ln>
        </p:spPr>
      </p:pic>
      <p:sp>
        <p:nvSpPr>
          <p:cNvPr id="213" name="Google Shape;213;p20"/>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de sensibilité - Arsenic</a:t>
            </a:r>
            <a:endParaRPr>
              <a:solidFill>
                <a:srgbClr val="000000"/>
              </a:solidFill>
            </a:endParaRPr>
          </a:p>
        </p:txBody>
      </p:sp>
      <p:sp>
        <p:nvSpPr>
          <p:cNvPr id="214" name="Google Shape;214;p20"/>
          <p:cNvSpPr txBox="1"/>
          <p:nvPr/>
        </p:nvSpPr>
        <p:spPr>
          <a:xfrm>
            <a:off x="1193450" y="782200"/>
            <a:ext cx="222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u="sng">
                <a:solidFill>
                  <a:schemeClr val="dk2"/>
                </a:solidFill>
                <a:latin typeface="Source Code Pro"/>
                <a:ea typeface="Source Code Pro"/>
                <a:cs typeface="Source Code Pro"/>
                <a:sym typeface="Source Code Pro"/>
              </a:rPr>
              <a:t>2004-2011</a:t>
            </a:r>
            <a:endParaRPr sz="1800" u="sng">
              <a:solidFill>
                <a:schemeClr val="dk2"/>
              </a:solidFill>
              <a:latin typeface="Source Code Pro"/>
              <a:ea typeface="Source Code Pro"/>
              <a:cs typeface="Source Code Pro"/>
              <a:sym typeface="Source Code Pro"/>
            </a:endParaRPr>
          </a:p>
        </p:txBody>
      </p:sp>
      <p:pic>
        <p:nvPicPr>
          <p:cNvPr id="215" name="Google Shape;215;p20" title="Capture d’écran 2025-07-02 à 14.58.11.png"/>
          <p:cNvPicPr preferRelativeResize="0"/>
          <p:nvPr/>
        </p:nvPicPr>
        <p:blipFill rotWithShape="1">
          <a:blip r:embed="rId4">
            <a:alphaModFix/>
          </a:blip>
          <a:srcRect b="0" l="7467" r="0" t="0"/>
          <a:stretch/>
        </p:blipFill>
        <p:spPr>
          <a:xfrm>
            <a:off x="4344175" y="863250"/>
            <a:ext cx="4799826" cy="4286099"/>
          </a:xfrm>
          <a:prstGeom prst="rect">
            <a:avLst/>
          </a:prstGeom>
          <a:noFill/>
          <a:ln>
            <a:noFill/>
          </a:ln>
        </p:spPr>
      </p:pic>
      <p:cxnSp>
        <p:nvCxnSpPr>
          <p:cNvPr id="216" name="Google Shape;216;p20"/>
          <p:cNvCxnSpPr/>
          <p:nvPr/>
        </p:nvCxnSpPr>
        <p:spPr>
          <a:xfrm rot="10800000">
            <a:off x="4321075" y="863250"/>
            <a:ext cx="23100" cy="4286100"/>
          </a:xfrm>
          <a:prstGeom prst="straightConnector1">
            <a:avLst/>
          </a:prstGeom>
          <a:noFill/>
          <a:ln cap="flat" cmpd="sng" w="9525">
            <a:solidFill>
              <a:schemeClr val="dk2"/>
            </a:solidFill>
            <a:prstDash val="solid"/>
            <a:round/>
            <a:headEnd len="med" w="med" type="none"/>
            <a:tailEnd len="med" w="med" type="none"/>
          </a:ln>
        </p:spPr>
      </p:cxnSp>
      <p:sp>
        <p:nvSpPr>
          <p:cNvPr id="217" name="Google Shape;217;p20"/>
          <p:cNvSpPr txBox="1"/>
          <p:nvPr/>
        </p:nvSpPr>
        <p:spPr>
          <a:xfrm>
            <a:off x="5244300" y="782200"/>
            <a:ext cx="222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u="sng">
                <a:solidFill>
                  <a:schemeClr val="dk2"/>
                </a:solidFill>
                <a:latin typeface="Source Code Pro"/>
                <a:ea typeface="Source Code Pro"/>
                <a:cs typeface="Source Code Pro"/>
                <a:sym typeface="Source Code Pro"/>
              </a:rPr>
              <a:t>2011-2022</a:t>
            </a:r>
            <a:endParaRPr sz="1800" u="sng">
              <a:solidFill>
                <a:schemeClr val="dk2"/>
              </a:solidFill>
              <a:latin typeface="Source Code Pro"/>
              <a:ea typeface="Source Code Pro"/>
              <a:cs typeface="Source Code Pro"/>
              <a:sym typeface="Source Code Pro"/>
            </a:endParaRPr>
          </a:p>
        </p:txBody>
      </p:sp>
      <p:sp>
        <p:nvSpPr>
          <p:cNvPr id="218" name="Google Shape;218;p20"/>
          <p:cNvSpPr/>
          <p:nvPr/>
        </p:nvSpPr>
        <p:spPr>
          <a:xfrm>
            <a:off x="1684300" y="2520650"/>
            <a:ext cx="604044" cy="2474226"/>
          </a:xfrm>
          <a:prstGeom prst="flowChartTerminator">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19" name="Google Shape;219;p20"/>
          <p:cNvSpPr/>
          <p:nvPr/>
        </p:nvSpPr>
        <p:spPr>
          <a:xfrm>
            <a:off x="7725925" y="1091900"/>
            <a:ext cx="604044" cy="3788154"/>
          </a:xfrm>
          <a:prstGeom prst="flowChartTerminator">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21" title="Capture d’écran 2025-07-02 à 15.00.58.png"/>
          <p:cNvPicPr preferRelativeResize="0"/>
          <p:nvPr/>
        </p:nvPicPr>
        <p:blipFill>
          <a:blip r:embed="rId3">
            <a:alphaModFix/>
          </a:blip>
          <a:stretch>
            <a:fillRect/>
          </a:stretch>
        </p:blipFill>
        <p:spPr>
          <a:xfrm>
            <a:off x="0" y="870300"/>
            <a:ext cx="5238748" cy="4279050"/>
          </a:xfrm>
          <a:prstGeom prst="rect">
            <a:avLst/>
          </a:prstGeom>
          <a:noFill/>
          <a:ln>
            <a:noFill/>
          </a:ln>
        </p:spPr>
      </p:pic>
      <p:sp>
        <p:nvSpPr>
          <p:cNvPr id="225" name="Google Shape;225;p21"/>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de sensibilité - Arsenic</a:t>
            </a:r>
            <a:endParaRPr>
              <a:solidFill>
                <a:srgbClr val="000000"/>
              </a:solidFill>
            </a:endParaRPr>
          </a:p>
        </p:txBody>
      </p:sp>
      <p:sp>
        <p:nvSpPr>
          <p:cNvPr id="226" name="Google Shape;226;p21"/>
          <p:cNvSpPr txBox="1"/>
          <p:nvPr/>
        </p:nvSpPr>
        <p:spPr>
          <a:xfrm>
            <a:off x="1193450" y="782200"/>
            <a:ext cx="222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u="sng">
                <a:solidFill>
                  <a:schemeClr val="dk2"/>
                </a:solidFill>
                <a:latin typeface="Source Code Pro"/>
                <a:ea typeface="Source Code Pro"/>
                <a:cs typeface="Source Code Pro"/>
                <a:sym typeface="Source Code Pro"/>
              </a:rPr>
              <a:t>2004-2011</a:t>
            </a:r>
            <a:endParaRPr sz="1800" u="sng">
              <a:solidFill>
                <a:schemeClr val="dk2"/>
              </a:solidFill>
              <a:latin typeface="Source Code Pro"/>
              <a:ea typeface="Source Code Pro"/>
              <a:cs typeface="Source Code Pro"/>
              <a:sym typeface="Source Code Pro"/>
            </a:endParaRPr>
          </a:p>
        </p:txBody>
      </p:sp>
      <p:pic>
        <p:nvPicPr>
          <p:cNvPr id="227" name="Google Shape;227;p21" title="Capture d’écran 2025-07-02 à 14.59.00.png"/>
          <p:cNvPicPr preferRelativeResize="0"/>
          <p:nvPr/>
        </p:nvPicPr>
        <p:blipFill rotWithShape="1">
          <a:blip r:embed="rId4">
            <a:alphaModFix/>
          </a:blip>
          <a:srcRect b="0" l="5499" r="0" t="0"/>
          <a:stretch/>
        </p:blipFill>
        <p:spPr>
          <a:xfrm>
            <a:off x="4294175" y="866775"/>
            <a:ext cx="4849823" cy="4286099"/>
          </a:xfrm>
          <a:prstGeom prst="rect">
            <a:avLst/>
          </a:prstGeom>
          <a:noFill/>
          <a:ln>
            <a:noFill/>
          </a:ln>
        </p:spPr>
      </p:pic>
      <p:cxnSp>
        <p:nvCxnSpPr>
          <p:cNvPr id="228" name="Google Shape;228;p21"/>
          <p:cNvCxnSpPr/>
          <p:nvPr/>
        </p:nvCxnSpPr>
        <p:spPr>
          <a:xfrm rot="10800000">
            <a:off x="4294163" y="866775"/>
            <a:ext cx="23100" cy="4286100"/>
          </a:xfrm>
          <a:prstGeom prst="straightConnector1">
            <a:avLst/>
          </a:prstGeom>
          <a:noFill/>
          <a:ln cap="flat" cmpd="sng" w="9525">
            <a:solidFill>
              <a:schemeClr val="dk2"/>
            </a:solidFill>
            <a:prstDash val="solid"/>
            <a:round/>
            <a:headEnd len="med" w="med" type="none"/>
            <a:tailEnd len="med" w="med" type="none"/>
          </a:ln>
        </p:spPr>
      </p:cxnSp>
      <p:sp>
        <p:nvSpPr>
          <p:cNvPr id="229" name="Google Shape;229;p21"/>
          <p:cNvSpPr txBox="1"/>
          <p:nvPr/>
        </p:nvSpPr>
        <p:spPr>
          <a:xfrm>
            <a:off x="5418525" y="782200"/>
            <a:ext cx="2227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800" u="sng">
                <a:solidFill>
                  <a:schemeClr val="dk2"/>
                </a:solidFill>
                <a:latin typeface="Source Code Pro"/>
                <a:ea typeface="Source Code Pro"/>
                <a:cs typeface="Source Code Pro"/>
                <a:sym typeface="Source Code Pro"/>
              </a:rPr>
              <a:t>2011-2022</a:t>
            </a:r>
            <a:endParaRPr sz="1800" u="sng">
              <a:solidFill>
                <a:schemeClr val="dk2"/>
              </a:solidFill>
              <a:latin typeface="Source Code Pro"/>
              <a:ea typeface="Source Code Pro"/>
              <a:cs typeface="Source Code Pro"/>
              <a:sym typeface="Source Code Pro"/>
            </a:endParaRPr>
          </a:p>
        </p:txBody>
      </p:sp>
      <p:sp>
        <p:nvSpPr>
          <p:cNvPr id="230" name="Google Shape;230;p21"/>
          <p:cNvSpPr/>
          <p:nvPr/>
        </p:nvSpPr>
        <p:spPr>
          <a:xfrm>
            <a:off x="5180675" y="2183775"/>
            <a:ext cx="2346354" cy="2811024"/>
          </a:xfrm>
          <a:prstGeom prst="flowChartTerminator">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31" name="Google Shape;231;p21"/>
          <p:cNvSpPr/>
          <p:nvPr/>
        </p:nvSpPr>
        <p:spPr>
          <a:xfrm>
            <a:off x="255550" y="2311550"/>
            <a:ext cx="1719144" cy="2683260"/>
          </a:xfrm>
          <a:prstGeom prst="flowChartTerminator">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2"/>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Factorielle de Données Mixtes (FAMD)</a:t>
            </a:r>
            <a:endParaRPr>
              <a:solidFill>
                <a:srgbClr val="000000"/>
              </a:solidFill>
            </a:endParaRPr>
          </a:p>
        </p:txBody>
      </p:sp>
      <p:sp>
        <p:nvSpPr>
          <p:cNvPr id="237" name="Google Shape;237;p22"/>
          <p:cNvSpPr/>
          <p:nvPr/>
        </p:nvSpPr>
        <p:spPr>
          <a:xfrm>
            <a:off x="516200" y="927575"/>
            <a:ext cx="518100" cy="13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pic>
        <p:nvPicPr>
          <p:cNvPr id="238" name="Google Shape;238;p22" title="Capture d’écran 2025-07-02 à 15.36.49.png"/>
          <p:cNvPicPr preferRelativeResize="0"/>
          <p:nvPr/>
        </p:nvPicPr>
        <p:blipFill>
          <a:blip r:embed="rId3">
            <a:alphaModFix/>
          </a:blip>
          <a:stretch>
            <a:fillRect/>
          </a:stretch>
        </p:blipFill>
        <p:spPr>
          <a:xfrm>
            <a:off x="0" y="724125"/>
            <a:ext cx="9144003" cy="4419375"/>
          </a:xfrm>
          <a:prstGeom prst="rect">
            <a:avLst/>
          </a:prstGeom>
          <a:noFill/>
          <a:ln>
            <a:noFill/>
          </a:ln>
        </p:spPr>
      </p:pic>
      <p:cxnSp>
        <p:nvCxnSpPr>
          <p:cNvPr id="239" name="Google Shape;239;p22"/>
          <p:cNvCxnSpPr/>
          <p:nvPr/>
        </p:nvCxnSpPr>
        <p:spPr>
          <a:xfrm flipH="1" rot="10800000">
            <a:off x="739450" y="1091925"/>
            <a:ext cx="1130700" cy="3570300"/>
          </a:xfrm>
          <a:prstGeom prst="straightConnector1">
            <a:avLst/>
          </a:prstGeom>
          <a:noFill/>
          <a:ln cap="flat" cmpd="sng" w="9525">
            <a:solidFill>
              <a:srgbClr val="0000FF"/>
            </a:solidFill>
            <a:prstDash val="solid"/>
            <a:round/>
            <a:headEnd len="med" w="med" type="none"/>
            <a:tailEnd len="med" w="med" type="triangle"/>
          </a:ln>
        </p:spPr>
      </p:cxnSp>
      <p:sp>
        <p:nvSpPr>
          <p:cNvPr id="240" name="Google Shape;240;p22"/>
          <p:cNvSpPr/>
          <p:nvPr/>
        </p:nvSpPr>
        <p:spPr>
          <a:xfrm>
            <a:off x="5517525" y="4181700"/>
            <a:ext cx="1986300" cy="639000"/>
          </a:xfrm>
          <a:prstGeom prst="flowChartAlternateProcess">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3"/>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Factorielle de Données Mixtes (FAMD)</a:t>
            </a:r>
            <a:endParaRPr>
              <a:solidFill>
                <a:srgbClr val="000000"/>
              </a:solidFill>
            </a:endParaRPr>
          </a:p>
        </p:txBody>
      </p:sp>
      <p:sp>
        <p:nvSpPr>
          <p:cNvPr id="246" name="Google Shape;246;p23"/>
          <p:cNvSpPr/>
          <p:nvPr/>
        </p:nvSpPr>
        <p:spPr>
          <a:xfrm>
            <a:off x="0" y="775575"/>
            <a:ext cx="518100" cy="13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sp>
        <p:nvSpPr>
          <p:cNvPr id="247" name="Google Shape;247;p23"/>
          <p:cNvSpPr txBox="1"/>
          <p:nvPr/>
        </p:nvSpPr>
        <p:spPr>
          <a:xfrm>
            <a:off x="-1130700" y="682875"/>
            <a:ext cx="30000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900">
                <a:latin typeface="Source Code Pro"/>
                <a:ea typeface="Source Code Pro"/>
                <a:cs typeface="Source Code Pro"/>
                <a:sym typeface="Source Code Pro"/>
              </a:rPr>
              <a:t>FAMD</a:t>
            </a:r>
            <a:endParaRPr sz="1300"/>
          </a:p>
        </p:txBody>
      </p:sp>
      <p:pic>
        <p:nvPicPr>
          <p:cNvPr id="248" name="Google Shape;248;p23" title="Capture d’écran 2025-07-02 à 15.36.41.png"/>
          <p:cNvPicPr preferRelativeResize="0"/>
          <p:nvPr/>
        </p:nvPicPr>
        <p:blipFill>
          <a:blip r:embed="rId3">
            <a:alphaModFix/>
          </a:blip>
          <a:stretch>
            <a:fillRect/>
          </a:stretch>
        </p:blipFill>
        <p:spPr>
          <a:xfrm>
            <a:off x="0" y="724125"/>
            <a:ext cx="9144003" cy="4419375"/>
          </a:xfrm>
          <a:prstGeom prst="rect">
            <a:avLst/>
          </a:prstGeom>
          <a:noFill/>
          <a:ln>
            <a:noFill/>
          </a:ln>
        </p:spPr>
      </p:pic>
      <p:cxnSp>
        <p:nvCxnSpPr>
          <p:cNvPr id="249" name="Google Shape;249;p23"/>
          <p:cNvCxnSpPr/>
          <p:nvPr/>
        </p:nvCxnSpPr>
        <p:spPr>
          <a:xfrm flipH="1" rot="10800000">
            <a:off x="2830300" y="1033875"/>
            <a:ext cx="1002900" cy="3219300"/>
          </a:xfrm>
          <a:prstGeom prst="straightConnector1">
            <a:avLst/>
          </a:prstGeom>
          <a:noFill/>
          <a:ln cap="flat" cmpd="sng" w="9525">
            <a:solidFill>
              <a:srgbClr val="0000FF"/>
            </a:solidFill>
            <a:prstDash val="solid"/>
            <a:round/>
            <a:headEnd len="med" w="med" type="none"/>
            <a:tailEnd len="med" w="med" type="triangle"/>
          </a:ln>
        </p:spPr>
      </p:cxnSp>
      <p:sp>
        <p:nvSpPr>
          <p:cNvPr id="250" name="Google Shape;250;p23"/>
          <p:cNvSpPr/>
          <p:nvPr/>
        </p:nvSpPr>
        <p:spPr>
          <a:xfrm rot="-3112608">
            <a:off x="-36549" y="2068075"/>
            <a:ext cx="3631949" cy="1022405"/>
          </a:xfrm>
          <a:prstGeom prst="flowChartAlternateProcess">
            <a:avLst/>
          </a:prstGeom>
          <a:noFill/>
          <a:ln cap="flat" cmpd="sng" w="19050">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251" name="Google Shape;251;p23"/>
          <p:cNvSpPr/>
          <p:nvPr/>
        </p:nvSpPr>
        <p:spPr>
          <a:xfrm>
            <a:off x="2741350" y="2172200"/>
            <a:ext cx="681300" cy="5343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4"/>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Factorielle de Données Mixtes (FAMD)</a:t>
            </a:r>
            <a:endParaRPr>
              <a:solidFill>
                <a:srgbClr val="000000"/>
              </a:solidFill>
            </a:endParaRPr>
          </a:p>
        </p:txBody>
      </p:sp>
      <p:sp>
        <p:nvSpPr>
          <p:cNvPr id="257" name="Google Shape;257;p24"/>
          <p:cNvSpPr/>
          <p:nvPr/>
        </p:nvSpPr>
        <p:spPr>
          <a:xfrm>
            <a:off x="159400" y="923050"/>
            <a:ext cx="518100" cy="137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000">
              <a:latin typeface="Source Code Pro"/>
              <a:ea typeface="Source Code Pro"/>
              <a:cs typeface="Source Code Pro"/>
              <a:sym typeface="Source Code Pro"/>
            </a:endParaRPr>
          </a:p>
        </p:txBody>
      </p:sp>
      <p:pic>
        <p:nvPicPr>
          <p:cNvPr id="258" name="Google Shape;258;p24" title="Capture d’écran 2025-07-02 à 15.41.01.png"/>
          <p:cNvPicPr preferRelativeResize="0"/>
          <p:nvPr/>
        </p:nvPicPr>
        <p:blipFill>
          <a:blip r:embed="rId3">
            <a:alphaModFix/>
          </a:blip>
          <a:stretch>
            <a:fillRect/>
          </a:stretch>
        </p:blipFill>
        <p:spPr>
          <a:xfrm>
            <a:off x="0" y="834930"/>
            <a:ext cx="9144003" cy="4308571"/>
          </a:xfrm>
          <a:prstGeom prst="rect">
            <a:avLst/>
          </a:prstGeom>
          <a:noFill/>
          <a:ln>
            <a:noFill/>
          </a:ln>
        </p:spPr>
      </p:pic>
      <p:cxnSp>
        <p:nvCxnSpPr>
          <p:cNvPr id="259" name="Google Shape;259;p24"/>
          <p:cNvCxnSpPr/>
          <p:nvPr/>
        </p:nvCxnSpPr>
        <p:spPr>
          <a:xfrm flipH="1" rot="10800000">
            <a:off x="762675" y="2671600"/>
            <a:ext cx="3546900" cy="1967400"/>
          </a:xfrm>
          <a:prstGeom prst="straightConnector1">
            <a:avLst/>
          </a:prstGeom>
          <a:noFill/>
          <a:ln cap="flat" cmpd="sng" w="9525">
            <a:solidFill>
              <a:srgbClr val="0000FF"/>
            </a:solidFill>
            <a:prstDash val="solid"/>
            <a:round/>
            <a:headEnd len="med" w="med" type="none"/>
            <a:tailEnd len="med" w="med" type="triangle"/>
          </a:ln>
        </p:spPr>
      </p:cxnSp>
      <p:cxnSp>
        <p:nvCxnSpPr>
          <p:cNvPr id="260" name="Google Shape;260;p24"/>
          <p:cNvCxnSpPr/>
          <p:nvPr/>
        </p:nvCxnSpPr>
        <p:spPr>
          <a:xfrm flipH="1" rot="10800000">
            <a:off x="762675" y="3716950"/>
            <a:ext cx="4557300" cy="914100"/>
          </a:xfrm>
          <a:prstGeom prst="straightConnector1">
            <a:avLst/>
          </a:prstGeom>
          <a:noFill/>
          <a:ln cap="flat" cmpd="sng" w="9525">
            <a:solidFill>
              <a:srgbClr val="0000FF"/>
            </a:solidFill>
            <a:prstDash val="solid"/>
            <a:round/>
            <a:headEnd len="med" w="med" type="none"/>
            <a:tailEnd len="med" w="med" type="triangle"/>
          </a:ln>
        </p:spPr>
      </p:cxnSp>
      <p:cxnSp>
        <p:nvCxnSpPr>
          <p:cNvPr id="261" name="Google Shape;261;p24"/>
          <p:cNvCxnSpPr/>
          <p:nvPr/>
        </p:nvCxnSpPr>
        <p:spPr>
          <a:xfrm flipH="1" rot="10800000">
            <a:off x="766650" y="4553425"/>
            <a:ext cx="5645400" cy="813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5"/>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Factorielle de Données Mixtes (FAMD)</a:t>
            </a:r>
            <a:endParaRPr>
              <a:solidFill>
                <a:srgbClr val="000000"/>
              </a:solidFill>
            </a:endParaRPr>
          </a:p>
        </p:txBody>
      </p:sp>
      <p:pic>
        <p:nvPicPr>
          <p:cNvPr id="267" name="Google Shape;267;p25" title="Capture d’écran 2025-07-02 à 15.41.08.png"/>
          <p:cNvPicPr preferRelativeResize="0"/>
          <p:nvPr/>
        </p:nvPicPr>
        <p:blipFill>
          <a:blip r:embed="rId3">
            <a:alphaModFix/>
          </a:blip>
          <a:stretch>
            <a:fillRect/>
          </a:stretch>
        </p:blipFill>
        <p:spPr>
          <a:xfrm>
            <a:off x="0" y="857245"/>
            <a:ext cx="9144003" cy="4286256"/>
          </a:xfrm>
          <a:prstGeom prst="rect">
            <a:avLst/>
          </a:prstGeom>
          <a:noFill/>
          <a:ln>
            <a:noFill/>
          </a:ln>
        </p:spPr>
      </p:pic>
      <p:cxnSp>
        <p:nvCxnSpPr>
          <p:cNvPr id="268" name="Google Shape;268;p25"/>
          <p:cNvCxnSpPr/>
          <p:nvPr/>
        </p:nvCxnSpPr>
        <p:spPr>
          <a:xfrm flipH="1" rot="10800000">
            <a:off x="2752950" y="1811900"/>
            <a:ext cx="3845100" cy="1928400"/>
          </a:xfrm>
          <a:prstGeom prst="straightConnector1">
            <a:avLst/>
          </a:prstGeom>
          <a:noFill/>
          <a:ln cap="flat" cmpd="sng" w="9525">
            <a:solidFill>
              <a:srgbClr val="0000FF"/>
            </a:solidFill>
            <a:prstDash val="solid"/>
            <a:round/>
            <a:headEnd len="med" w="med" type="none"/>
            <a:tailEnd len="med" w="med" type="triangle"/>
          </a:ln>
        </p:spPr>
      </p:cxnSp>
      <p:cxnSp>
        <p:nvCxnSpPr>
          <p:cNvPr id="269" name="Google Shape;269;p25"/>
          <p:cNvCxnSpPr/>
          <p:nvPr/>
        </p:nvCxnSpPr>
        <p:spPr>
          <a:xfrm flipH="1" rot="10800000">
            <a:off x="2416100" y="2381225"/>
            <a:ext cx="4576500" cy="789900"/>
          </a:xfrm>
          <a:prstGeom prst="straightConnector1">
            <a:avLst/>
          </a:prstGeom>
          <a:noFill/>
          <a:ln cap="flat" cmpd="sng" w="9525">
            <a:solidFill>
              <a:srgbClr val="0000FF"/>
            </a:solidFill>
            <a:prstDash val="solid"/>
            <a:round/>
            <a:headEnd len="med" w="med" type="none"/>
            <a:tailEnd len="med" w="med" type="triangle"/>
          </a:ln>
        </p:spPr>
      </p:cxnSp>
      <p:cxnSp>
        <p:nvCxnSpPr>
          <p:cNvPr id="270" name="Google Shape;270;p25"/>
          <p:cNvCxnSpPr/>
          <p:nvPr/>
        </p:nvCxnSpPr>
        <p:spPr>
          <a:xfrm flipH="1" rot="10800000">
            <a:off x="1684300" y="2735450"/>
            <a:ext cx="5645400" cy="813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6"/>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Factorielle de Données Mixtes (FAMD)</a:t>
            </a:r>
            <a:endParaRPr>
              <a:solidFill>
                <a:srgbClr val="000000"/>
              </a:solidFill>
            </a:endParaRPr>
          </a:p>
        </p:txBody>
      </p:sp>
      <p:sp>
        <p:nvSpPr>
          <p:cNvPr id="276" name="Google Shape;276;p26"/>
          <p:cNvSpPr/>
          <p:nvPr/>
        </p:nvSpPr>
        <p:spPr>
          <a:xfrm>
            <a:off x="2331975" y="1149650"/>
            <a:ext cx="661200" cy="195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pic>
        <p:nvPicPr>
          <p:cNvPr id="277" name="Google Shape;277;p26" title="Capture d’écran 2025-07-02 à 15.44.37.png"/>
          <p:cNvPicPr preferRelativeResize="0"/>
          <p:nvPr/>
        </p:nvPicPr>
        <p:blipFill>
          <a:blip r:embed="rId3">
            <a:alphaModFix/>
          </a:blip>
          <a:stretch>
            <a:fillRect/>
          </a:stretch>
        </p:blipFill>
        <p:spPr>
          <a:xfrm>
            <a:off x="0" y="870647"/>
            <a:ext cx="9144003" cy="4272857"/>
          </a:xfrm>
          <a:prstGeom prst="rect">
            <a:avLst/>
          </a:prstGeom>
          <a:noFill/>
          <a:ln>
            <a:noFill/>
          </a:ln>
        </p:spPr>
      </p:pic>
      <p:cxnSp>
        <p:nvCxnSpPr>
          <p:cNvPr id="278" name="Google Shape;278;p26"/>
          <p:cNvCxnSpPr/>
          <p:nvPr/>
        </p:nvCxnSpPr>
        <p:spPr>
          <a:xfrm flipH="1" rot="10800000">
            <a:off x="716225" y="3727900"/>
            <a:ext cx="4985400" cy="911100"/>
          </a:xfrm>
          <a:prstGeom prst="straightConnector1">
            <a:avLst/>
          </a:prstGeom>
          <a:noFill/>
          <a:ln cap="flat" cmpd="sng" w="9525">
            <a:solidFill>
              <a:srgbClr val="0000FF"/>
            </a:solidFill>
            <a:prstDash val="solid"/>
            <a:round/>
            <a:headEnd len="med" w="med" type="none"/>
            <a:tailEnd len="med" w="med" type="triangle"/>
          </a:ln>
        </p:spPr>
      </p:cxnSp>
      <p:cxnSp>
        <p:nvCxnSpPr>
          <p:cNvPr id="279" name="Google Shape;279;p26"/>
          <p:cNvCxnSpPr/>
          <p:nvPr/>
        </p:nvCxnSpPr>
        <p:spPr>
          <a:xfrm flipH="1" rot="10800000">
            <a:off x="766650" y="4449025"/>
            <a:ext cx="5784600" cy="1857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7"/>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Analyse Factorielle de Données Mixtes (FAMD)</a:t>
            </a:r>
            <a:endParaRPr>
              <a:solidFill>
                <a:srgbClr val="000000"/>
              </a:solidFill>
            </a:endParaRPr>
          </a:p>
        </p:txBody>
      </p:sp>
      <p:pic>
        <p:nvPicPr>
          <p:cNvPr id="285" name="Google Shape;285;p27" title="Capture d’écran 2025-07-02 à 15.44.29.png"/>
          <p:cNvPicPr preferRelativeResize="0"/>
          <p:nvPr/>
        </p:nvPicPr>
        <p:blipFill>
          <a:blip r:embed="rId3">
            <a:alphaModFix/>
          </a:blip>
          <a:stretch>
            <a:fillRect/>
          </a:stretch>
        </p:blipFill>
        <p:spPr>
          <a:xfrm>
            <a:off x="0" y="817062"/>
            <a:ext cx="9144003" cy="4326437"/>
          </a:xfrm>
          <a:prstGeom prst="rect">
            <a:avLst/>
          </a:prstGeom>
          <a:noFill/>
          <a:ln>
            <a:noFill/>
          </a:ln>
        </p:spPr>
      </p:pic>
      <p:cxnSp>
        <p:nvCxnSpPr>
          <p:cNvPr id="286" name="Google Shape;286;p27"/>
          <p:cNvCxnSpPr/>
          <p:nvPr/>
        </p:nvCxnSpPr>
        <p:spPr>
          <a:xfrm flipH="1" rot="10800000">
            <a:off x="2179800" y="2833475"/>
            <a:ext cx="4985400" cy="911100"/>
          </a:xfrm>
          <a:prstGeom prst="straightConnector1">
            <a:avLst/>
          </a:prstGeom>
          <a:noFill/>
          <a:ln cap="flat" cmpd="sng" w="9525">
            <a:solidFill>
              <a:srgbClr val="0000FF"/>
            </a:solidFill>
            <a:prstDash val="solid"/>
            <a:round/>
            <a:headEnd len="med" w="med" type="none"/>
            <a:tailEnd len="med" w="med" type="triangle"/>
          </a:ln>
        </p:spPr>
      </p:cxnSp>
      <p:cxnSp>
        <p:nvCxnSpPr>
          <p:cNvPr id="287" name="Google Shape;287;p27"/>
          <p:cNvCxnSpPr/>
          <p:nvPr/>
        </p:nvCxnSpPr>
        <p:spPr>
          <a:xfrm flipH="1" rot="10800000">
            <a:off x="1780200" y="3196175"/>
            <a:ext cx="5784600" cy="185700"/>
          </a:xfrm>
          <a:prstGeom prst="straightConnector1">
            <a:avLst/>
          </a:prstGeom>
          <a:noFill/>
          <a:ln cap="flat" cmpd="sng" w="9525">
            <a:solidFill>
              <a:srgbClr val="FF0000"/>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8"/>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S1 en fonction de COWG</a:t>
            </a:r>
            <a:endParaRPr/>
          </a:p>
        </p:txBody>
      </p:sp>
      <p:graphicFrame>
        <p:nvGraphicFramePr>
          <p:cNvPr id="293" name="Google Shape;293;p28"/>
          <p:cNvGraphicFramePr/>
          <p:nvPr/>
        </p:nvGraphicFramePr>
        <p:xfrm>
          <a:off x="430800" y="1156850"/>
          <a:ext cx="3000000" cy="3000000"/>
        </p:xfrm>
        <a:graphic>
          <a:graphicData uri="http://schemas.openxmlformats.org/drawingml/2006/table">
            <a:tbl>
              <a:tblPr>
                <a:noFill/>
                <a:tableStyleId>{BCB561EC-AD6F-4F2B-8ACF-5A8F487B738B}</a:tableStyleId>
              </a:tblPr>
              <a:tblGrid>
                <a:gridCol w="1336075"/>
                <a:gridCol w="1336075"/>
                <a:gridCol w="1336075"/>
              </a:tblGrid>
              <a:tr h="473425">
                <a:tc>
                  <a:txBody>
                    <a:bodyPr/>
                    <a:lstStyle/>
                    <a:p>
                      <a:pPr indent="0" lvl="0" marL="0" rtl="0" algn="l">
                        <a:spcBef>
                          <a:spcPts val="0"/>
                        </a:spcBef>
                        <a:spcAft>
                          <a:spcPts val="0"/>
                        </a:spcAft>
                        <a:buNone/>
                      </a:pPr>
                      <a:r>
                        <a:rPr b="1" lang="fr"/>
                        <a:t>Éléments</a:t>
                      </a:r>
                      <a:endParaRPr b="1"/>
                    </a:p>
                  </a:txBody>
                  <a:tcPr marT="91425" marB="91425" marR="91425" marL="91425"/>
                </a:tc>
                <a:tc>
                  <a:txBody>
                    <a:bodyPr/>
                    <a:lstStyle/>
                    <a:p>
                      <a:pPr indent="0" lvl="0" marL="0" rtl="0" algn="l">
                        <a:spcBef>
                          <a:spcPts val="0"/>
                        </a:spcBef>
                        <a:spcAft>
                          <a:spcPts val="0"/>
                        </a:spcAft>
                        <a:buNone/>
                      </a:pPr>
                      <a:r>
                        <a:rPr b="1" lang="fr"/>
                        <a:t>Intercept</a:t>
                      </a:r>
                      <a:endParaRPr b="1"/>
                    </a:p>
                  </a:txBody>
                  <a:tcPr marT="91425" marB="91425" marR="91425" marL="91425"/>
                </a:tc>
                <a:tc>
                  <a:txBody>
                    <a:bodyPr/>
                    <a:lstStyle/>
                    <a:p>
                      <a:pPr indent="0" lvl="0" marL="0" rtl="0" algn="l">
                        <a:spcBef>
                          <a:spcPts val="0"/>
                        </a:spcBef>
                        <a:spcAft>
                          <a:spcPts val="0"/>
                        </a:spcAft>
                        <a:buNone/>
                      </a:pPr>
                      <a:r>
                        <a:rPr b="1" lang="fr"/>
                        <a:t>Pente</a:t>
                      </a:r>
                      <a:endParaRPr b="1"/>
                    </a:p>
                  </a:txBody>
                  <a:tcPr marT="91425" marB="91425" marR="91425" marL="91425"/>
                </a:tc>
              </a:tr>
              <a:tr h="473425">
                <a:tc>
                  <a:txBody>
                    <a:bodyPr/>
                    <a:lstStyle/>
                    <a:p>
                      <a:pPr indent="0" lvl="0" marL="0" rtl="0" algn="l">
                        <a:spcBef>
                          <a:spcPts val="0"/>
                        </a:spcBef>
                        <a:spcAft>
                          <a:spcPts val="0"/>
                        </a:spcAft>
                        <a:buNone/>
                      </a:pPr>
                      <a:r>
                        <a:rPr lang="fr"/>
                        <a:t>Température</a:t>
                      </a:r>
                      <a:endParaRPr/>
                    </a:p>
                  </a:txBody>
                  <a:tcPr marT="91425" marB="91425" marR="91425" marL="91425"/>
                </a:tc>
                <a:tc>
                  <a:txBody>
                    <a:bodyPr/>
                    <a:lstStyle/>
                    <a:p>
                      <a:pPr indent="0" lvl="0" marL="0" rtl="0" algn="l">
                        <a:spcBef>
                          <a:spcPts val="0"/>
                        </a:spcBef>
                        <a:spcAft>
                          <a:spcPts val="0"/>
                        </a:spcAft>
                        <a:buNone/>
                      </a:pPr>
                      <a:r>
                        <a:rPr lang="fr"/>
                        <a:t>7.81202</a:t>
                      </a:r>
                      <a:endParaRPr/>
                    </a:p>
                  </a:txBody>
                  <a:tcPr marT="91425" marB="91425" marR="91425" marL="91425"/>
                </a:tc>
                <a:tc>
                  <a:txBody>
                    <a:bodyPr/>
                    <a:lstStyle/>
                    <a:p>
                      <a:pPr indent="0" lvl="0" marL="0" rtl="0" algn="l">
                        <a:spcBef>
                          <a:spcPts val="0"/>
                        </a:spcBef>
                        <a:spcAft>
                          <a:spcPts val="0"/>
                        </a:spcAft>
                        <a:buNone/>
                      </a:pPr>
                      <a:r>
                        <a:rPr lang="fr"/>
                        <a:t>0.51873</a:t>
                      </a:r>
                      <a:endParaRPr/>
                    </a:p>
                  </a:txBody>
                  <a:tcPr marT="91425" marB="91425" marR="91425" marL="91425"/>
                </a:tc>
              </a:tr>
              <a:tr h="473425">
                <a:tc>
                  <a:txBody>
                    <a:bodyPr/>
                    <a:lstStyle/>
                    <a:p>
                      <a:pPr indent="0" lvl="0" marL="0" rtl="0" algn="l">
                        <a:spcBef>
                          <a:spcPts val="0"/>
                        </a:spcBef>
                        <a:spcAft>
                          <a:spcPts val="0"/>
                        </a:spcAft>
                        <a:buNone/>
                      </a:pPr>
                      <a:r>
                        <a:rPr lang="fr"/>
                        <a:t>pH</a:t>
                      </a:r>
                      <a:endParaRPr/>
                    </a:p>
                  </a:txBody>
                  <a:tcPr marT="91425" marB="91425" marR="91425" marL="91425"/>
                </a:tc>
                <a:tc>
                  <a:txBody>
                    <a:bodyPr/>
                    <a:lstStyle/>
                    <a:p>
                      <a:pPr indent="0" lvl="0" marL="0" rtl="0" algn="l">
                        <a:spcBef>
                          <a:spcPts val="0"/>
                        </a:spcBef>
                        <a:spcAft>
                          <a:spcPts val="0"/>
                        </a:spcAft>
                        <a:buNone/>
                      </a:pPr>
                      <a:r>
                        <a:rPr lang="fr"/>
                        <a:t>1.42235</a:t>
                      </a:r>
                      <a:endParaRPr/>
                    </a:p>
                  </a:txBody>
                  <a:tcPr marT="91425" marB="91425" marR="91425" marL="91425"/>
                </a:tc>
                <a:tc>
                  <a:txBody>
                    <a:bodyPr/>
                    <a:lstStyle/>
                    <a:p>
                      <a:pPr indent="0" lvl="0" marL="0" rtl="0" algn="l">
                        <a:spcBef>
                          <a:spcPts val="0"/>
                        </a:spcBef>
                        <a:spcAft>
                          <a:spcPts val="0"/>
                        </a:spcAft>
                        <a:buNone/>
                      </a:pPr>
                      <a:r>
                        <a:rPr lang="fr"/>
                        <a:t>0</a:t>
                      </a:r>
                      <a:r>
                        <a:rPr lang="fr"/>
                        <a:t>.56877</a:t>
                      </a:r>
                      <a:endParaRPr/>
                    </a:p>
                  </a:txBody>
                  <a:tcPr marT="91425" marB="91425" marR="91425" marL="91425"/>
                </a:tc>
              </a:tr>
              <a:tr h="473425">
                <a:tc>
                  <a:txBody>
                    <a:bodyPr/>
                    <a:lstStyle/>
                    <a:p>
                      <a:pPr indent="0" lvl="0" marL="0" rtl="0" algn="l">
                        <a:spcBef>
                          <a:spcPts val="0"/>
                        </a:spcBef>
                        <a:spcAft>
                          <a:spcPts val="0"/>
                        </a:spcAft>
                        <a:buNone/>
                      </a:pPr>
                      <a:r>
                        <a:rPr lang="fr"/>
                        <a:t>O2</a:t>
                      </a:r>
                      <a:endParaRPr/>
                    </a:p>
                  </a:txBody>
                  <a:tcPr marT="91425" marB="91425" marR="91425" marL="91425"/>
                </a:tc>
                <a:tc>
                  <a:txBody>
                    <a:bodyPr/>
                    <a:lstStyle/>
                    <a:p>
                      <a:pPr indent="0" lvl="0" marL="0" rtl="0" algn="l">
                        <a:spcBef>
                          <a:spcPts val="0"/>
                        </a:spcBef>
                        <a:spcAft>
                          <a:spcPts val="0"/>
                        </a:spcAft>
                        <a:buNone/>
                      </a:pPr>
                      <a:r>
                        <a:rPr lang="fr"/>
                        <a:t>-0.12619 </a:t>
                      </a:r>
                      <a:endParaRPr/>
                    </a:p>
                  </a:txBody>
                  <a:tcPr marT="91425" marB="91425" marR="91425" marL="91425"/>
                </a:tc>
                <a:tc>
                  <a:txBody>
                    <a:bodyPr/>
                    <a:lstStyle/>
                    <a:p>
                      <a:pPr indent="0" lvl="0" marL="0" rtl="0" algn="l">
                        <a:spcBef>
                          <a:spcPts val="0"/>
                        </a:spcBef>
                        <a:spcAft>
                          <a:spcPts val="0"/>
                        </a:spcAft>
                        <a:buNone/>
                      </a:pPr>
                      <a:r>
                        <a:rPr lang="fr"/>
                        <a:t>0.26856</a:t>
                      </a:r>
                      <a:endParaRPr/>
                    </a:p>
                  </a:txBody>
                  <a:tcPr marT="91425" marB="91425" marR="91425" marL="91425"/>
                </a:tc>
              </a:tr>
              <a:tr h="473425">
                <a:tc>
                  <a:txBody>
                    <a:bodyPr/>
                    <a:lstStyle/>
                    <a:p>
                      <a:pPr indent="0" lvl="0" marL="0" rtl="0" algn="l">
                        <a:spcBef>
                          <a:spcPts val="0"/>
                        </a:spcBef>
                        <a:spcAft>
                          <a:spcPts val="0"/>
                        </a:spcAft>
                        <a:buNone/>
                      </a:pPr>
                      <a:r>
                        <a:rPr lang="fr"/>
                        <a:t>Conductivité</a:t>
                      </a:r>
                      <a:endParaRPr/>
                    </a:p>
                  </a:txBody>
                  <a:tcPr marT="91425" marB="91425" marR="91425" marL="91425"/>
                </a:tc>
                <a:tc>
                  <a:txBody>
                    <a:bodyPr/>
                    <a:lstStyle/>
                    <a:p>
                      <a:pPr indent="0" lvl="0" marL="0" rtl="0" algn="l">
                        <a:spcBef>
                          <a:spcPts val="0"/>
                        </a:spcBef>
                        <a:spcAft>
                          <a:spcPts val="0"/>
                        </a:spcAft>
                        <a:buNone/>
                      </a:pPr>
                      <a:r>
                        <a:rPr lang="fr"/>
                        <a:t>470.30707</a:t>
                      </a:r>
                      <a:endParaRPr/>
                    </a:p>
                  </a:txBody>
                  <a:tcPr marT="91425" marB="91425" marR="91425" marL="91425"/>
                </a:tc>
                <a:tc>
                  <a:txBody>
                    <a:bodyPr/>
                    <a:lstStyle/>
                    <a:p>
                      <a:pPr indent="0" lvl="0" marL="0" rtl="0" algn="l">
                        <a:spcBef>
                          <a:spcPts val="0"/>
                        </a:spcBef>
                        <a:spcAft>
                          <a:spcPts val="0"/>
                        </a:spcAft>
                        <a:buNone/>
                      </a:pPr>
                      <a:r>
                        <a:rPr lang="fr"/>
                        <a:t>0.98910</a:t>
                      </a:r>
                      <a:endParaRPr/>
                    </a:p>
                  </a:txBody>
                  <a:tcPr marT="91425" marB="91425" marR="91425" marL="91425"/>
                </a:tc>
              </a:tr>
              <a:tr h="473425">
                <a:tc>
                  <a:txBody>
                    <a:bodyPr/>
                    <a:lstStyle/>
                    <a:p>
                      <a:pPr indent="0" lvl="0" marL="0" rtl="0" algn="l">
                        <a:spcBef>
                          <a:spcPts val="0"/>
                        </a:spcBef>
                        <a:spcAft>
                          <a:spcPts val="0"/>
                        </a:spcAft>
                        <a:buNone/>
                      </a:pPr>
                      <a:r>
                        <a:rPr lang="fr"/>
                        <a:t>Antimoine</a:t>
                      </a:r>
                      <a:endParaRPr/>
                    </a:p>
                  </a:txBody>
                  <a:tcPr marT="91425" marB="91425" marR="91425" marL="91425"/>
                </a:tc>
                <a:tc>
                  <a:txBody>
                    <a:bodyPr/>
                    <a:lstStyle/>
                    <a:p>
                      <a:pPr indent="0" lvl="0" marL="0" rtl="0" algn="l">
                        <a:spcBef>
                          <a:spcPts val="0"/>
                        </a:spcBef>
                        <a:spcAft>
                          <a:spcPts val="0"/>
                        </a:spcAft>
                        <a:buNone/>
                      </a:pPr>
                      <a:r>
                        <a:rPr lang="fr"/>
                        <a:t>23.4267</a:t>
                      </a:r>
                      <a:endParaRPr/>
                    </a:p>
                  </a:txBody>
                  <a:tcPr marT="91425" marB="91425" marR="91425" marL="91425"/>
                </a:tc>
                <a:tc>
                  <a:txBody>
                    <a:bodyPr/>
                    <a:lstStyle/>
                    <a:p>
                      <a:pPr indent="0" lvl="0" marL="0" rtl="0" algn="l">
                        <a:spcBef>
                          <a:spcPts val="0"/>
                        </a:spcBef>
                        <a:spcAft>
                          <a:spcPts val="0"/>
                        </a:spcAft>
                        <a:buNone/>
                      </a:pPr>
                      <a:r>
                        <a:rPr lang="fr"/>
                        <a:t>1.3950</a:t>
                      </a:r>
                      <a:endParaRPr/>
                    </a:p>
                  </a:txBody>
                  <a:tcPr marT="91425" marB="91425" marR="91425" marL="91425"/>
                </a:tc>
              </a:tr>
              <a:tr h="473425">
                <a:tc>
                  <a:txBody>
                    <a:bodyPr/>
                    <a:lstStyle/>
                    <a:p>
                      <a:pPr indent="0" lvl="0" marL="0" rtl="0" algn="l">
                        <a:spcBef>
                          <a:spcPts val="0"/>
                        </a:spcBef>
                        <a:spcAft>
                          <a:spcPts val="0"/>
                        </a:spcAft>
                        <a:buNone/>
                      </a:pPr>
                      <a:r>
                        <a:rPr lang="fr"/>
                        <a:t>Arsenic</a:t>
                      </a:r>
                      <a:endParaRPr/>
                    </a:p>
                  </a:txBody>
                  <a:tcPr marT="91425" marB="91425" marR="91425" marL="91425"/>
                </a:tc>
                <a:tc>
                  <a:txBody>
                    <a:bodyPr/>
                    <a:lstStyle/>
                    <a:p>
                      <a:pPr indent="0" lvl="0" marL="0" rtl="0" algn="l">
                        <a:spcBef>
                          <a:spcPts val="0"/>
                        </a:spcBef>
                        <a:spcAft>
                          <a:spcPts val="0"/>
                        </a:spcAft>
                        <a:buNone/>
                      </a:pPr>
                      <a:r>
                        <a:rPr lang="fr"/>
                        <a:t>-6379 (NS)</a:t>
                      </a:r>
                      <a:endParaRPr/>
                    </a:p>
                  </a:txBody>
                  <a:tcPr marT="91425" marB="91425" marR="91425" marL="91425"/>
                </a:tc>
                <a:tc>
                  <a:txBody>
                    <a:bodyPr/>
                    <a:lstStyle/>
                    <a:p>
                      <a:pPr indent="0" lvl="0" marL="0" rtl="0" algn="l">
                        <a:spcBef>
                          <a:spcPts val="0"/>
                        </a:spcBef>
                        <a:spcAft>
                          <a:spcPts val="0"/>
                        </a:spcAft>
                        <a:buNone/>
                      </a:pPr>
                      <a:r>
                        <a:rPr lang="fr"/>
                        <a:t>1.222</a:t>
                      </a:r>
                      <a:endParaRPr/>
                    </a:p>
                  </a:txBody>
                  <a:tcPr marT="91425" marB="91425" marR="91425" marL="91425"/>
                </a:tc>
              </a:tr>
            </a:tbl>
          </a:graphicData>
        </a:graphic>
      </p:graphicFrame>
      <p:graphicFrame>
        <p:nvGraphicFramePr>
          <p:cNvPr id="294" name="Google Shape;294;p28"/>
          <p:cNvGraphicFramePr/>
          <p:nvPr/>
        </p:nvGraphicFramePr>
        <p:xfrm>
          <a:off x="4704975" y="1156850"/>
          <a:ext cx="3000000" cy="3000000"/>
        </p:xfrm>
        <a:graphic>
          <a:graphicData uri="http://schemas.openxmlformats.org/drawingml/2006/table">
            <a:tbl>
              <a:tblPr>
                <a:noFill/>
                <a:tableStyleId>{BCB561EC-AD6F-4F2B-8ACF-5A8F487B738B}</a:tableStyleId>
              </a:tblPr>
              <a:tblGrid>
                <a:gridCol w="1336075"/>
                <a:gridCol w="1336075"/>
                <a:gridCol w="1336075"/>
              </a:tblGrid>
              <a:tr h="493625">
                <a:tc>
                  <a:txBody>
                    <a:bodyPr/>
                    <a:lstStyle/>
                    <a:p>
                      <a:pPr indent="0" lvl="0" marL="0" rtl="0" algn="l">
                        <a:spcBef>
                          <a:spcPts val="0"/>
                        </a:spcBef>
                        <a:spcAft>
                          <a:spcPts val="0"/>
                        </a:spcAft>
                        <a:buNone/>
                      </a:pPr>
                      <a:r>
                        <a:rPr b="1" lang="fr"/>
                        <a:t>Éléments</a:t>
                      </a:r>
                      <a:endParaRPr b="1"/>
                    </a:p>
                  </a:txBody>
                  <a:tcPr marT="91425" marB="91425" marR="91425" marL="91425"/>
                </a:tc>
                <a:tc>
                  <a:txBody>
                    <a:bodyPr/>
                    <a:lstStyle/>
                    <a:p>
                      <a:pPr indent="0" lvl="0" marL="0" rtl="0" algn="l">
                        <a:spcBef>
                          <a:spcPts val="0"/>
                        </a:spcBef>
                        <a:spcAft>
                          <a:spcPts val="0"/>
                        </a:spcAft>
                        <a:buNone/>
                      </a:pPr>
                      <a:r>
                        <a:rPr b="1" lang="fr"/>
                        <a:t>Intercept</a:t>
                      </a:r>
                      <a:endParaRPr b="1"/>
                    </a:p>
                  </a:txBody>
                  <a:tcPr marT="91425" marB="91425" marR="91425" marL="91425"/>
                </a:tc>
                <a:tc>
                  <a:txBody>
                    <a:bodyPr/>
                    <a:lstStyle/>
                    <a:p>
                      <a:pPr indent="0" lvl="0" marL="0" rtl="0" algn="l">
                        <a:spcBef>
                          <a:spcPts val="0"/>
                        </a:spcBef>
                        <a:spcAft>
                          <a:spcPts val="0"/>
                        </a:spcAft>
                        <a:buNone/>
                      </a:pPr>
                      <a:r>
                        <a:rPr b="1" lang="fr"/>
                        <a:t>Pente</a:t>
                      </a:r>
                      <a:endParaRPr b="1"/>
                    </a:p>
                  </a:txBody>
                  <a:tcPr marT="91425" marB="91425" marR="91425" marL="91425"/>
                </a:tc>
              </a:tr>
              <a:tr h="493625">
                <a:tc>
                  <a:txBody>
                    <a:bodyPr/>
                    <a:lstStyle/>
                    <a:p>
                      <a:pPr indent="0" lvl="0" marL="0" rtl="0" algn="l">
                        <a:spcBef>
                          <a:spcPts val="0"/>
                        </a:spcBef>
                        <a:spcAft>
                          <a:spcPts val="0"/>
                        </a:spcAft>
                        <a:buNone/>
                      </a:pPr>
                      <a:r>
                        <a:rPr lang="fr"/>
                        <a:t>Cadmium</a:t>
                      </a:r>
                      <a:endParaRPr/>
                    </a:p>
                  </a:txBody>
                  <a:tcPr marT="91425" marB="91425" marR="91425" marL="91425"/>
                </a:tc>
                <a:tc>
                  <a:txBody>
                    <a:bodyPr/>
                    <a:lstStyle/>
                    <a:p>
                      <a:pPr indent="0" lvl="0" marL="0" rtl="0" algn="l">
                        <a:spcBef>
                          <a:spcPts val="0"/>
                        </a:spcBef>
                        <a:spcAft>
                          <a:spcPts val="0"/>
                        </a:spcAft>
                        <a:buNone/>
                      </a:pPr>
                      <a:r>
                        <a:rPr lang="fr"/>
                        <a:t>12.46869</a:t>
                      </a:r>
                      <a:endParaRPr/>
                    </a:p>
                  </a:txBody>
                  <a:tcPr marT="91425" marB="91425" marR="91425" marL="91425"/>
                </a:tc>
                <a:tc>
                  <a:txBody>
                    <a:bodyPr/>
                    <a:lstStyle/>
                    <a:p>
                      <a:pPr indent="0" lvl="0" marL="0" rtl="0" algn="l">
                        <a:spcBef>
                          <a:spcPts val="0"/>
                        </a:spcBef>
                        <a:spcAft>
                          <a:spcPts val="0"/>
                        </a:spcAft>
                        <a:buNone/>
                      </a:pPr>
                      <a:r>
                        <a:rPr lang="fr"/>
                        <a:t>1.02141 </a:t>
                      </a:r>
                      <a:endParaRPr/>
                    </a:p>
                  </a:txBody>
                  <a:tcPr marT="91425" marB="91425" marR="91425" marL="91425"/>
                </a:tc>
              </a:tr>
              <a:tr h="422925">
                <a:tc>
                  <a:txBody>
                    <a:bodyPr/>
                    <a:lstStyle/>
                    <a:p>
                      <a:pPr indent="0" lvl="0" marL="0" rtl="0" algn="l">
                        <a:spcBef>
                          <a:spcPts val="0"/>
                        </a:spcBef>
                        <a:spcAft>
                          <a:spcPts val="0"/>
                        </a:spcAft>
                        <a:buNone/>
                      </a:pPr>
                      <a:r>
                        <a:rPr lang="fr"/>
                        <a:t>Cuivre</a:t>
                      </a:r>
                      <a:endParaRPr/>
                    </a:p>
                  </a:txBody>
                  <a:tcPr marT="91425" marB="91425" marR="91425" marL="91425"/>
                </a:tc>
                <a:tc>
                  <a:txBody>
                    <a:bodyPr/>
                    <a:lstStyle/>
                    <a:p>
                      <a:pPr indent="0" lvl="0" marL="0" rtl="0" algn="l">
                        <a:spcBef>
                          <a:spcPts val="0"/>
                        </a:spcBef>
                        <a:spcAft>
                          <a:spcPts val="0"/>
                        </a:spcAft>
                        <a:buNone/>
                      </a:pPr>
                      <a:r>
                        <a:rPr lang="fr"/>
                        <a:t>4</a:t>
                      </a:r>
                      <a:r>
                        <a:rPr lang="fr"/>
                        <a:t>04.02427</a:t>
                      </a:r>
                      <a:endParaRPr/>
                    </a:p>
                  </a:txBody>
                  <a:tcPr marT="91425" marB="91425" marR="91425" marL="91425"/>
                </a:tc>
                <a:tc>
                  <a:txBody>
                    <a:bodyPr/>
                    <a:lstStyle/>
                    <a:p>
                      <a:pPr indent="0" lvl="0" marL="0" rtl="0" algn="l">
                        <a:spcBef>
                          <a:spcPts val="0"/>
                        </a:spcBef>
                        <a:spcAft>
                          <a:spcPts val="0"/>
                        </a:spcAft>
                        <a:buNone/>
                      </a:pPr>
                      <a:r>
                        <a:rPr lang="fr"/>
                        <a:t>0.80279</a:t>
                      </a:r>
                      <a:endParaRPr/>
                    </a:p>
                  </a:txBody>
                  <a:tcPr marT="91425" marB="91425" marR="91425" marL="91425"/>
                </a:tc>
              </a:tr>
              <a:tr h="422925">
                <a:tc>
                  <a:txBody>
                    <a:bodyPr/>
                    <a:lstStyle/>
                    <a:p>
                      <a:pPr indent="0" lvl="0" marL="0" rtl="0" algn="l">
                        <a:spcBef>
                          <a:spcPts val="0"/>
                        </a:spcBef>
                        <a:spcAft>
                          <a:spcPts val="0"/>
                        </a:spcAft>
                        <a:buNone/>
                      </a:pPr>
                      <a:r>
                        <a:rPr lang="fr"/>
                        <a:t>Plomb</a:t>
                      </a:r>
                      <a:endParaRPr/>
                    </a:p>
                  </a:txBody>
                  <a:tcPr marT="91425" marB="91425" marR="91425" marL="91425"/>
                </a:tc>
                <a:tc>
                  <a:txBody>
                    <a:bodyPr/>
                    <a:lstStyle/>
                    <a:p>
                      <a:pPr indent="0" lvl="0" marL="0" rtl="0" algn="l">
                        <a:spcBef>
                          <a:spcPts val="0"/>
                        </a:spcBef>
                        <a:spcAft>
                          <a:spcPts val="0"/>
                        </a:spcAft>
                        <a:buNone/>
                      </a:pPr>
                      <a:r>
                        <a:rPr lang="fr"/>
                        <a:t>1091 </a:t>
                      </a:r>
                      <a:endParaRPr/>
                    </a:p>
                  </a:txBody>
                  <a:tcPr marT="91425" marB="91425" marR="91425" marL="91425"/>
                </a:tc>
                <a:tc>
                  <a:txBody>
                    <a:bodyPr/>
                    <a:lstStyle/>
                    <a:p>
                      <a:pPr indent="0" lvl="0" marL="0" rtl="0" algn="l">
                        <a:spcBef>
                          <a:spcPts val="0"/>
                        </a:spcBef>
                        <a:spcAft>
                          <a:spcPts val="0"/>
                        </a:spcAft>
                        <a:buNone/>
                      </a:pPr>
                      <a:r>
                        <a:rPr lang="fr"/>
                        <a:t>0.4243</a:t>
                      </a:r>
                      <a:endParaRPr/>
                    </a:p>
                  </a:txBody>
                  <a:tcPr marT="91425" marB="91425" marR="91425" marL="91425"/>
                </a:tc>
              </a:tr>
              <a:tr h="493625">
                <a:tc>
                  <a:txBody>
                    <a:bodyPr/>
                    <a:lstStyle/>
                    <a:p>
                      <a:pPr indent="0" lvl="0" marL="0" rtl="0" algn="l">
                        <a:spcBef>
                          <a:spcPts val="0"/>
                        </a:spcBef>
                        <a:spcAft>
                          <a:spcPts val="0"/>
                        </a:spcAft>
                        <a:buNone/>
                      </a:pPr>
                      <a:r>
                        <a:rPr lang="fr"/>
                        <a:t>Sulfate</a:t>
                      </a:r>
                      <a:endParaRPr/>
                    </a:p>
                  </a:txBody>
                  <a:tcPr marT="91425" marB="91425" marR="91425" marL="91425"/>
                </a:tc>
                <a:tc>
                  <a:txBody>
                    <a:bodyPr/>
                    <a:lstStyle/>
                    <a:p>
                      <a:pPr indent="0" lvl="0" marL="0" rtl="0" algn="l">
                        <a:spcBef>
                          <a:spcPts val="0"/>
                        </a:spcBef>
                        <a:spcAft>
                          <a:spcPts val="0"/>
                        </a:spcAft>
                        <a:buNone/>
                      </a:pPr>
                      <a:r>
                        <a:rPr lang="fr"/>
                        <a:t>2158</a:t>
                      </a:r>
                      <a:endParaRPr/>
                    </a:p>
                  </a:txBody>
                  <a:tcPr marT="91425" marB="91425" marR="91425" marL="91425"/>
                </a:tc>
                <a:tc>
                  <a:txBody>
                    <a:bodyPr/>
                    <a:lstStyle/>
                    <a:p>
                      <a:pPr indent="0" lvl="0" marL="0" rtl="0" algn="l">
                        <a:spcBef>
                          <a:spcPts val="0"/>
                        </a:spcBef>
                        <a:spcAft>
                          <a:spcPts val="0"/>
                        </a:spcAft>
                        <a:buNone/>
                      </a:pPr>
                      <a:r>
                        <a:rPr lang="fr"/>
                        <a:t>0.4237</a:t>
                      </a:r>
                      <a:endParaRPr/>
                    </a:p>
                  </a:txBody>
                  <a:tcPr marT="91425" marB="91425" marR="91425" marL="91425"/>
                </a:tc>
              </a:tr>
              <a:tr h="493625">
                <a:tc>
                  <a:txBody>
                    <a:bodyPr/>
                    <a:lstStyle/>
                    <a:p>
                      <a:pPr indent="0" lvl="0" marL="0" rtl="0" algn="l">
                        <a:spcBef>
                          <a:spcPts val="0"/>
                        </a:spcBef>
                        <a:spcAft>
                          <a:spcPts val="0"/>
                        </a:spcAft>
                        <a:buNone/>
                      </a:pPr>
                      <a:r>
                        <a:rPr lang="fr"/>
                        <a:t>Zinc</a:t>
                      </a:r>
                      <a:endParaRPr/>
                    </a:p>
                  </a:txBody>
                  <a:tcPr marT="91425" marB="91425" marR="91425" marL="91425"/>
                </a:tc>
                <a:tc>
                  <a:txBody>
                    <a:bodyPr/>
                    <a:lstStyle/>
                    <a:p>
                      <a:pPr indent="0" lvl="0" marL="0" rtl="0" algn="l">
                        <a:spcBef>
                          <a:spcPts val="0"/>
                        </a:spcBef>
                        <a:spcAft>
                          <a:spcPts val="0"/>
                        </a:spcAft>
                        <a:buNone/>
                      </a:pPr>
                      <a:r>
                        <a:rPr lang="fr"/>
                        <a:t>-1389</a:t>
                      </a:r>
                      <a:endParaRPr/>
                    </a:p>
                  </a:txBody>
                  <a:tcPr marT="91425" marB="91425" marR="91425" marL="91425"/>
                </a:tc>
                <a:tc>
                  <a:txBody>
                    <a:bodyPr/>
                    <a:lstStyle/>
                    <a:p>
                      <a:pPr indent="0" lvl="0" marL="0" rtl="0" algn="l">
                        <a:spcBef>
                          <a:spcPts val="0"/>
                        </a:spcBef>
                        <a:spcAft>
                          <a:spcPts val="0"/>
                        </a:spcAft>
                        <a:buNone/>
                      </a:pPr>
                      <a:r>
                        <a:rPr lang="fr"/>
                        <a:t>1.632</a:t>
                      </a:r>
                      <a:endParaRPr/>
                    </a:p>
                  </a:txBody>
                  <a:tcPr marT="91425" marB="91425" marR="91425" marL="91425"/>
                </a:tc>
              </a:tr>
              <a:tr h="493625">
                <a:tc>
                  <a:txBody>
                    <a:bodyPr/>
                    <a:lstStyle/>
                    <a:p>
                      <a:pPr indent="0" lvl="0" marL="0" rtl="0" algn="l">
                        <a:spcBef>
                          <a:spcPts val="0"/>
                        </a:spcBef>
                        <a:spcAft>
                          <a:spcPts val="0"/>
                        </a:spcAft>
                        <a:buNone/>
                      </a:pPr>
                      <a:r>
                        <a:rPr lang="fr"/>
                        <a:t>FeII</a:t>
                      </a:r>
                      <a:endParaRPr/>
                    </a:p>
                  </a:txBody>
                  <a:tcPr marT="91425" marB="91425" marR="91425" marL="91425"/>
                </a:tc>
                <a:tc>
                  <a:txBody>
                    <a:bodyPr/>
                    <a:lstStyle/>
                    <a:p>
                      <a:pPr indent="0" lvl="0" marL="0" rtl="0" algn="l">
                        <a:spcBef>
                          <a:spcPts val="0"/>
                        </a:spcBef>
                        <a:spcAft>
                          <a:spcPts val="0"/>
                        </a:spcAft>
                        <a:buNone/>
                      </a:pPr>
                      <a:r>
                        <a:rPr lang="fr"/>
                        <a:t>518.64850</a:t>
                      </a:r>
                      <a:endParaRPr/>
                    </a:p>
                  </a:txBody>
                  <a:tcPr marT="91425" marB="91425" marR="91425" marL="91425"/>
                </a:tc>
                <a:tc>
                  <a:txBody>
                    <a:bodyPr/>
                    <a:lstStyle/>
                    <a:p>
                      <a:pPr indent="0" lvl="0" marL="0" rtl="0" algn="l">
                        <a:spcBef>
                          <a:spcPts val="0"/>
                        </a:spcBef>
                        <a:spcAft>
                          <a:spcPts val="0"/>
                        </a:spcAft>
                        <a:buNone/>
                      </a:pPr>
                      <a:r>
                        <a:rPr lang="fr"/>
                        <a:t>0.88479</a:t>
                      </a:r>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9"/>
          <p:cNvSpPr txBox="1"/>
          <p:nvPr>
            <p:ph type="title"/>
          </p:nvPr>
        </p:nvSpPr>
        <p:spPr>
          <a:xfrm>
            <a:off x="430800" y="128030"/>
            <a:ext cx="8282400" cy="5961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fr">
                <a:solidFill>
                  <a:srgbClr val="000000"/>
                </a:solidFill>
              </a:rPr>
              <a:t>Questions</a:t>
            </a:r>
            <a:endParaRPr>
              <a:solidFill>
                <a:srgbClr val="000000"/>
              </a:solidFill>
            </a:endParaRPr>
          </a:p>
        </p:txBody>
      </p:sp>
      <p:sp>
        <p:nvSpPr>
          <p:cNvPr id="300" name="Google Shape;300;p29"/>
          <p:cNvSpPr/>
          <p:nvPr/>
        </p:nvSpPr>
        <p:spPr>
          <a:xfrm>
            <a:off x="2331975" y="1149650"/>
            <a:ext cx="661200" cy="195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ource Code Pro"/>
              <a:ea typeface="Source Code Pro"/>
              <a:cs typeface="Source Code Pro"/>
              <a:sym typeface="Source Code Pro"/>
            </a:endParaRPr>
          </a:p>
        </p:txBody>
      </p:sp>
      <p:sp>
        <p:nvSpPr>
          <p:cNvPr id="301" name="Google Shape;301;p29"/>
          <p:cNvSpPr txBox="1"/>
          <p:nvPr/>
        </p:nvSpPr>
        <p:spPr>
          <a:xfrm>
            <a:off x="308925" y="1505975"/>
            <a:ext cx="84567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2"/>
              </a:buClr>
              <a:buSzPts val="1800"/>
              <a:buFont typeface="Source Code Pro"/>
              <a:buChar char="-"/>
            </a:pPr>
            <a:r>
              <a:rPr lang="fr" sz="1800">
                <a:solidFill>
                  <a:schemeClr val="dk2"/>
                </a:solidFill>
                <a:latin typeface="Source Code Pro"/>
                <a:ea typeface="Source Code Pro"/>
                <a:cs typeface="Source Code Pro"/>
                <a:sym typeface="Source Code Pro"/>
              </a:rPr>
              <a:t>En quoi consiste les isotopes et pourquoi choisit-on un isotope plutôt qu’un autre dans les mesures (eg. 121Sb vs 123Sb)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fr" sz="1800">
                <a:solidFill>
                  <a:schemeClr val="dk2"/>
                </a:solidFill>
                <a:latin typeface="Source Code Pro"/>
                <a:ea typeface="Source Code Pro"/>
                <a:cs typeface="Source Code Pro"/>
                <a:sym typeface="Source Code Pro"/>
              </a:rPr>
              <a:t>Est-ce que les organigrammes de corrélations font sens du point de vue de la Chimie ?</a:t>
            </a:r>
            <a:endParaRPr sz="1800">
              <a:solidFill>
                <a:schemeClr val="dk2"/>
              </a:solidFill>
              <a:latin typeface="Source Code Pro"/>
              <a:ea typeface="Source Code Pro"/>
              <a:cs typeface="Source Code Pro"/>
              <a:sym typeface="Source Code Pro"/>
            </a:endParaRPr>
          </a:p>
          <a:p>
            <a:pPr indent="0" lvl="0" marL="0" rtl="0" algn="l">
              <a:spcBef>
                <a:spcPts val="0"/>
              </a:spcBef>
              <a:spcAft>
                <a:spcPts val="0"/>
              </a:spcAft>
              <a:buNone/>
            </a:pPr>
            <a:r>
              <a:t/>
            </a:r>
            <a:endParaRPr sz="1800">
              <a:solidFill>
                <a:schemeClr val="dk2"/>
              </a:solidFill>
              <a:latin typeface="Source Code Pro"/>
              <a:ea typeface="Source Code Pro"/>
              <a:cs typeface="Source Code Pro"/>
              <a:sym typeface="Source Code Pro"/>
            </a:endParaRPr>
          </a:p>
          <a:p>
            <a:pPr indent="-342900" lvl="0" marL="457200" rtl="0" algn="l">
              <a:spcBef>
                <a:spcPts val="0"/>
              </a:spcBef>
              <a:spcAft>
                <a:spcPts val="0"/>
              </a:spcAft>
              <a:buClr>
                <a:schemeClr val="dk2"/>
              </a:buClr>
              <a:buSzPts val="1800"/>
              <a:buFont typeface="Source Code Pro"/>
              <a:buChar char="-"/>
            </a:pPr>
            <a:r>
              <a:rPr lang="fr" sz="1800">
                <a:solidFill>
                  <a:schemeClr val="dk2"/>
                </a:solidFill>
                <a:latin typeface="Source Code Pro"/>
                <a:ea typeface="Source Code Pro"/>
                <a:cs typeface="Source Code Pro"/>
                <a:sym typeface="Source Code Pro"/>
              </a:rPr>
              <a:t>Est-ce pertinent de garder les données météorologiques ?</a:t>
            </a:r>
            <a:endParaRPr sz="1800">
              <a:solidFill>
                <a:schemeClr val="dk2"/>
              </a:solidFill>
              <a:latin typeface="Source Code Pro"/>
              <a:ea typeface="Source Code Pro"/>
              <a:cs typeface="Source Code Pro"/>
              <a:sym typeface="Source Code Pro"/>
            </a:endParaRP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